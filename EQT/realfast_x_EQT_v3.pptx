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Let the slide sit for 3-5 seconds. This is your opening image.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EQT has declared AI adoption existential. You've built Motherbrain, partnered with OpenAI and Anthropic, hired 40 professionals in EQT Digital, and hosted an AI Summit for 75+ tech leaders across your portfolio. The ambition is clear.</a:t>
            </a:r>
          </a:p>
          <a:p/>
          <a:p>
            <a:r>
              <a:t>But the industry data is equally clear. Over 40% of agentic AI projects will be canceled by 2027. Only 2% of organisations have deployed AI agents at full scale. And your own published data shows that even within EQT, 20% of investment professionals generate the bulk of AI usage.</a:t>
            </a:r>
          </a:p>
          <a:p/>
          <a:p>
            <a:r>
              <a:t>The gap between ambition and adoption isn't about capability or intent. It's structural. Initiatives start too broad. AI gets bolted on rather than built into how people actually work. ROI gets measured against assumptions instead of real operating metrics. These are the same barriers across every enterprise we work with. And they're solvable — but they require a different execution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EQT has made its position clear — AI is existential, and the investment at the firm level reflects that. This isn't about whether AI matters. That question is settled.</a:t>
            </a:r>
          </a:p>
          <a:p/>
          <a:p>
            <a:r>
              <a:t>The question now is: how does that conviction translate into production AI systems running inside the workflows of your portfolio companies? And when we look at what those companies face when they try, the same three questions come up every time.</a:t>
            </a:r>
          </a:p>
          <a:p/>
          <a:p>
            <a:r>
              <a:t>Where do we start? Most companies have a mandate or budget, but no method to identify which specific workflow will produce the fastest, most measurable return. So the initiative starts too broad.</a:t>
            </a:r>
          </a:p>
          <a:p/>
          <a:p>
            <a:r>
              <a:t>How do we execute? Even when they pick a target, the internal teams are built for maintenance, not for standing up an AI system in weeks. And external vendors are quoting 6 to 12 months and delivering strategy documents, not production systems.</a:t>
            </a:r>
          </a:p>
          <a:p/>
          <a:p>
            <a:r>
              <a:t>What do we measure? This is the one that kills most projects. Nobody established a baseline before the work started, so when something gets built, there's no before-and-after. The CFO can't point to a number that moved. Without that, there's no case for expanding to the next workflow.</a:t>
            </a:r>
          </a:p>
          <a:p/>
          <a:p>
            <a:r>
              <a:t>These barriers are structural. They repeat across every mid-market enterprise, regardless of sector. And they're solvable — but they require a specific execution model designed around answering those three questions. That's what we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apply AI to anything, we classify why work is slow. Every operational friction falls into one of three categories: work that should be automated, decisions that should be augmented, or systems that need to be connected.</a:t>
            </a:r>
          </a:p>
          <a:p/>
          <a:p>
            <a:r>
              <a:t>What makes this powerful at portfolio scale is that these patterns repeat across every industry you invest in. A document processing backlog in healthcare is structurally identical to one in compliance services. A decision-latency problem in industrial scheduling is the same class of problem as one in financial underwriting. The workflow details change. The AI execution model doesn't. That's why we work horizontally.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is the key to why a horizontal model works better than vertical specialists at portfolio scale. Look at any row — the same structural problem appears in every sector. What we learn solving an execution backlog in healthcare directly accelerates how we solve one in industrial services.</a:t>
            </a:r>
          </a:p>
          <a:p/>
          <a:p>
            <a:r>
              <a:t>By the third portfolio company engagement, we're meaningfully faster and cheaper — because we've already solved the structural problem elsewhere. That's the compounding advantage a horizontal partner delivers that a vertical specialist never can.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disciplined about where we start. Not every workflow is a good first target. We look for four things: a direct business metric the CFO already tracks, a repeatable workflow with enough volume to generate fast proof, existing data so we're not gated by a data engineering project, and a contained blast radius so that if it doesn't work, it doesn't cascade.</a:t>
            </a:r>
          </a:p>
          <a:p/>
          <a:p>
            <a:r>
              <a:t>The entry points we're most confident in are execution backlogs — manual processing creating cost and delay; decision-to-execution latency — where the information exists but synthesis is manual; cost-to-serve pressure — where headcount keeps rising just to maintain throughput; and revenue leakage — manual quoting, slow responses, inconsistent pricing.</a:t>
            </a:r>
          </a:p>
          <a:p/>
          <a:p>
            <a:r>
              <a:t>These aren't limitations. They're the doors that open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stay horizontal without becoming vague. We don't need to understand your entire business. We need to understand one workflow deeply enough to make it measurably better. Then we move to the next.</a:t>
            </a:r>
          </a:p>
          <a:p/>
          <a:p>
            <a:r>
              <a:t>For EQT, this means a model you can offer to portfolio companies across your sectors. The portfolio company gets a production AI system. You get a proven value creation lever with predictable costs, timelines, and measurable outcomes.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engagement produces four tangible deliverables. A production system that's live and being used. Measured before/after impact on the business metric. Full operational handover so the company owns it. And an expansion roadmap showing where to go next, based on what we've just proved.</a:t>
            </a:r>
          </a:p>
          <a:p/>
          <a:p>
            <a:r>
              <a:t>What matters for EQT: this creates a repeatable proof point. When the next portfolio company asks 'does AI actually work for businesses like ours?' — you have a measured result from inside your own portfolio to point 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model. We work together to identify portfolio companies where operational friction and readiness align. We execute using our standard playbook, adapted to the specific workflow. Results feed back — cross-portfolio pattern recognition, sector benchmarks, proven use cases. And then we deploy to the next company, where each engagement is faster and more informed because of the one before it.</a:t>
            </a:r>
          </a:p>
          <a:p/>
          <a:p>
            <a:r>
              <a:t>What makes this compound over time: every engagement deepens the pattern recognition across the portfolio. This builds a cross-portfolio intelligence layer — benchmarks, proven use cases, sector-specific refinements — that gets more valuable with every deployment. That's a moat for both of 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going to show you a slide that multiplies assumptions across 273 companies. You can do that math better than I can — you know your portfolio.</a:t>
            </a:r>
          </a:p>
          <a:p/>
          <a:p>
            <a:r>
              <a:t>What I can show you is what happens at the individual company level when we execute. A finance team that was spending two days every month on manual reconciliation now spends less than an hour. A feature backlog on a legacy system that internal teams estimated at nine months gets compressed to weeks — because the alternative was losing their largest customer.</a:t>
            </a:r>
          </a:p>
          <a:p/>
          <a:p>
            <a:r>
              <a:t>What's consistent across every engagement is the pattern afterward: one workflow proves the model, and that first engagement typically surfaces four or five additional workflows the company didn't realize were addressable. The compounding happens organically — we don't need to pitch a second engagement. The company comes to us.</a:t>
            </a:r>
          </a:p>
          <a:p/>
          <a:p>
            <a:r>
              <a:t>The cost to prove this inside one portfolio company is $50 to $150K and 5-6 weeks. The payback on that first engagement is typically 2-4 months. After that, the question you'll be asking isn't whether this works — it's how many companies to deploy it across.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invested heavily in Perficient and that's the right call for large digital programs. We think we're the right call for fast, focused AI execution. But rather than debate the difference, let's demonstrate it.</a:t>
            </a:r>
          </a:p>
          <a:p/>
          <a:p>
            <a:r>
              <a:t>Pick a portfolio company. Pick a workflow. Run us alongside your existing options — same problem, same timeline. Compare the output on speed, cost, adoption, and measured impact. We're confident enough to invite the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engagement starts with one joint decision — which portfolio company, which workflow. A one-hour scoping call to define the metric and success criteria. Then a two-week discovery sprint to map the workflow, establish a baseline, and design the AI mechanism. Three to four weeks of build and deploy. And then we measure.</a:t>
            </a:r>
          </a:p>
          <a:p/>
          <a:p>
            <a:r>
              <a:t>Total elapsed time: 5-6 weeks from handshake to measured impact. After Phase 1, the conversation changes from 'will this work?' to 'where do we deploy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slide breathe. Pause. Then: "We'd like to explore what a Phase 1 engagement could look like with one of your portfolio companies. One conversation to see if the fit is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36576"/>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144000" cy="1645920"/>
          </a:xfrm>
          <a:prstGeom prst="rect">
            <a:avLst/>
          </a:prstGeom>
          <a:noFill/>
        </p:spPr>
        <p:txBody>
          <a:bodyPr wrap="square">
            <a:spAutoFit/>
          </a:bodyPr>
          <a:lstStyle/>
          <a:p>
            <a:pPr>
              <a:spcAft>
                <a:spcPts val="800"/>
              </a:spcAft>
            </a:pPr>
            <a:r>
              <a:rPr sz="3600" b="1">
                <a:solidFill>
                  <a:srgbClr val="FFFFFF"/>
                </a:solidFill>
                <a:latin typeface="Calibri"/>
              </a:rPr>
              <a:t>One AI execution partner.</a:t>
            </a:r>
          </a:p>
          <a:p>
            <a:pPr>
              <a:spcAft>
                <a:spcPts val="800"/>
              </a:spcAft>
            </a:pPr>
            <a:r>
              <a:rPr sz="3600" b="1">
                <a:solidFill>
                  <a:srgbClr val="FFFFFF"/>
                </a:solidFill>
                <a:latin typeface="Calibri"/>
              </a:rPr>
              <a:t>273 portfolio companies.</a:t>
            </a:r>
          </a:p>
          <a:p>
            <a:pPr>
              <a:spcAft>
                <a:spcPts val="800"/>
              </a:spcAft>
            </a:pPr>
            <a:r>
              <a:rPr sz="3600" b="1">
                <a:solidFill>
                  <a:srgbClr val="FFFFFF"/>
                </a:solidFill>
                <a:latin typeface="Calibri"/>
              </a:rPr>
              <a:t>Measurable impact in weeks.</a:t>
            </a:r>
          </a:p>
        </p:txBody>
      </p:sp>
      <p:sp>
        <p:nvSpPr>
          <p:cNvPr id="5" name="TextBox 4"/>
          <p:cNvSpPr txBox="1"/>
          <p:nvPr/>
        </p:nvSpPr>
        <p:spPr>
          <a:xfrm>
            <a:off x="1371600" y="3657600"/>
            <a:ext cx="9144000" cy="731520"/>
          </a:xfrm>
          <a:prstGeom prst="rect">
            <a:avLst/>
          </a:prstGeom>
          <a:noFill/>
        </p:spPr>
        <p:txBody>
          <a:bodyPr wrap="none">
            <a:spAutoFit/>
          </a:bodyPr>
          <a:lstStyle/>
          <a:p>
            <a:r>
              <a:rPr sz="2800" b="1">
                <a:solidFill>
                  <a:srgbClr val="00B4A0"/>
                </a:solidFill>
                <a:latin typeface="Calibri"/>
              </a:rPr>
              <a:t>realfast</a:t>
            </a:r>
            <a:r>
              <a:rPr sz="2000">
                <a:solidFill>
                  <a:srgbClr val="CCCCCC"/>
                </a:solidFill>
                <a:latin typeface="Calibri"/>
              </a:rPr>
              <a:t>  —  Portfolio-scale AI execution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The Adoption Challenge</a:t>
            </a:r>
          </a:p>
        </p:txBody>
      </p:sp>
      <p:sp>
        <p:nvSpPr>
          <p:cNvPr id="5" name="TextBox 4"/>
          <p:cNvSpPr txBox="1"/>
          <p:nvPr/>
        </p:nvSpPr>
        <p:spPr>
          <a:xfrm>
            <a:off x="731520" y="1188720"/>
            <a:ext cx="10698480" cy="731520"/>
          </a:xfrm>
          <a:prstGeom prst="rect">
            <a:avLst/>
          </a:prstGeom>
          <a:noFill/>
        </p:spPr>
        <p:txBody>
          <a:bodyPr wrap="square">
            <a:spAutoFit/>
          </a:bodyPr>
          <a:lstStyle/>
          <a:p>
            <a:r>
              <a:rPr sz="1800">
                <a:solidFill>
                  <a:srgbClr val="2D2D2D"/>
                </a:solidFill>
                <a:latin typeface="Calibri"/>
              </a:rPr>
              <a:t>Enterprise AI adoption is consistently lower than ambition.
The reasons are structural.</a:t>
            </a:r>
          </a:p>
        </p:txBody>
      </p:sp>
      <p:sp>
        <p:nvSpPr>
          <p:cNvPr id="6" name="TextBox 5"/>
          <p:cNvSpPr txBox="1"/>
          <p:nvPr/>
        </p:nvSpPr>
        <p:spPr>
          <a:xfrm>
            <a:off x="731520" y="2377440"/>
            <a:ext cx="10698480" cy="2743200"/>
          </a:xfrm>
          <a:prstGeom prst="rect">
            <a:avLst/>
          </a:prstGeom>
          <a:noFill/>
        </p:spPr>
        <p:txBody>
          <a:bodyPr wrap="square">
            <a:spAutoFit/>
          </a:bodyPr>
          <a:lstStyle/>
          <a:p>
            <a:pPr>
              <a:spcBef>
                <a:spcPts val="1400"/>
              </a:spcBef>
            </a:pPr>
            <a:r>
              <a:rPr sz="1800">
                <a:solidFill>
                  <a:srgbClr val="2D2D2D"/>
                </a:solidFill>
                <a:latin typeface="Calibri"/>
              </a:rPr>
              <a:t>    Initiatives start too broad — no constrained scope</a:t>
            </a:r>
          </a:p>
          <a:p>
            <a:pPr>
              <a:spcBef>
                <a:spcPts val="1400"/>
              </a:spcBef>
            </a:pPr>
            <a:r>
              <a:rPr sz="1800">
                <a:solidFill>
                  <a:srgbClr val="2D2D2D"/>
                </a:solidFill>
                <a:latin typeface="Calibri"/>
              </a:rPr>
              <a:t>    AI is deployed as a tool, not embedded in how people work</a:t>
            </a:r>
          </a:p>
          <a:p>
            <a:pPr>
              <a:spcBef>
                <a:spcPts val="1400"/>
              </a:spcBef>
            </a:pPr>
            <a:r>
              <a:rPr sz="1800">
                <a:solidFill>
                  <a:srgbClr val="2D2D2D"/>
                </a:solidFill>
                <a:latin typeface="Calibri"/>
              </a:rPr>
              <a:t>    ROI is measured against assumptions, not operating metrics</a:t>
            </a:r>
          </a:p>
          <a:p>
            <a:pPr>
              <a:spcBef>
                <a:spcPts val="1400"/>
              </a:spcBef>
            </a:pPr>
            <a:r>
              <a:rPr sz="1800">
                <a:solidFill>
                  <a:srgbClr val="2D2D2D"/>
                </a:solidFill>
                <a:latin typeface="Calibri"/>
              </a:rPr>
              <a:t>    Hidden complexity erodes payback before value is visible</a:t>
            </a:r>
          </a:p>
        </p:txBody>
      </p:sp>
      <p:sp>
        <p:nvSpPr>
          <p:cNvPr id="7" name="TextBox 6"/>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40%+ of agentic AI projects will be canceled by 2027 — Gartner  |  Only 2% of organisations have deployed AI agents at full scale — Capgemini (April 2025)  |  Only 20% of EQT investment professionals generate the bulk of AI usage — EQT ThinQ, Q1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The Portfolio Execution Challenge</a:t>
            </a:r>
          </a:p>
        </p:txBody>
      </p:sp>
      <p:sp>
        <p:nvSpPr>
          <p:cNvPr id="5" name="TextBox 4"/>
          <p:cNvSpPr txBox="1"/>
          <p:nvPr/>
        </p:nvSpPr>
        <p:spPr>
          <a:xfrm>
            <a:off x="731520" y="1188720"/>
            <a:ext cx="10698480" cy="548640"/>
          </a:xfrm>
          <a:prstGeom prst="rect">
            <a:avLst/>
          </a:prstGeom>
          <a:noFill/>
        </p:spPr>
        <p:txBody>
          <a:bodyPr wrap="square">
            <a:spAutoFit/>
          </a:bodyPr>
          <a:lstStyle/>
          <a:p>
            <a:r>
              <a:rPr sz="1800">
                <a:solidFill>
                  <a:srgbClr val="2D2D2D"/>
                </a:solidFill>
                <a:latin typeface="Calibri"/>
              </a:rPr>
              <a:t>EQT is all in on AI. The question is no longer whether — it's how to deploy it across 273 companies.</a:t>
            </a:r>
          </a:p>
        </p:txBody>
      </p:sp>
      <p:sp>
        <p:nvSpPr>
          <p:cNvPr id="6" name="Rounded Rectangle 5"/>
          <p:cNvSpPr/>
          <p:nvPr/>
        </p:nvSpPr>
        <p:spPr>
          <a:xfrm>
            <a:off x="731520" y="2103120"/>
            <a:ext cx="3200400" cy="10972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2200" b="1">
                <a:solidFill>
                  <a:srgbClr val="00B4A0"/>
                </a:solidFill>
                <a:latin typeface="Calibri"/>
              </a:rPr>
              <a:t>Where</a:t>
            </a:r>
          </a:p>
          <a:p>
            <a:pPr>
              <a:spcBef>
                <a:spcPts val="600"/>
              </a:spcBef>
            </a:pPr>
            <a:r>
              <a:rPr sz="1300">
                <a:solidFill>
                  <a:srgbClr val="CCCCCC"/>
                </a:solidFill>
                <a:latin typeface="Calibri"/>
              </a:rPr>
              <a:t>Which workflow will produce the fastest, most measurable return?</a:t>
            </a:r>
          </a:p>
        </p:txBody>
      </p:sp>
      <p:sp>
        <p:nvSpPr>
          <p:cNvPr id="7" name="Rounded Rectangle 6"/>
          <p:cNvSpPr/>
          <p:nvPr/>
        </p:nvSpPr>
        <p:spPr>
          <a:xfrm>
            <a:off x="4160520" y="2103120"/>
            <a:ext cx="3200400" cy="10972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2200" b="1">
                <a:solidFill>
                  <a:srgbClr val="00B4A0"/>
                </a:solidFill>
                <a:latin typeface="Calibri"/>
              </a:rPr>
              <a:t>How</a:t>
            </a:r>
          </a:p>
          <a:p>
            <a:pPr>
              <a:spcBef>
                <a:spcPts val="600"/>
              </a:spcBef>
            </a:pPr>
            <a:r>
              <a:rPr sz="1300">
                <a:solidFill>
                  <a:srgbClr val="CCCCCC"/>
                </a:solidFill>
                <a:latin typeface="Calibri"/>
              </a:rPr>
              <a:t>Who executes it, and how fast can it reach production?</a:t>
            </a:r>
          </a:p>
        </p:txBody>
      </p:sp>
      <p:sp>
        <p:nvSpPr>
          <p:cNvPr id="8" name="Rounded Rectangle 7"/>
          <p:cNvSpPr/>
          <p:nvPr/>
        </p:nvSpPr>
        <p:spPr>
          <a:xfrm>
            <a:off x="7589520" y="2103120"/>
            <a:ext cx="3200400" cy="10972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2200" b="1">
                <a:solidFill>
                  <a:srgbClr val="00B4A0"/>
                </a:solidFill>
                <a:latin typeface="Calibri"/>
              </a:rPr>
              <a:t>What to measure</a:t>
            </a:r>
          </a:p>
          <a:p>
            <a:pPr>
              <a:spcBef>
                <a:spcPts val="600"/>
              </a:spcBef>
            </a:pPr>
            <a:r>
              <a:rPr sz="1300">
                <a:solidFill>
                  <a:srgbClr val="CCCCCC"/>
                </a:solidFill>
                <a:latin typeface="Calibri"/>
              </a:rPr>
              <a:t>What's the baseline, and what proves it worked?</a:t>
            </a:r>
          </a:p>
        </p:txBody>
      </p:sp>
      <p:sp>
        <p:nvSpPr>
          <p:cNvPr id="9" name="TextBox 8"/>
          <p:cNvSpPr txBox="1"/>
          <p:nvPr/>
        </p:nvSpPr>
        <p:spPr>
          <a:xfrm>
            <a:off x="731520" y="3566160"/>
            <a:ext cx="10698480" cy="457200"/>
          </a:xfrm>
          <a:prstGeom prst="rect">
            <a:avLst/>
          </a:prstGeom>
          <a:noFill/>
        </p:spPr>
        <p:txBody>
          <a:bodyPr wrap="none">
            <a:spAutoFit/>
          </a:bodyPr>
          <a:lstStyle/>
          <a:p>
            <a:r>
              <a:rPr sz="1500" b="1">
                <a:solidFill>
                  <a:srgbClr val="999999"/>
                </a:solidFill>
                <a:latin typeface="Calibri"/>
              </a:rPr>
              <a:t>Without answers, portfolio companies hit the same five barriers:</a:t>
            </a:r>
          </a:p>
        </p:txBody>
      </p:sp>
      <p:sp>
        <p:nvSpPr>
          <p:cNvPr id="10" name="TextBox 9"/>
          <p:cNvSpPr txBox="1"/>
          <p:nvPr/>
        </p:nvSpPr>
        <p:spPr>
          <a:xfrm>
            <a:off x="731520" y="4114800"/>
            <a:ext cx="10698480" cy="2286000"/>
          </a:xfrm>
          <a:prstGeom prst="rect">
            <a:avLst/>
          </a:prstGeom>
          <a:noFill/>
        </p:spPr>
        <p:txBody>
          <a:bodyPr wrap="square">
            <a:spAutoFit/>
          </a:bodyPr>
          <a:lstStyle/>
          <a:p>
            <a:pPr>
              <a:spcBef>
                <a:spcPts val="800"/>
              </a:spcBef>
            </a:pPr>
            <a:r>
              <a:rPr sz="1400" b="1">
                <a:solidFill>
                  <a:srgbClr val="007ACC"/>
                </a:solidFill>
                <a:latin typeface="Calibri"/>
              </a:rPr>
              <a:t>1.  </a:t>
            </a:r>
            <a:r>
              <a:rPr sz="1400" b="1">
                <a:solidFill>
                  <a:srgbClr val="2D2D2D"/>
                </a:solidFill>
                <a:latin typeface="Calibri"/>
              </a:rPr>
              <a:t>No clear starting point</a:t>
            </a:r>
            <a:r>
              <a:rPr sz="1400">
                <a:solidFill>
                  <a:srgbClr val="999999"/>
                </a:solidFill>
                <a:latin typeface="Calibri"/>
              </a:rPr>
              <a:t>  —  budget exists, but no method to identify the highest-ROI workflow</a:t>
            </a:r>
          </a:p>
          <a:p>
            <a:pPr>
              <a:spcBef>
                <a:spcPts val="800"/>
              </a:spcBef>
            </a:pPr>
            <a:r>
              <a:rPr sz="1400" b="1">
                <a:solidFill>
                  <a:srgbClr val="007ACC"/>
                </a:solidFill>
                <a:latin typeface="Calibri"/>
              </a:rPr>
              <a:t>2.  </a:t>
            </a:r>
            <a:r>
              <a:rPr sz="1400" b="1">
                <a:solidFill>
                  <a:srgbClr val="2D2D2D"/>
                </a:solidFill>
                <a:latin typeface="Calibri"/>
              </a:rPr>
              <a:t>Scope too broad</a:t>
            </a:r>
            <a:r>
              <a:rPr sz="1400">
                <a:solidFill>
                  <a:srgbClr val="999999"/>
                </a:solidFill>
                <a:latin typeface="Calibri"/>
              </a:rPr>
              <a:t>  —  "AI transformation" instead of one workflow, one metric</a:t>
            </a:r>
          </a:p>
          <a:p>
            <a:pPr>
              <a:spcBef>
                <a:spcPts val="800"/>
              </a:spcBef>
            </a:pPr>
            <a:r>
              <a:rPr sz="1400" b="1">
                <a:solidFill>
                  <a:srgbClr val="007ACC"/>
                </a:solidFill>
                <a:latin typeface="Calibri"/>
              </a:rPr>
              <a:t>3.  </a:t>
            </a:r>
            <a:r>
              <a:rPr sz="1400" b="1">
                <a:solidFill>
                  <a:srgbClr val="2D2D2D"/>
                </a:solidFill>
                <a:latin typeface="Calibri"/>
              </a:rPr>
              <a:t>No baseline</a:t>
            </a:r>
            <a:r>
              <a:rPr sz="1400">
                <a:solidFill>
                  <a:srgbClr val="999999"/>
                </a:solidFill>
                <a:latin typeface="Calibri"/>
              </a:rPr>
              <a:t>  —  without a before measurement, there's no provable after</a:t>
            </a:r>
          </a:p>
          <a:p>
            <a:pPr>
              <a:spcBef>
                <a:spcPts val="800"/>
              </a:spcBef>
            </a:pPr>
            <a:r>
              <a:rPr sz="1400" b="1">
                <a:solidFill>
                  <a:srgbClr val="007ACC"/>
                </a:solidFill>
                <a:latin typeface="Calibri"/>
              </a:rPr>
              <a:t>4.  </a:t>
            </a:r>
            <a:r>
              <a:rPr sz="1400" b="1">
                <a:solidFill>
                  <a:srgbClr val="2D2D2D"/>
                </a:solidFill>
                <a:latin typeface="Calibri"/>
              </a:rPr>
              <a:t>Vendor fatigue</a:t>
            </a:r>
            <a:r>
              <a:rPr sz="1400">
                <a:solidFill>
                  <a:srgbClr val="999999"/>
                </a:solidFill>
                <a:latin typeface="Calibri"/>
              </a:rPr>
              <a:t>  —  6-12 month engagements that produce strategies, not systems</a:t>
            </a:r>
          </a:p>
          <a:p>
            <a:pPr>
              <a:spcBef>
                <a:spcPts val="800"/>
              </a:spcBef>
            </a:pPr>
            <a:r>
              <a:rPr sz="1400" b="1">
                <a:solidFill>
                  <a:srgbClr val="007ACC"/>
                </a:solidFill>
                <a:latin typeface="Calibri"/>
              </a:rPr>
              <a:t>5.  </a:t>
            </a:r>
            <a:r>
              <a:rPr sz="1400" b="1">
                <a:solidFill>
                  <a:srgbClr val="2D2D2D"/>
                </a:solidFill>
                <a:latin typeface="Calibri"/>
              </a:rPr>
              <a:t>Internal capacity</a:t>
            </a:r>
            <a:r>
              <a:rPr sz="1400">
                <a:solidFill>
                  <a:srgbClr val="999999"/>
                </a:solidFill>
                <a:latin typeface="Calibri"/>
              </a:rPr>
              <a:t>  —  IT teams built for maintenance, not AI-native delivery at speed</a:t>
            </a:r>
          </a:p>
        </p:txBody>
      </p:sp>
      <p:sp>
        <p:nvSpPr>
          <p:cNvPr id="11" name="TextBox 10"/>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40%+ of agentic AI projects will be canceled by 2027 — Gartner  |  Only 2% of organisations have deployed AI agents at full scale — Capgemini (April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What We Do</a:t>
            </a:r>
          </a:p>
        </p:txBody>
      </p:sp>
      <p:sp>
        <p:nvSpPr>
          <p:cNvPr id="5" name="TextBox 4"/>
          <p:cNvSpPr txBox="1"/>
          <p:nvPr/>
        </p:nvSpPr>
        <p:spPr>
          <a:xfrm>
            <a:off x="731520" y="1188720"/>
            <a:ext cx="10698480" cy="457200"/>
          </a:xfrm>
          <a:prstGeom prst="rect">
            <a:avLst/>
          </a:prstGeom>
          <a:noFill/>
        </p:spPr>
        <p:txBody>
          <a:bodyPr wrap="none">
            <a:spAutoFit/>
          </a:bodyPr>
          <a:lstStyle/>
          <a:p>
            <a:r>
              <a:rPr sz="1800">
                <a:solidFill>
                  <a:srgbClr val="2D2D2D"/>
                </a:solidFill>
                <a:latin typeface="Calibri"/>
              </a:rPr>
              <a:t>We are a horizontal AI execution partner. One proven model, across industries and use cases.</a:t>
            </a:r>
          </a:p>
        </p:txBody>
      </p:sp>
      <p:sp>
        <p:nvSpPr>
          <p:cNvPr id="6" name="Rounded Rectangle 5"/>
          <p:cNvSpPr/>
          <p:nvPr/>
        </p:nvSpPr>
        <p:spPr>
          <a:xfrm>
            <a:off x="731520" y="2011680"/>
            <a:ext cx="3291840" cy="329184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2200" b="1">
                <a:solidFill>
                  <a:srgbClr val="007ACC"/>
                </a:solidFill>
                <a:latin typeface="Calibri"/>
              </a:rPr>
              <a:t>AUTOMATE</a:t>
            </a:r>
          </a:p>
          <a:p>
            <a:pPr>
              <a:spcBef>
                <a:spcPts val="1400"/>
              </a:spcBef>
            </a:pPr>
            <a:r>
              <a:rPr sz="1300">
                <a:solidFill>
                  <a:srgbClr val="2D2D2D"/>
                </a:solidFill>
                <a:latin typeface="Calibri"/>
              </a:rPr>
              <a:t>Manual work creating backlogs and errors</a:t>
            </a:r>
          </a:p>
          <a:p>
            <a:pPr>
              <a:spcBef>
                <a:spcPts val="1400"/>
              </a:spcBef>
            </a:pPr>
            <a:r>
              <a:rPr sz="1200" i="1">
                <a:solidFill>
                  <a:srgbClr val="999999"/>
                </a:solidFill>
                <a:latin typeface="Calibri"/>
              </a:rPr>
              <a:t>Extraction, validation, straight-through processing</a:t>
            </a:r>
          </a:p>
          <a:p>
            <a:pPr>
              <a:spcBef>
                <a:spcPts val="1800"/>
              </a:spcBef>
            </a:pPr>
            <a:r>
              <a:rPr sz="1200" b="1">
                <a:solidFill>
                  <a:srgbClr val="00B4A0"/>
                </a:solidFill>
                <a:latin typeface="Calibri"/>
              </a:rPr>
              <a:t>EBITDA lever: </a:t>
            </a:r>
            <a:r>
              <a:rPr sz="1200">
                <a:solidFill>
                  <a:srgbClr val="2D2D2D"/>
                </a:solidFill>
                <a:latin typeface="Calibri"/>
              </a:rPr>
              <a:t>Cost reduction, throughput</a:t>
            </a:r>
          </a:p>
        </p:txBody>
      </p:sp>
      <p:sp>
        <p:nvSpPr>
          <p:cNvPr id="7" name="Rounded Rectangle 6"/>
          <p:cNvSpPr/>
          <p:nvPr/>
        </p:nvSpPr>
        <p:spPr>
          <a:xfrm>
            <a:off x="4251960" y="2011680"/>
            <a:ext cx="3291840" cy="329184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2200" b="1">
                <a:solidFill>
                  <a:srgbClr val="007ACC"/>
                </a:solidFill>
                <a:latin typeface="Calibri"/>
              </a:rPr>
              <a:t>AUGMENT</a:t>
            </a:r>
          </a:p>
          <a:p>
            <a:pPr>
              <a:spcBef>
                <a:spcPts val="1400"/>
              </a:spcBef>
            </a:pPr>
            <a:r>
              <a:rPr sz="1300">
                <a:solidFill>
                  <a:srgbClr val="2D2D2D"/>
                </a:solidFill>
                <a:latin typeface="Calibri"/>
              </a:rPr>
              <a:t>Decisions made without adequate support</a:t>
            </a:r>
          </a:p>
          <a:p>
            <a:pPr>
              <a:spcBef>
                <a:spcPts val="1400"/>
              </a:spcBef>
            </a:pPr>
            <a:r>
              <a:rPr sz="1200" i="1">
                <a:solidFill>
                  <a:srgbClr val="999999"/>
                </a:solidFill>
                <a:latin typeface="Calibri"/>
              </a:rPr>
              <a:t>Scoring, recommendations, draft generation</a:t>
            </a:r>
          </a:p>
          <a:p>
            <a:pPr>
              <a:spcBef>
                <a:spcPts val="1800"/>
              </a:spcBef>
            </a:pPr>
            <a:r>
              <a:rPr sz="1200" b="1">
                <a:solidFill>
                  <a:srgbClr val="00B4A0"/>
                </a:solidFill>
                <a:latin typeface="Calibri"/>
              </a:rPr>
              <a:t>EBITDA lever: </a:t>
            </a:r>
            <a:r>
              <a:rPr sz="1200">
                <a:solidFill>
                  <a:srgbClr val="2D2D2D"/>
                </a:solidFill>
                <a:latin typeface="Calibri"/>
              </a:rPr>
              <a:t>Revenue quality, decision speed</a:t>
            </a:r>
          </a:p>
        </p:txBody>
      </p:sp>
      <p:sp>
        <p:nvSpPr>
          <p:cNvPr id="8" name="Rounded Rectangle 7"/>
          <p:cNvSpPr/>
          <p:nvPr/>
        </p:nvSpPr>
        <p:spPr>
          <a:xfrm>
            <a:off x="7772400" y="2011680"/>
            <a:ext cx="3291840" cy="329184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2200" b="1">
                <a:solidFill>
                  <a:srgbClr val="007ACC"/>
                </a:solidFill>
                <a:latin typeface="Calibri"/>
              </a:rPr>
              <a:t>CONNECT</a:t>
            </a:r>
          </a:p>
          <a:p>
            <a:pPr>
              <a:spcBef>
                <a:spcPts val="1400"/>
              </a:spcBef>
            </a:pPr>
            <a:r>
              <a:rPr sz="1300">
                <a:solidFill>
                  <a:srgbClr val="2D2D2D"/>
                </a:solidFill>
                <a:latin typeface="Calibri"/>
              </a:rPr>
              <a:t>Systems and data that don't talk</a:t>
            </a:r>
          </a:p>
          <a:p>
            <a:pPr>
              <a:spcBef>
                <a:spcPts val="1400"/>
              </a:spcBef>
            </a:pPr>
            <a:r>
              <a:rPr sz="1200" i="1">
                <a:solidFill>
                  <a:srgbClr val="999999"/>
                </a:solidFill>
                <a:latin typeface="Calibri"/>
              </a:rPr>
              <a:t>Cross-system matching, unified views</a:t>
            </a:r>
          </a:p>
          <a:p>
            <a:pPr>
              <a:spcBef>
                <a:spcPts val="1800"/>
              </a:spcBef>
            </a:pPr>
            <a:r>
              <a:rPr sz="1200" b="1">
                <a:solidFill>
                  <a:srgbClr val="00B4A0"/>
                </a:solidFill>
                <a:latin typeface="Calibri"/>
              </a:rPr>
              <a:t>EBITDA lever: </a:t>
            </a:r>
            <a:r>
              <a:rPr sz="1200">
                <a:solidFill>
                  <a:srgbClr val="2D2D2D"/>
                </a:solidFill>
                <a:latin typeface="Calibri"/>
              </a:rPr>
              <a:t>Operational efficiency</a:t>
            </a:r>
          </a:p>
        </p:txBody>
      </p:sp>
      <p:sp>
        <p:nvSpPr>
          <p:cNvPr id="9" name="TextBox 8"/>
          <p:cNvSpPr txBox="1"/>
          <p:nvPr/>
        </p:nvSpPr>
        <p:spPr>
          <a:xfrm>
            <a:off x="731520" y="5669280"/>
            <a:ext cx="10698480" cy="457200"/>
          </a:xfrm>
          <a:prstGeom prst="rect">
            <a:avLst/>
          </a:prstGeom>
          <a:noFill/>
        </p:spPr>
        <p:txBody>
          <a:bodyPr wrap="square">
            <a:spAutoFit/>
          </a:bodyPr>
          <a:lstStyle/>
          <a:p>
            <a:r>
              <a:rPr sz="1500" i="1">
                <a:solidFill>
                  <a:srgbClr val="999999"/>
                </a:solidFill>
                <a:latin typeface="Calibri"/>
              </a:rPr>
              <a:t>These friction patterns repeat across every industry. The workflow details change. The underlying barriers are the same.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Why Horizontal Works</a:t>
            </a:r>
          </a:p>
        </p:txBody>
      </p:sp>
      <p:sp>
        <p:nvSpPr>
          <p:cNvPr id="5" name="TextBox 4"/>
          <p:cNvSpPr txBox="1"/>
          <p:nvPr/>
        </p:nvSpPr>
        <p:spPr>
          <a:xfrm>
            <a:off x="731520" y="1097280"/>
            <a:ext cx="10698480" cy="457200"/>
          </a:xfrm>
          <a:prstGeom prst="rect">
            <a:avLst/>
          </a:prstGeom>
          <a:noFill/>
        </p:spPr>
        <p:txBody>
          <a:bodyPr wrap="none">
            <a:spAutoFit/>
          </a:bodyPr>
          <a:lstStyle/>
          <a:p>
            <a:r>
              <a:rPr sz="1800">
                <a:solidFill>
                  <a:srgbClr val="2D2D2D"/>
                </a:solidFill>
                <a:latin typeface="Calibri"/>
              </a:rPr>
              <a:t>The same friction shows up everywhere. The industry wrapper changes — the core problem doesn't.</a:t>
            </a:r>
          </a:p>
        </p:txBody>
      </p:sp>
      <p:graphicFrame>
        <p:nvGraphicFramePr>
          <p:cNvPr id="6" name="Table 5"/>
          <p:cNvGraphicFramePr>
            <a:graphicFrameLocks noGrp="1"/>
          </p:cNvGraphicFramePr>
          <p:nvPr/>
        </p:nvGraphicFramePr>
        <p:xfrm>
          <a:off x="731520" y="1828800"/>
          <a:ext cx="10515600" cy="292608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585216">
                <a:tc>
                  <a:txBody>
                    <a:bodyPr wrap="square"/>
                    <a:lstStyle/>
                    <a:p>
                      <a:pPr algn="l"/>
                      <a:r>
                        <a:rPr sz="1300" b="1">
                          <a:solidFill>
                            <a:srgbClr val="FFFFFF"/>
                          </a:solidFill>
                          <a:latin typeface="Calibri"/>
                        </a:rPr>
                        <a:t>Friction Pattern</a:t>
                      </a:r>
                    </a:p>
                  </a:txBody>
                  <a:tcPr anchor="ctr">
                    <a:solidFill>
                      <a:srgbClr val="1A1A2E"/>
                    </a:solidFill>
                  </a:tcPr>
                </a:tc>
                <a:tc>
                  <a:txBody>
                    <a:bodyPr wrap="square"/>
                    <a:lstStyle/>
                    <a:p>
                      <a:pPr algn="l"/>
                      <a:r>
                        <a:rPr sz="1300" b="1">
                          <a:solidFill>
                            <a:srgbClr val="FFFFFF"/>
                          </a:solidFill>
                          <a:latin typeface="Calibri"/>
                        </a:rPr>
                        <a:t>Healthcare</a:t>
                      </a:r>
                    </a:p>
                  </a:txBody>
                  <a:tcPr anchor="ctr">
                    <a:solidFill>
                      <a:srgbClr val="1A1A2E"/>
                    </a:solidFill>
                  </a:tcPr>
                </a:tc>
                <a:tc>
                  <a:txBody>
                    <a:bodyPr wrap="square"/>
                    <a:lstStyle/>
                    <a:p>
                      <a:pPr algn="l"/>
                      <a:r>
                        <a:rPr sz="1300" b="1">
                          <a:solidFill>
                            <a:srgbClr val="FFFFFF"/>
                          </a:solidFill>
                          <a:latin typeface="Calibri"/>
                        </a:rPr>
                        <a:t>Industrial Services</a:t>
                      </a:r>
                    </a:p>
                  </a:txBody>
                  <a:tcPr anchor="ctr">
                    <a:solidFill>
                      <a:srgbClr val="1A1A2E"/>
                    </a:solidFill>
                  </a:tcPr>
                </a:tc>
                <a:tc>
                  <a:txBody>
                    <a:bodyPr wrap="square"/>
                    <a:lstStyle/>
                    <a:p>
                      <a:pPr algn="l"/>
                      <a:r>
                        <a:rPr sz="1300" b="1">
                          <a:solidFill>
                            <a:srgbClr val="FFFFFF"/>
                          </a:solidFill>
                          <a:latin typeface="Calibri"/>
                        </a:rPr>
                        <a:t>Tech-Enabled Services</a:t>
                      </a:r>
                    </a:p>
                  </a:txBody>
                  <a:tcPr anchor="ctr">
                    <a:solidFill>
                      <a:srgbClr val="1A1A2E"/>
                    </a:solidFill>
                  </a:tcPr>
                </a:tc>
                <a:tc>
                  <a:txBody>
                    <a:bodyPr wrap="square"/>
                    <a:lstStyle/>
                    <a:p>
                      <a:pPr algn="l"/>
                      <a:r>
                        <a:rPr sz="1300" b="1">
                          <a:solidFill>
                            <a:srgbClr val="FFFFFF"/>
                          </a:solidFill>
                          <a:latin typeface="Calibri"/>
                        </a:rPr>
                        <a:t>Financial Services</a:t>
                      </a:r>
                    </a:p>
                  </a:txBody>
                  <a:tcPr anchor="ctr">
                    <a:solidFill>
                      <a:srgbClr val="1A1A2E"/>
                    </a:solidFill>
                  </a:tcPr>
                </a:tc>
              </a:tr>
              <a:tr h="585216">
                <a:tc>
                  <a:txBody>
                    <a:bodyPr wrap="square"/>
                    <a:lstStyle/>
                    <a:p>
                      <a:pPr algn="l"/>
                      <a:r>
                        <a:rPr sz="1200" b="1">
                          <a:solidFill>
                            <a:srgbClr val="1A1A2E"/>
                          </a:solidFill>
                          <a:latin typeface="Calibri"/>
                        </a:rPr>
                        <a:t>Execution backlog</a:t>
                      </a:r>
                    </a:p>
                  </a:txBody>
                  <a:tcPr anchor="ctr">
                    <a:solidFill>
                      <a:srgbClr val="FFFFFF"/>
                    </a:solidFill>
                  </a:tcPr>
                </a:tc>
                <a:tc>
                  <a:txBody>
                    <a:bodyPr wrap="square"/>
                    <a:lstStyle/>
                    <a:p>
                      <a:pPr algn="l"/>
                      <a:r>
                        <a:rPr sz="1200" b="0">
                          <a:solidFill>
                            <a:srgbClr val="2D2D2D"/>
                          </a:solidFill>
                          <a:latin typeface="Calibri"/>
                        </a:rPr>
                        <a:t>Patient intake</a:t>
                      </a:r>
                    </a:p>
                  </a:txBody>
                  <a:tcPr anchor="ctr">
                    <a:solidFill>
                      <a:srgbClr val="FFFFFF"/>
                    </a:solidFill>
                  </a:tcPr>
                </a:tc>
                <a:tc>
                  <a:txBody>
                    <a:bodyPr wrap="square"/>
                    <a:lstStyle/>
                    <a:p>
                      <a:pPr algn="l"/>
                      <a:r>
                        <a:rPr sz="1200" b="0">
                          <a:solidFill>
                            <a:srgbClr val="2D2D2D"/>
                          </a:solidFill>
                          <a:latin typeface="Calibri"/>
                        </a:rPr>
                        <a:t>Field service scheduling</a:t>
                      </a:r>
                    </a:p>
                  </a:txBody>
                  <a:tcPr anchor="ctr">
                    <a:solidFill>
                      <a:srgbClr val="FFFFFF"/>
                    </a:solidFill>
                  </a:tcPr>
                </a:tc>
                <a:tc>
                  <a:txBody>
                    <a:bodyPr wrap="square"/>
                    <a:lstStyle/>
                    <a:p>
                      <a:pPr algn="l"/>
                      <a:r>
                        <a:rPr sz="1200" b="0">
                          <a:solidFill>
                            <a:srgbClr val="2D2D2D"/>
                          </a:solidFill>
                          <a:latin typeface="Calibri"/>
                        </a:rPr>
                        <a:t>Client onboarding</a:t>
                      </a:r>
                    </a:p>
                  </a:txBody>
                  <a:tcPr anchor="ctr">
                    <a:solidFill>
                      <a:srgbClr val="FFFFFF"/>
                    </a:solidFill>
                  </a:tcPr>
                </a:tc>
                <a:tc>
                  <a:txBody>
                    <a:bodyPr wrap="square"/>
                    <a:lstStyle/>
                    <a:p>
                      <a:pPr algn="l"/>
                      <a:r>
                        <a:rPr sz="1200" b="0">
                          <a:solidFill>
                            <a:srgbClr val="2D2D2D"/>
                          </a:solidFill>
                          <a:latin typeface="Calibri"/>
                        </a:rPr>
                        <a:t>Claims processing</a:t>
                      </a:r>
                    </a:p>
                  </a:txBody>
                  <a:tcPr anchor="ctr">
                    <a:solidFill>
                      <a:srgbClr val="FFFFFF"/>
                    </a:solidFill>
                  </a:tcPr>
                </a:tc>
              </a:tr>
              <a:tr h="585216">
                <a:tc>
                  <a:txBody>
                    <a:bodyPr wrap="square"/>
                    <a:lstStyle/>
                    <a:p>
                      <a:pPr algn="l"/>
                      <a:r>
                        <a:rPr sz="1200" b="1">
                          <a:solidFill>
                            <a:srgbClr val="1A1A2E"/>
                          </a:solidFill>
                          <a:latin typeface="Calibri"/>
                        </a:rPr>
                        <a:t>Decision latency</a:t>
                      </a:r>
                    </a:p>
                  </a:txBody>
                  <a:tcPr anchor="ctr">
                    <a:solidFill>
                      <a:srgbClr val="F0F4F8"/>
                    </a:solidFill>
                  </a:tcPr>
                </a:tc>
                <a:tc>
                  <a:txBody>
                    <a:bodyPr wrap="square"/>
                    <a:lstStyle/>
                    <a:p>
                      <a:pPr algn="l"/>
                      <a:r>
                        <a:rPr sz="1200" b="0">
                          <a:solidFill>
                            <a:srgbClr val="2D2D2D"/>
                          </a:solidFill>
                          <a:latin typeface="Calibri"/>
                        </a:rPr>
                        <a:t>Clinical triage</a:t>
                      </a:r>
                    </a:p>
                  </a:txBody>
                  <a:tcPr anchor="ctr">
                    <a:solidFill>
                      <a:srgbClr val="F0F4F8"/>
                    </a:solidFill>
                  </a:tcPr>
                </a:tc>
                <a:tc>
                  <a:txBody>
                    <a:bodyPr wrap="square"/>
                    <a:lstStyle/>
                    <a:p>
                      <a:pPr algn="l"/>
                      <a:r>
                        <a:rPr sz="1200" b="0">
                          <a:solidFill>
                            <a:srgbClr val="2D2D2D"/>
                          </a:solidFill>
                          <a:latin typeface="Calibri"/>
                        </a:rPr>
                        <a:t>Maintenance scheduling</a:t>
                      </a:r>
                    </a:p>
                  </a:txBody>
                  <a:tcPr anchor="ctr">
                    <a:solidFill>
                      <a:srgbClr val="F0F4F8"/>
                    </a:solidFill>
                  </a:tcPr>
                </a:tc>
                <a:tc>
                  <a:txBody>
                    <a:bodyPr wrap="square"/>
                    <a:lstStyle/>
                    <a:p>
                      <a:pPr algn="l"/>
                      <a:r>
                        <a:rPr sz="1200" b="0">
                          <a:solidFill>
                            <a:srgbClr val="2D2D2D"/>
                          </a:solidFill>
                          <a:latin typeface="Calibri"/>
                        </a:rPr>
                        <a:t>Pricing and quoting</a:t>
                      </a:r>
                    </a:p>
                  </a:txBody>
                  <a:tcPr anchor="ctr">
                    <a:solidFill>
                      <a:srgbClr val="F0F4F8"/>
                    </a:solidFill>
                  </a:tcPr>
                </a:tc>
                <a:tc>
                  <a:txBody>
                    <a:bodyPr wrap="square"/>
                    <a:lstStyle/>
                    <a:p>
                      <a:pPr algn="l"/>
                      <a:r>
                        <a:rPr sz="1200" b="0">
                          <a:solidFill>
                            <a:srgbClr val="2D2D2D"/>
                          </a:solidFill>
                          <a:latin typeface="Calibri"/>
                        </a:rPr>
                        <a:t>Underwriting</a:t>
                      </a:r>
                    </a:p>
                  </a:txBody>
                  <a:tcPr anchor="ctr">
                    <a:solidFill>
                      <a:srgbClr val="F0F4F8"/>
                    </a:solidFill>
                  </a:tcPr>
                </a:tc>
              </a:tr>
              <a:tr h="585216">
                <a:tc>
                  <a:txBody>
                    <a:bodyPr wrap="square"/>
                    <a:lstStyle/>
                    <a:p>
                      <a:pPr algn="l"/>
                      <a:r>
                        <a:rPr sz="1200" b="1">
                          <a:solidFill>
                            <a:srgbClr val="1A1A2E"/>
                          </a:solidFill>
                          <a:latin typeface="Calibri"/>
                        </a:rPr>
                        <a:t>Cost-to-serve</a:t>
                      </a:r>
                    </a:p>
                  </a:txBody>
                  <a:tcPr anchor="ctr">
                    <a:solidFill>
                      <a:srgbClr val="FFFFFF"/>
                    </a:solidFill>
                  </a:tcPr>
                </a:tc>
                <a:tc>
                  <a:txBody>
                    <a:bodyPr wrap="square"/>
                    <a:lstStyle/>
                    <a:p>
                      <a:pPr algn="l"/>
                      <a:r>
                        <a:rPr sz="1200" b="0">
                          <a:solidFill>
                            <a:srgbClr val="2D2D2D"/>
                          </a:solidFill>
                          <a:latin typeface="Calibri"/>
                        </a:rPr>
                        <a:t>Staff scheduling</a:t>
                      </a:r>
                    </a:p>
                  </a:txBody>
                  <a:tcPr anchor="ctr">
                    <a:solidFill>
                      <a:srgbClr val="FFFFFF"/>
                    </a:solidFill>
                  </a:tcPr>
                </a:tc>
                <a:tc>
                  <a:txBody>
                    <a:bodyPr wrap="square"/>
                    <a:lstStyle/>
                    <a:p>
                      <a:pPr algn="l"/>
                      <a:r>
                        <a:rPr sz="1200" b="0">
                          <a:solidFill>
                            <a:srgbClr val="2D2D2D"/>
                          </a:solidFill>
                          <a:latin typeface="Calibri"/>
                        </a:rPr>
                        <a:t>Route optimisation</a:t>
                      </a:r>
                    </a:p>
                  </a:txBody>
                  <a:tcPr anchor="ctr">
                    <a:solidFill>
                      <a:srgbClr val="FFFFFF"/>
                    </a:solidFill>
                  </a:tcPr>
                </a:tc>
                <a:tc>
                  <a:txBody>
                    <a:bodyPr wrap="square"/>
                    <a:lstStyle/>
                    <a:p>
                      <a:pPr algn="l"/>
                      <a:r>
                        <a:rPr sz="1200" b="0">
                          <a:solidFill>
                            <a:srgbClr val="2D2D2D"/>
                          </a:solidFill>
                          <a:latin typeface="Calibri"/>
                        </a:rPr>
                        <a:t>Compliance checking</a:t>
                      </a:r>
                    </a:p>
                  </a:txBody>
                  <a:tcPr anchor="ctr">
                    <a:solidFill>
                      <a:srgbClr val="FFFFFF"/>
                    </a:solidFill>
                  </a:tcPr>
                </a:tc>
                <a:tc>
                  <a:txBody>
                    <a:bodyPr wrap="square"/>
                    <a:lstStyle/>
                    <a:p>
                      <a:pPr algn="l"/>
                      <a:r>
                        <a:rPr sz="1200" b="0">
                          <a:solidFill>
                            <a:srgbClr val="2D2D2D"/>
                          </a:solidFill>
                          <a:latin typeface="Calibri"/>
                        </a:rPr>
                        <a:t>Reconciliation</a:t>
                      </a:r>
                    </a:p>
                  </a:txBody>
                  <a:tcPr anchor="ctr">
                    <a:solidFill>
                      <a:srgbClr val="FFFFFF"/>
                    </a:solidFill>
                  </a:tcPr>
                </a:tc>
              </a:tr>
              <a:tr h="585216">
                <a:tc>
                  <a:txBody>
                    <a:bodyPr wrap="square"/>
                    <a:lstStyle/>
                    <a:p>
                      <a:pPr algn="l"/>
                      <a:r>
                        <a:rPr sz="1200" b="1">
                          <a:solidFill>
                            <a:srgbClr val="1A1A2E"/>
                          </a:solidFill>
                          <a:latin typeface="Calibri"/>
                        </a:rPr>
                        <a:t>Data disconnection</a:t>
                      </a:r>
                    </a:p>
                  </a:txBody>
                  <a:tcPr anchor="ctr">
                    <a:solidFill>
                      <a:srgbClr val="F0F4F8"/>
                    </a:solidFill>
                  </a:tcPr>
                </a:tc>
                <a:tc>
                  <a:txBody>
                    <a:bodyPr wrap="square"/>
                    <a:lstStyle/>
                    <a:p>
                      <a:pPr algn="l"/>
                      <a:r>
                        <a:rPr sz="1200" b="0">
                          <a:solidFill>
                            <a:srgbClr val="2D2D2D"/>
                          </a:solidFill>
                          <a:latin typeface="Calibri"/>
                        </a:rPr>
                        <a:t>Patient records</a:t>
                      </a:r>
                    </a:p>
                  </a:txBody>
                  <a:tcPr anchor="ctr">
                    <a:solidFill>
                      <a:srgbClr val="F0F4F8"/>
                    </a:solidFill>
                  </a:tcPr>
                </a:tc>
                <a:tc>
                  <a:txBody>
                    <a:bodyPr wrap="square"/>
                    <a:lstStyle/>
                    <a:p>
                      <a:pPr algn="l"/>
                      <a:r>
                        <a:rPr sz="1200" b="0">
                          <a:solidFill>
                            <a:srgbClr val="2D2D2D"/>
                          </a:solidFill>
                          <a:latin typeface="Calibri"/>
                        </a:rPr>
                        <a:t>Asset data across sites</a:t>
                      </a:r>
                    </a:p>
                  </a:txBody>
                  <a:tcPr anchor="ctr">
                    <a:solidFill>
                      <a:srgbClr val="F0F4F8"/>
                    </a:solidFill>
                  </a:tcPr>
                </a:tc>
                <a:tc>
                  <a:txBody>
                    <a:bodyPr wrap="square"/>
                    <a:lstStyle/>
                    <a:p>
                      <a:pPr algn="l"/>
                      <a:r>
                        <a:rPr sz="1200" b="0">
                          <a:solidFill>
                            <a:srgbClr val="2D2D2D"/>
                          </a:solidFill>
                          <a:latin typeface="Calibri"/>
                        </a:rPr>
                        <a:t>Client data across platforms</a:t>
                      </a:r>
                    </a:p>
                  </a:txBody>
                  <a:tcPr anchor="ctr">
                    <a:solidFill>
                      <a:srgbClr val="F0F4F8"/>
                    </a:solidFill>
                  </a:tcPr>
                </a:tc>
                <a:tc>
                  <a:txBody>
                    <a:bodyPr wrap="square"/>
                    <a:lstStyle/>
                    <a:p>
                      <a:pPr algn="l"/>
                      <a:r>
                        <a:rPr sz="1200" b="0">
                          <a:solidFill>
                            <a:srgbClr val="2D2D2D"/>
                          </a:solidFill>
                          <a:latin typeface="Calibri"/>
                        </a:rPr>
                        <a:t>Regulatory data</a:t>
                      </a:r>
                    </a:p>
                  </a:txBody>
                  <a:tcPr anchor="ctr">
                    <a:solidFill>
                      <a:srgbClr val="F0F4F8"/>
                    </a:solidFill>
                  </a:tcPr>
                </a:tc>
              </a:tr>
            </a:tbl>
          </a:graphicData>
        </a:graphic>
      </p:graphicFrame>
      <p:sp>
        <p:nvSpPr>
          <p:cNvPr id="7" name="TextBox 6"/>
          <p:cNvSpPr txBox="1"/>
          <p:nvPr/>
        </p:nvSpPr>
        <p:spPr>
          <a:xfrm>
            <a:off x="731520" y="5120640"/>
            <a:ext cx="10698480" cy="731520"/>
          </a:xfrm>
          <a:prstGeom prst="rect">
            <a:avLst/>
          </a:prstGeom>
          <a:noFill/>
        </p:spPr>
        <p:txBody>
          <a:bodyPr wrap="square">
            <a:spAutoFit/>
          </a:bodyPr>
          <a:lstStyle/>
          <a:p>
            <a:r>
              <a:rPr sz="1600" b="1">
                <a:solidFill>
                  <a:srgbClr val="007ACC"/>
                </a:solidFill>
                <a:latin typeface="Calibri"/>
              </a:rPr>
              <a:t>One engagement teaches patterns that accelerate the next.
By the third company, we're faster, cheaper, and more accurate.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Where We Start</a:t>
            </a:r>
          </a:p>
        </p:txBody>
      </p:sp>
      <p:sp>
        <p:nvSpPr>
          <p:cNvPr id="5" name="TextBox 4"/>
          <p:cNvSpPr txBox="1"/>
          <p:nvPr/>
        </p:nvSpPr>
        <p:spPr>
          <a:xfrm>
            <a:off x="731520" y="1097280"/>
            <a:ext cx="10698480" cy="548640"/>
          </a:xfrm>
          <a:prstGeom prst="rect">
            <a:avLst/>
          </a:prstGeom>
          <a:noFill/>
        </p:spPr>
        <p:txBody>
          <a:bodyPr wrap="square">
            <a:spAutoFit/>
          </a:bodyPr>
          <a:lstStyle/>
          <a:p>
            <a:r>
              <a:rPr sz="1800">
                <a:solidFill>
                  <a:srgbClr val="2D2D2D"/>
                </a:solidFill>
                <a:latin typeface="Calibri"/>
              </a:rPr>
              <a:t>Not every workflow is worth automating first. We start where the math works fastest.</a:t>
            </a:r>
          </a:p>
        </p:txBody>
      </p:sp>
      <p:sp>
        <p:nvSpPr>
          <p:cNvPr id="6" name="Rounded Rectangle 5"/>
          <p:cNvSpPr/>
          <p:nvPr/>
        </p:nvSpPr>
        <p:spPr>
          <a:xfrm>
            <a:off x="731520" y="2011680"/>
            <a:ext cx="237744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1600" b="1">
                <a:solidFill>
                  <a:srgbClr val="1A1A2E"/>
                </a:solidFill>
                <a:latin typeface="Calibri"/>
              </a:rPr>
              <a:t>Direct business metric</a:t>
            </a:r>
          </a:p>
          <a:p>
            <a:pPr>
              <a:spcBef>
                <a:spcPts val="1000"/>
              </a:spcBef>
            </a:pPr>
            <a:r>
              <a:rPr sz="1300">
                <a:solidFill>
                  <a:srgbClr val="999999"/>
                </a:solidFill>
                <a:latin typeface="Calibri"/>
              </a:rPr>
              <a:t>Something the CFO already tracks</a:t>
            </a:r>
          </a:p>
        </p:txBody>
      </p:sp>
      <p:sp>
        <p:nvSpPr>
          <p:cNvPr id="7" name="Rounded Rectangle 6"/>
          <p:cNvSpPr/>
          <p:nvPr/>
        </p:nvSpPr>
        <p:spPr>
          <a:xfrm>
            <a:off x="3291840" y="2011680"/>
            <a:ext cx="237744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1600" b="1">
                <a:solidFill>
                  <a:srgbClr val="1A1A2E"/>
                </a:solidFill>
                <a:latin typeface="Calibri"/>
              </a:rPr>
              <a:t>Repeatable workflow</a:t>
            </a:r>
          </a:p>
          <a:p>
            <a:pPr>
              <a:spcBef>
                <a:spcPts val="1000"/>
              </a:spcBef>
            </a:pPr>
            <a:r>
              <a:rPr sz="1300">
                <a:solidFill>
                  <a:srgbClr val="999999"/>
                </a:solidFill>
                <a:latin typeface="Calibri"/>
              </a:rPr>
              <a:t>High frequency = fast proof</a:t>
            </a:r>
          </a:p>
        </p:txBody>
      </p:sp>
      <p:sp>
        <p:nvSpPr>
          <p:cNvPr id="8" name="Rounded Rectangle 7"/>
          <p:cNvSpPr/>
          <p:nvPr/>
        </p:nvSpPr>
        <p:spPr>
          <a:xfrm>
            <a:off x="5852160" y="2011680"/>
            <a:ext cx="237744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1600" b="1">
                <a:solidFill>
                  <a:srgbClr val="1A1A2E"/>
                </a:solidFill>
                <a:latin typeface="Calibri"/>
              </a:rPr>
              <a:t>Existing data</a:t>
            </a:r>
          </a:p>
          <a:p>
            <a:pPr>
              <a:spcBef>
                <a:spcPts val="1000"/>
              </a:spcBef>
            </a:pPr>
            <a:r>
              <a:rPr sz="1300">
                <a:solidFill>
                  <a:srgbClr val="999999"/>
                </a:solidFill>
                <a:latin typeface="Calibri"/>
              </a:rPr>
              <a:t>No data engineering prerequisite</a:t>
            </a:r>
          </a:p>
        </p:txBody>
      </p:sp>
      <p:sp>
        <p:nvSpPr>
          <p:cNvPr id="9" name="Rounded Rectangle 8"/>
          <p:cNvSpPr/>
          <p:nvPr/>
        </p:nvSpPr>
        <p:spPr>
          <a:xfrm>
            <a:off x="8412480" y="2011680"/>
            <a:ext cx="237744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r>
              <a:rPr sz="1600" b="1">
                <a:solidFill>
                  <a:srgbClr val="1A1A2E"/>
                </a:solidFill>
                <a:latin typeface="Calibri"/>
              </a:rPr>
              <a:t>Contained blast radius</a:t>
            </a:r>
          </a:p>
          <a:p>
            <a:pPr>
              <a:spcBef>
                <a:spcPts val="1000"/>
              </a:spcBef>
            </a:pPr>
            <a:r>
              <a:rPr sz="1300">
                <a:solidFill>
                  <a:srgbClr val="999999"/>
                </a:solidFill>
                <a:latin typeface="Calibri"/>
              </a:rPr>
              <a:t>Failure stays local, success is attributable</a:t>
            </a:r>
          </a:p>
        </p:txBody>
      </p:sp>
      <p:sp>
        <p:nvSpPr>
          <p:cNvPr id="10" name="Rounded Rectangle 9"/>
          <p:cNvSpPr/>
          <p:nvPr/>
        </p:nvSpPr>
        <p:spPr>
          <a:xfrm>
            <a:off x="731520" y="4206240"/>
            <a:ext cx="9875520" cy="7315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1600" b="1">
                <a:solidFill>
                  <a:srgbClr val="00B4A0"/>
                </a:solidFill>
                <a:latin typeface="Calibri"/>
              </a:rPr>
              <a:t>Entry points:   Execution backlogs   |   Decision latency   |   Cost-to-serve pressure   |   Revenue leakage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One Playbook, Every Door</a:t>
            </a:r>
          </a:p>
        </p:txBody>
      </p:sp>
      <p:sp>
        <p:nvSpPr>
          <p:cNvPr id="5" name="TextBox 4"/>
          <p:cNvSpPr txBox="1"/>
          <p:nvPr/>
        </p:nvSpPr>
        <p:spPr>
          <a:xfrm>
            <a:off x="731520" y="1097280"/>
            <a:ext cx="10698480" cy="457200"/>
          </a:xfrm>
          <a:prstGeom prst="rect">
            <a:avLst/>
          </a:prstGeom>
          <a:noFill/>
        </p:spPr>
        <p:txBody>
          <a:bodyPr wrap="none">
            <a:spAutoFit/>
          </a:bodyPr>
          <a:lstStyle/>
          <a:p>
            <a:r>
              <a:rPr sz="1800">
                <a:solidFill>
                  <a:srgbClr val="2D2D2D"/>
                </a:solidFill>
                <a:latin typeface="Calibri"/>
              </a:rPr>
              <a:t>Same execution model. Regardless of industry, company, or use case.</a:t>
            </a:r>
          </a:p>
        </p:txBody>
      </p:sp>
      <p:sp>
        <p:nvSpPr>
          <p:cNvPr id="6" name="Oval 5"/>
          <p:cNvSpPr/>
          <p:nvPr/>
        </p:nvSpPr>
        <p:spPr>
          <a:xfrm>
            <a:off x="914400" y="2011680"/>
            <a:ext cx="548640" cy="54864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1</a:t>
            </a:r>
          </a:p>
        </p:txBody>
      </p:sp>
      <p:sp>
        <p:nvSpPr>
          <p:cNvPr id="7" name="TextBox 6"/>
          <p:cNvSpPr txBox="1"/>
          <p:nvPr/>
        </p:nvSpPr>
        <p:spPr>
          <a:xfrm>
            <a:off x="1828800" y="2011680"/>
            <a:ext cx="8229600" cy="548640"/>
          </a:xfrm>
          <a:prstGeom prst="rect">
            <a:avLst/>
          </a:prstGeom>
          <a:noFill/>
        </p:spPr>
        <p:txBody>
          <a:bodyPr wrap="none">
            <a:spAutoFit/>
          </a:bodyPr>
          <a:lstStyle/>
          <a:p>
            <a:r>
              <a:rPr sz="2000" b="1">
                <a:solidFill>
                  <a:srgbClr val="1A1A2E"/>
                </a:solidFill>
                <a:latin typeface="Calibri"/>
              </a:rPr>
              <a:t>Narrow scope</a:t>
            </a:r>
            <a:r>
              <a:rPr sz="1600">
                <a:solidFill>
                  <a:srgbClr val="999999"/>
                </a:solidFill>
                <a:latin typeface="Calibri"/>
              </a:rPr>
              <a:t>   One workflow, one metric, one team</a:t>
            </a:r>
          </a:p>
        </p:txBody>
      </p:sp>
      <p:sp>
        <p:nvSpPr>
          <p:cNvPr id="8" name="Oval 7"/>
          <p:cNvSpPr/>
          <p:nvPr/>
        </p:nvSpPr>
        <p:spPr>
          <a:xfrm>
            <a:off x="914400" y="3017520"/>
            <a:ext cx="548640" cy="54864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2</a:t>
            </a:r>
          </a:p>
        </p:txBody>
      </p:sp>
      <p:sp>
        <p:nvSpPr>
          <p:cNvPr id="9" name="TextBox 8"/>
          <p:cNvSpPr txBox="1"/>
          <p:nvPr/>
        </p:nvSpPr>
        <p:spPr>
          <a:xfrm>
            <a:off x="1828800" y="3017520"/>
            <a:ext cx="8229600" cy="548640"/>
          </a:xfrm>
          <a:prstGeom prst="rect">
            <a:avLst/>
          </a:prstGeom>
          <a:noFill/>
        </p:spPr>
        <p:txBody>
          <a:bodyPr wrap="none">
            <a:spAutoFit/>
          </a:bodyPr>
          <a:lstStyle/>
          <a:p>
            <a:r>
              <a:rPr sz="2000" b="1">
                <a:solidFill>
                  <a:srgbClr val="1A1A2E"/>
                </a:solidFill>
                <a:latin typeface="Calibri"/>
              </a:rPr>
              <a:t>Ship in weeks</a:t>
            </a:r>
            <a:r>
              <a:rPr sz="1600">
                <a:solidFill>
                  <a:srgbClr val="999999"/>
                </a:solidFill>
                <a:latin typeface="Calibri"/>
              </a:rPr>
              <a:t>   Production within 3-6 weeks</a:t>
            </a:r>
          </a:p>
        </p:txBody>
      </p:sp>
      <p:sp>
        <p:nvSpPr>
          <p:cNvPr id="10" name="Oval 9"/>
          <p:cNvSpPr/>
          <p:nvPr/>
        </p:nvSpPr>
        <p:spPr>
          <a:xfrm>
            <a:off x="914400" y="4023360"/>
            <a:ext cx="548640" cy="54864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3</a:t>
            </a:r>
          </a:p>
        </p:txBody>
      </p:sp>
      <p:sp>
        <p:nvSpPr>
          <p:cNvPr id="11" name="TextBox 10"/>
          <p:cNvSpPr txBox="1"/>
          <p:nvPr/>
        </p:nvSpPr>
        <p:spPr>
          <a:xfrm>
            <a:off x="1828800" y="4023360"/>
            <a:ext cx="8229600" cy="548640"/>
          </a:xfrm>
          <a:prstGeom prst="rect">
            <a:avLst/>
          </a:prstGeom>
          <a:noFill/>
        </p:spPr>
        <p:txBody>
          <a:bodyPr wrap="none">
            <a:spAutoFit/>
          </a:bodyPr>
          <a:lstStyle/>
          <a:p>
            <a:r>
              <a:rPr sz="2000" b="1">
                <a:solidFill>
                  <a:srgbClr val="1A1A2E"/>
                </a:solidFill>
                <a:latin typeface="Calibri"/>
              </a:rPr>
              <a:t>Measure against baseline</a:t>
            </a:r>
            <a:r>
              <a:rPr sz="1600">
                <a:solidFill>
                  <a:srgbClr val="999999"/>
                </a:solidFill>
                <a:latin typeface="Calibri"/>
              </a:rPr>
              <a:t>   Before/after on the metric that matters</a:t>
            </a:r>
          </a:p>
        </p:txBody>
      </p:sp>
      <p:sp>
        <p:nvSpPr>
          <p:cNvPr id="12" name="Oval 11"/>
          <p:cNvSpPr/>
          <p:nvPr/>
        </p:nvSpPr>
        <p:spPr>
          <a:xfrm>
            <a:off x="914400" y="5029200"/>
            <a:ext cx="548640" cy="54864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4</a:t>
            </a:r>
          </a:p>
        </p:txBody>
      </p:sp>
      <p:sp>
        <p:nvSpPr>
          <p:cNvPr id="13" name="TextBox 12"/>
          <p:cNvSpPr txBox="1"/>
          <p:nvPr/>
        </p:nvSpPr>
        <p:spPr>
          <a:xfrm>
            <a:off x="1828800" y="5029200"/>
            <a:ext cx="8229600" cy="548640"/>
          </a:xfrm>
          <a:prstGeom prst="rect">
            <a:avLst/>
          </a:prstGeom>
          <a:noFill/>
        </p:spPr>
        <p:txBody>
          <a:bodyPr wrap="none">
            <a:spAutoFit/>
          </a:bodyPr>
          <a:lstStyle/>
          <a:p>
            <a:r>
              <a:rPr sz="2000" b="1">
                <a:solidFill>
                  <a:srgbClr val="1A1A2E"/>
                </a:solidFill>
                <a:latin typeface="Calibri"/>
              </a:rPr>
              <a:t>Expand only from proof</a:t>
            </a:r>
            <a:r>
              <a:rPr sz="1600">
                <a:solidFill>
                  <a:srgbClr val="999999"/>
                </a:solidFill>
                <a:latin typeface="Calibri"/>
              </a:rPr>
              <a:t>   Next workflow earns its way in</a:t>
            </a:r>
          </a:p>
        </p:txBody>
      </p:sp>
      <p:sp>
        <p:nvSpPr>
          <p:cNvPr id="14" name="TextBox 13"/>
          <p:cNvSpPr txBox="1"/>
          <p:nvPr/>
        </p:nvSpPr>
        <p:spPr>
          <a:xfrm>
            <a:off x="731520" y="5669280"/>
            <a:ext cx="10698480" cy="548640"/>
          </a:xfrm>
          <a:prstGeom prst="rect">
            <a:avLst/>
          </a:prstGeom>
          <a:noFill/>
        </p:spPr>
        <p:txBody>
          <a:bodyPr wrap="square">
            <a:spAutoFit/>
          </a:bodyPr>
          <a:lstStyle/>
          <a:p>
            <a:r>
              <a:rPr sz="1500" b="1">
                <a:solidFill>
                  <a:srgbClr val="007ACC"/>
                </a:solidFill>
                <a:latin typeface="Calibri"/>
              </a:rPr>
              <a:t>A repeatable model available to every portfolio company. Same playbook. Predictable timelines. Predictable costs. Measurable outcomes.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What Portfolio Companies Receive</a:t>
            </a:r>
          </a:p>
        </p:txBody>
      </p:sp>
      <p:sp>
        <p:nvSpPr>
          <p:cNvPr id="5" name="TextBox 4"/>
          <p:cNvSpPr txBox="1"/>
          <p:nvPr/>
        </p:nvSpPr>
        <p:spPr>
          <a:xfrm>
            <a:off x="731520" y="1097280"/>
            <a:ext cx="10698480" cy="457200"/>
          </a:xfrm>
          <a:prstGeom prst="rect">
            <a:avLst/>
          </a:prstGeom>
          <a:noFill/>
        </p:spPr>
        <p:txBody>
          <a:bodyPr wrap="none">
            <a:spAutoFit/>
          </a:bodyPr>
          <a:lstStyle/>
          <a:p>
            <a:r>
              <a:rPr sz="1800">
                <a:solidFill>
                  <a:srgbClr val="2D2D2D"/>
                </a:solidFill>
                <a:latin typeface="Calibri"/>
              </a:rPr>
              <a:t>Tangible outcomes. Not slide decks about AI.</a:t>
            </a:r>
          </a:p>
        </p:txBody>
      </p:sp>
      <p:sp>
        <p:nvSpPr>
          <p:cNvPr id="6" name="Rounded Rectangle 5"/>
          <p:cNvSpPr/>
          <p:nvPr/>
        </p:nvSpPr>
        <p:spPr>
          <a:xfrm>
            <a:off x="731520" y="2011680"/>
            <a:ext cx="4937760" cy="9144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r>
              <a:rPr sz="1600" b="1">
                <a:solidFill>
                  <a:srgbClr val="1A1A2E"/>
                </a:solidFill>
                <a:latin typeface="Calibri"/>
              </a:rPr>
              <a:t>Production AI system</a:t>
            </a:r>
          </a:p>
          <a:p>
            <a:r>
              <a:rPr sz="1300">
                <a:solidFill>
                  <a:srgbClr val="999999"/>
                </a:solidFill>
                <a:latin typeface="Calibri"/>
              </a:rPr>
              <a:t>Live, embedded in a real workflow, used by real people</a:t>
            </a:r>
          </a:p>
        </p:txBody>
      </p:sp>
      <p:sp>
        <p:nvSpPr>
          <p:cNvPr id="7" name="Rounded Rectangle 6"/>
          <p:cNvSpPr/>
          <p:nvPr/>
        </p:nvSpPr>
        <p:spPr>
          <a:xfrm>
            <a:off x="5943600" y="2011680"/>
            <a:ext cx="4937760" cy="9144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r>
              <a:rPr sz="1600" b="1">
                <a:solidFill>
                  <a:srgbClr val="1A1A2E"/>
                </a:solidFill>
                <a:latin typeface="Calibri"/>
              </a:rPr>
              <a:t>Measured business impact</a:t>
            </a:r>
          </a:p>
          <a:p>
            <a:r>
              <a:rPr sz="1300">
                <a:solidFill>
                  <a:srgbClr val="999999"/>
                </a:solidFill>
                <a:latin typeface="Calibri"/>
              </a:rPr>
              <a:t>Before/after on the metric that justified the project</a:t>
            </a:r>
          </a:p>
        </p:txBody>
      </p:sp>
      <p:sp>
        <p:nvSpPr>
          <p:cNvPr id="8" name="Rounded Rectangle 7"/>
          <p:cNvSpPr/>
          <p:nvPr/>
        </p:nvSpPr>
        <p:spPr>
          <a:xfrm>
            <a:off x="731520" y="3200400"/>
            <a:ext cx="4937760" cy="9144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r>
              <a:rPr sz="1600" b="1">
                <a:solidFill>
                  <a:srgbClr val="1A1A2E"/>
                </a:solidFill>
                <a:latin typeface="Calibri"/>
              </a:rPr>
              <a:t>Operational handover</a:t>
            </a:r>
          </a:p>
          <a:p>
            <a:r>
              <a:rPr sz="1300">
                <a:solidFill>
                  <a:srgbClr val="999999"/>
                </a:solidFill>
                <a:latin typeface="Calibri"/>
              </a:rPr>
              <a:t>The company owns and maintains the system</a:t>
            </a:r>
          </a:p>
        </p:txBody>
      </p:sp>
      <p:sp>
        <p:nvSpPr>
          <p:cNvPr id="9" name="Rounded Rectangle 8"/>
          <p:cNvSpPr/>
          <p:nvPr/>
        </p:nvSpPr>
        <p:spPr>
          <a:xfrm>
            <a:off x="5943600" y="3200400"/>
            <a:ext cx="4937760" cy="9144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r>
              <a:rPr sz="1600" b="1">
                <a:solidFill>
                  <a:srgbClr val="1A1A2E"/>
                </a:solidFill>
                <a:latin typeface="Calibri"/>
              </a:rPr>
              <a:t>Expansion roadmap</a:t>
            </a:r>
          </a:p>
          <a:p>
            <a:r>
              <a:rPr sz="1300">
                <a:solidFill>
                  <a:srgbClr val="999999"/>
                </a:solidFill>
                <a:latin typeface="Calibri"/>
              </a:rPr>
              <a:t>Where to go next, based on proven results</a:t>
            </a:r>
          </a:p>
        </p:txBody>
      </p:sp>
      <p:sp>
        <p:nvSpPr>
          <p:cNvPr id="10" name="TextBox 9"/>
          <p:cNvSpPr txBox="1"/>
          <p:nvPr/>
        </p:nvSpPr>
        <p:spPr>
          <a:xfrm>
            <a:off x="731520" y="4754880"/>
            <a:ext cx="10698480" cy="731520"/>
          </a:xfrm>
          <a:prstGeom prst="rect">
            <a:avLst/>
          </a:prstGeom>
          <a:noFill/>
        </p:spPr>
        <p:txBody>
          <a:bodyPr wrap="square">
            <a:spAutoFit/>
          </a:bodyPr>
          <a:lstStyle/>
          <a:p>
            <a:r>
              <a:rPr sz="1600" b="1">
                <a:solidFill>
                  <a:srgbClr val="1A1A2E"/>
                </a:solidFill>
                <a:latin typeface="Calibri"/>
              </a:rPr>
              <a:t>What the CFO sees: </a:t>
            </a:r>
            <a:r>
              <a:rPr sz="1600">
                <a:solidFill>
                  <a:srgbClr val="2D2D2D"/>
                </a:solidFill>
                <a:latin typeface="Calibri"/>
              </a:rPr>
              <a:t>a cost line that dropped, a throughput number that climbed, or a revenue metric that improved — with clear attribution.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FFFFFF"/>
                </a:solidFill>
                <a:latin typeface="Calibri"/>
              </a:rPr>
              <a:t>The Partnership Model</a:t>
            </a:r>
          </a:p>
        </p:txBody>
      </p:sp>
      <p:sp>
        <p:nvSpPr>
          <p:cNvPr id="5" name="TextBox 4"/>
          <p:cNvSpPr txBox="1"/>
          <p:nvPr/>
        </p:nvSpPr>
        <p:spPr>
          <a:xfrm>
            <a:off x="731520" y="1097280"/>
            <a:ext cx="10698480" cy="457200"/>
          </a:xfrm>
          <a:prstGeom prst="rect">
            <a:avLst/>
          </a:prstGeom>
          <a:noFill/>
        </p:spPr>
        <p:txBody>
          <a:bodyPr wrap="none">
            <a:spAutoFit/>
          </a:bodyPr>
          <a:lstStyle/>
          <a:p>
            <a:r>
              <a:rPr sz="1800">
                <a:solidFill>
                  <a:srgbClr val="CCCCCC"/>
                </a:solidFill>
                <a:latin typeface="Calibri"/>
              </a:rPr>
              <a:t>How this works at portfolio scale.</a:t>
            </a:r>
          </a:p>
        </p:txBody>
      </p:sp>
      <p:sp>
        <p:nvSpPr>
          <p:cNvPr id="6" name="Rounded Rectangle 5"/>
          <p:cNvSpPr/>
          <p:nvPr/>
        </p:nvSpPr>
        <p:spPr>
          <a:xfrm>
            <a:off x="4754880" y="1737360"/>
            <a:ext cx="2743200" cy="640080"/>
          </a:xfrm>
          <a:prstGeom prst="round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EQT (Partnership)</a:t>
            </a:r>
          </a:p>
        </p:txBody>
      </p:sp>
      <p:sp>
        <p:nvSpPr>
          <p:cNvPr id="7" name="Rounded Rectangle 6"/>
          <p:cNvSpPr/>
          <p:nvPr/>
        </p:nvSpPr>
        <p:spPr>
          <a:xfrm>
            <a:off x="1371600" y="2926080"/>
            <a:ext cx="2011680" cy="548640"/>
          </a:xfrm>
          <a:prstGeom prst="roundRect">
            <a:avLst/>
          </a:prstGeom>
          <a:solidFill>
            <a:srgbClr val="2A2A4E"/>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CCCCCC"/>
                </a:solidFill>
                <a:latin typeface="Calibri"/>
              </a:rPr>
              <a:t>Healthcare</a:t>
            </a:r>
          </a:p>
        </p:txBody>
      </p:sp>
      <p:sp>
        <p:nvSpPr>
          <p:cNvPr id="8" name="Rounded Rectangle 7"/>
          <p:cNvSpPr/>
          <p:nvPr/>
        </p:nvSpPr>
        <p:spPr>
          <a:xfrm>
            <a:off x="1371600" y="3840480"/>
            <a:ext cx="2011680" cy="5486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realfast Playbook</a:t>
            </a:r>
          </a:p>
        </p:txBody>
      </p:sp>
      <p:sp>
        <p:nvSpPr>
          <p:cNvPr id="9" name="Rounded Rectangle 8"/>
          <p:cNvSpPr/>
          <p:nvPr/>
        </p:nvSpPr>
        <p:spPr>
          <a:xfrm>
            <a:off x="3931920" y="2926080"/>
            <a:ext cx="2011680" cy="548640"/>
          </a:xfrm>
          <a:prstGeom prst="roundRect">
            <a:avLst/>
          </a:prstGeom>
          <a:solidFill>
            <a:srgbClr val="2A2A4E"/>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CCCCCC"/>
                </a:solidFill>
                <a:latin typeface="Calibri"/>
              </a:rPr>
              <a:t>Industrials</a:t>
            </a:r>
          </a:p>
        </p:txBody>
      </p:sp>
      <p:sp>
        <p:nvSpPr>
          <p:cNvPr id="10" name="Rounded Rectangle 9"/>
          <p:cNvSpPr/>
          <p:nvPr/>
        </p:nvSpPr>
        <p:spPr>
          <a:xfrm>
            <a:off x="3931920" y="3840480"/>
            <a:ext cx="2011680" cy="5486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realfast Playbook</a:t>
            </a:r>
          </a:p>
        </p:txBody>
      </p:sp>
      <p:sp>
        <p:nvSpPr>
          <p:cNvPr id="11" name="Rounded Rectangle 10"/>
          <p:cNvSpPr/>
          <p:nvPr/>
        </p:nvSpPr>
        <p:spPr>
          <a:xfrm>
            <a:off x="6492240" y="2926080"/>
            <a:ext cx="2011680" cy="548640"/>
          </a:xfrm>
          <a:prstGeom prst="roundRect">
            <a:avLst/>
          </a:prstGeom>
          <a:solidFill>
            <a:srgbClr val="2A2A4E"/>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CCCCCC"/>
                </a:solidFill>
                <a:latin typeface="Calibri"/>
              </a:rPr>
              <a:t>Services</a:t>
            </a:r>
          </a:p>
        </p:txBody>
      </p:sp>
      <p:sp>
        <p:nvSpPr>
          <p:cNvPr id="12" name="Rounded Rectangle 11"/>
          <p:cNvSpPr/>
          <p:nvPr/>
        </p:nvSpPr>
        <p:spPr>
          <a:xfrm>
            <a:off x="6492240" y="3840480"/>
            <a:ext cx="2011680" cy="5486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realfast Playbook</a:t>
            </a:r>
          </a:p>
        </p:txBody>
      </p:sp>
      <p:sp>
        <p:nvSpPr>
          <p:cNvPr id="13" name="Rounded Rectangle 12"/>
          <p:cNvSpPr/>
          <p:nvPr/>
        </p:nvSpPr>
        <p:spPr>
          <a:xfrm>
            <a:off x="9052560" y="2926080"/>
            <a:ext cx="2011680" cy="548640"/>
          </a:xfrm>
          <a:prstGeom prst="roundRect">
            <a:avLst/>
          </a:prstGeom>
          <a:solidFill>
            <a:srgbClr val="2A2A4E"/>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CCCCCC"/>
                </a:solidFill>
                <a:latin typeface="Calibri"/>
              </a:rPr>
              <a:t>...</a:t>
            </a:r>
          </a:p>
        </p:txBody>
      </p:sp>
      <p:sp>
        <p:nvSpPr>
          <p:cNvPr id="14" name="Rounded Rectangle 13"/>
          <p:cNvSpPr/>
          <p:nvPr/>
        </p:nvSpPr>
        <p:spPr>
          <a:xfrm>
            <a:off x="1371600" y="4754880"/>
            <a:ext cx="9418320" cy="548640"/>
          </a:xfrm>
          <a:prstGeom prst="round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Cross-Portfolio Intelligence</a:t>
            </a:r>
          </a:p>
        </p:txBody>
      </p:sp>
      <p:sp>
        <p:nvSpPr>
          <p:cNvPr id="15" name="TextBox 14"/>
          <p:cNvSpPr txBox="1"/>
          <p:nvPr/>
        </p:nvSpPr>
        <p:spPr>
          <a:xfrm>
            <a:off x="731520" y="5577840"/>
            <a:ext cx="10698480" cy="1097280"/>
          </a:xfrm>
          <a:prstGeom prst="rect">
            <a:avLst/>
          </a:prstGeom>
          <a:noFill/>
        </p:spPr>
        <p:txBody>
          <a:bodyPr wrap="square">
            <a:spAutoFit/>
          </a:bodyPr>
          <a:lstStyle/>
          <a:p>
            <a:pPr>
              <a:spcBef>
                <a:spcPts val="300"/>
              </a:spcBef>
            </a:pPr>
            <a:r>
              <a:rPr sz="1200">
                <a:solidFill>
                  <a:srgbClr val="CCCCCC"/>
                </a:solidFill>
                <a:latin typeface="Calibri"/>
              </a:rPr>
              <a:t>1. Select together — identify companies where friction and readiness align</a:t>
            </a:r>
          </a:p>
          <a:p>
            <a:pPr>
              <a:spcBef>
                <a:spcPts val="300"/>
              </a:spcBef>
            </a:pPr>
            <a:r>
              <a:rPr sz="1200">
                <a:solidFill>
                  <a:srgbClr val="CCCCCC"/>
                </a:solidFill>
                <a:latin typeface="Calibri"/>
              </a:rPr>
              <a:t>2. We execute — same playbook, adapted to the workflow</a:t>
            </a:r>
          </a:p>
          <a:p>
            <a:pPr>
              <a:spcBef>
                <a:spcPts val="300"/>
              </a:spcBef>
            </a:pPr>
            <a:r>
              <a:rPr sz="1200">
                <a:solidFill>
                  <a:srgbClr val="CCCCCC"/>
                </a:solidFill>
                <a:latin typeface="Calibri"/>
              </a:rPr>
              <a:t>3. Results feed back — patterns, benchmarks, proven use cases</a:t>
            </a:r>
          </a:p>
          <a:p>
            <a:pPr>
              <a:spcBef>
                <a:spcPts val="300"/>
              </a:spcBef>
            </a:pPr>
            <a:r>
              <a:rPr sz="1200">
                <a:solidFill>
                  <a:srgbClr val="CCCCCC"/>
                </a:solidFill>
                <a:latin typeface="Calibri"/>
              </a:rPr>
              <a:t>4. Deploy to the next — each engagement accelerates the one after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The Economics</a:t>
            </a:r>
          </a:p>
        </p:txBody>
      </p:sp>
      <p:sp>
        <p:nvSpPr>
          <p:cNvPr id="5" name="TextBox 4"/>
          <p:cNvSpPr txBox="1"/>
          <p:nvPr/>
        </p:nvSpPr>
        <p:spPr>
          <a:xfrm>
            <a:off x="731520" y="1005840"/>
            <a:ext cx="10698480" cy="365760"/>
          </a:xfrm>
          <a:prstGeom prst="rect">
            <a:avLst/>
          </a:prstGeom>
          <a:noFill/>
        </p:spPr>
        <p:txBody>
          <a:bodyPr wrap="none">
            <a:spAutoFit/>
          </a:bodyPr>
          <a:lstStyle/>
          <a:p>
            <a:r>
              <a:rPr sz="1600">
                <a:solidFill>
                  <a:srgbClr val="2D2D2D"/>
                </a:solidFill>
                <a:latin typeface="Calibri"/>
              </a:rPr>
              <a:t>Phase model designed for PE risk appetite.</a:t>
            </a:r>
          </a:p>
        </p:txBody>
      </p:sp>
      <p:graphicFrame>
        <p:nvGraphicFramePr>
          <p:cNvPr id="6" name="Table 5"/>
          <p:cNvGraphicFramePr>
            <a:graphicFrameLocks noGrp="1"/>
          </p:cNvGraphicFramePr>
          <p:nvPr/>
        </p:nvGraphicFramePr>
        <p:xfrm>
          <a:off x="731520" y="1463040"/>
          <a:ext cx="6400800" cy="1280160"/>
        </p:xfrm>
        <a:graphic>
          <a:graphicData uri="http://schemas.openxmlformats.org/drawingml/2006/table">
            <a:tbl>
              <a:tblPr firstRow="1" bandRow="1">
                <a:tableStyleId>{5C22544A-7EE6-4342-B048-85BDC9FD1C3A}</a:tableStyleId>
              </a:tblPr>
              <a:tblGrid>
                <a:gridCol w="1097280"/>
                <a:gridCol w="2560320"/>
                <a:gridCol w="1371600"/>
                <a:gridCol w="1371600"/>
              </a:tblGrid>
              <a:tr h="320040">
                <a:tc>
                  <a:txBody>
                    <a:bodyPr wrap="square"/>
                    <a:lstStyle/>
                    <a:p>
                      <a:pPr algn="l"/>
                      <a:r>
                        <a:rPr sz="1200" b="1">
                          <a:solidFill>
                            <a:srgbClr val="FFFFFF"/>
                          </a:solidFill>
                          <a:latin typeface="Calibri"/>
                        </a:rPr>
                        <a:t>Phase</a:t>
                      </a:r>
                    </a:p>
                  </a:txBody>
                  <a:tcPr anchor="ctr">
                    <a:solidFill>
                      <a:srgbClr val="1A1A2E"/>
                    </a:solidFill>
                  </a:tcPr>
                </a:tc>
                <a:tc>
                  <a:txBody>
                    <a:bodyPr wrap="square"/>
                    <a:lstStyle/>
                    <a:p>
                      <a:pPr algn="l"/>
                      <a:r>
                        <a:rPr sz="1200" b="1">
                          <a:solidFill>
                            <a:srgbClr val="FFFFFF"/>
                          </a:solidFill>
                          <a:latin typeface="Calibri"/>
                        </a:rPr>
                        <a:t>What Happens</a:t>
                      </a:r>
                    </a:p>
                  </a:txBody>
                  <a:tcPr anchor="ctr">
                    <a:solidFill>
                      <a:srgbClr val="1A1A2E"/>
                    </a:solidFill>
                  </a:tcPr>
                </a:tc>
                <a:tc>
                  <a:txBody>
                    <a:bodyPr wrap="square"/>
                    <a:lstStyle/>
                    <a:p>
                      <a:pPr algn="l"/>
                      <a:r>
                        <a:rPr sz="1200" b="1">
                          <a:solidFill>
                            <a:srgbClr val="FFFFFF"/>
                          </a:solidFill>
                          <a:latin typeface="Calibri"/>
                        </a:rPr>
                        <a:t>Investment</a:t>
                      </a:r>
                    </a:p>
                  </a:txBody>
                  <a:tcPr anchor="ctr">
                    <a:solidFill>
                      <a:srgbClr val="1A1A2E"/>
                    </a:solidFill>
                  </a:tcPr>
                </a:tc>
                <a:tc>
                  <a:txBody>
                    <a:bodyPr wrap="square"/>
                    <a:lstStyle/>
                    <a:p>
                      <a:pPr algn="l"/>
                      <a:r>
                        <a:rPr sz="1200" b="1">
                          <a:solidFill>
                            <a:srgbClr val="FFFFFF"/>
                          </a:solidFill>
                          <a:latin typeface="Calibri"/>
                        </a:rPr>
                        <a:t>Timeline</a:t>
                      </a:r>
                    </a:p>
                  </a:txBody>
                  <a:tcPr anchor="ctr">
                    <a:solidFill>
                      <a:srgbClr val="1A1A2E"/>
                    </a:solidFill>
                  </a:tcPr>
                </a:tc>
              </a:tr>
              <a:tr h="320040">
                <a:tc>
                  <a:txBody>
                    <a:bodyPr wrap="square"/>
                    <a:lstStyle/>
                    <a:p>
                      <a:pPr algn="l"/>
                      <a:r>
                        <a:rPr sz="1200" b="1">
                          <a:solidFill>
                            <a:srgbClr val="2D2D2D"/>
                          </a:solidFill>
                          <a:latin typeface="Calibri"/>
                        </a:rPr>
                        <a:t>Prove</a:t>
                      </a:r>
                    </a:p>
                  </a:txBody>
                  <a:tcPr anchor="ctr">
                    <a:solidFill>
                      <a:srgbClr val="FFFFFF"/>
                    </a:solidFill>
                  </a:tcPr>
                </a:tc>
                <a:tc>
                  <a:txBody>
                    <a:bodyPr wrap="square"/>
                    <a:lstStyle/>
                    <a:p>
                      <a:pPr algn="l"/>
                      <a:r>
                        <a:rPr sz="1200" b="0">
                          <a:solidFill>
                            <a:srgbClr val="2D2D2D"/>
                          </a:solidFill>
                          <a:latin typeface="Calibri"/>
                        </a:rPr>
                        <a:t>1 company, 1 workflow</a:t>
                      </a:r>
                    </a:p>
                  </a:txBody>
                  <a:tcPr anchor="ctr">
                    <a:solidFill>
                      <a:srgbClr val="FFFFFF"/>
                    </a:solidFill>
                  </a:tcPr>
                </a:tc>
                <a:tc>
                  <a:txBody>
                    <a:bodyPr wrap="square"/>
                    <a:lstStyle/>
                    <a:p>
                      <a:pPr algn="l"/>
                      <a:r>
                        <a:rPr sz="1200" b="0">
                          <a:solidFill>
                            <a:srgbClr val="2D2D2D"/>
                          </a:solidFill>
                          <a:latin typeface="Calibri"/>
                        </a:rPr>
                        <a:t>$50-150K</a:t>
                      </a:r>
                    </a:p>
                  </a:txBody>
                  <a:tcPr anchor="ctr">
                    <a:solidFill>
                      <a:srgbClr val="FFFFFF"/>
                    </a:solidFill>
                  </a:tcPr>
                </a:tc>
                <a:tc>
                  <a:txBody>
                    <a:bodyPr wrap="square"/>
                    <a:lstStyle/>
                    <a:p>
                      <a:pPr algn="l"/>
                      <a:r>
                        <a:rPr sz="1200" b="0">
                          <a:solidFill>
                            <a:srgbClr val="2D2D2D"/>
                          </a:solidFill>
                          <a:latin typeface="Calibri"/>
                        </a:rPr>
                        <a:t>3-6 weeks</a:t>
                      </a:r>
                    </a:p>
                  </a:txBody>
                  <a:tcPr anchor="ctr">
                    <a:solidFill>
                      <a:srgbClr val="FFFFFF"/>
                    </a:solidFill>
                  </a:tcPr>
                </a:tc>
              </a:tr>
              <a:tr h="320040">
                <a:tc>
                  <a:txBody>
                    <a:bodyPr wrap="square"/>
                    <a:lstStyle/>
                    <a:p>
                      <a:pPr algn="l"/>
                      <a:r>
                        <a:rPr sz="1200" b="1">
                          <a:solidFill>
                            <a:srgbClr val="2D2D2D"/>
                          </a:solidFill>
                          <a:latin typeface="Calibri"/>
                        </a:rPr>
                        <a:t>Validate</a:t>
                      </a:r>
                    </a:p>
                  </a:txBody>
                  <a:tcPr anchor="ctr">
                    <a:solidFill>
                      <a:srgbClr val="F0F4F8"/>
                    </a:solidFill>
                  </a:tcPr>
                </a:tc>
                <a:tc>
                  <a:txBody>
                    <a:bodyPr wrap="square"/>
                    <a:lstStyle/>
                    <a:p>
                      <a:pPr algn="l"/>
                      <a:r>
                        <a:rPr sz="1200" b="0">
                          <a:solidFill>
                            <a:srgbClr val="2D2D2D"/>
                          </a:solidFill>
                          <a:latin typeface="Calibri"/>
                        </a:rPr>
                        <a:t>2-3 companies, cross-sector</a:t>
                      </a:r>
                    </a:p>
                  </a:txBody>
                  <a:tcPr anchor="ctr">
                    <a:solidFill>
                      <a:srgbClr val="F0F4F8"/>
                    </a:solidFill>
                  </a:tcPr>
                </a:tc>
                <a:tc>
                  <a:txBody>
                    <a:bodyPr wrap="square"/>
                    <a:lstStyle/>
                    <a:p>
                      <a:pPr algn="l"/>
                      <a:r>
                        <a:rPr sz="1200" b="0">
                          <a:solidFill>
                            <a:srgbClr val="2D2D2D"/>
                          </a:solidFill>
                          <a:latin typeface="Calibri"/>
                        </a:rPr>
                        <a:t>$150-400K</a:t>
                      </a:r>
                    </a:p>
                  </a:txBody>
                  <a:tcPr anchor="ctr">
                    <a:solidFill>
                      <a:srgbClr val="F0F4F8"/>
                    </a:solidFill>
                  </a:tcPr>
                </a:tc>
                <a:tc>
                  <a:txBody>
                    <a:bodyPr wrap="square"/>
                    <a:lstStyle/>
                    <a:p>
                      <a:pPr algn="l"/>
                      <a:r>
                        <a:rPr sz="1200" b="0">
                          <a:solidFill>
                            <a:srgbClr val="2D2D2D"/>
                          </a:solidFill>
                          <a:latin typeface="Calibri"/>
                        </a:rPr>
                        <a:t>6-12 weeks</a:t>
                      </a:r>
                    </a:p>
                  </a:txBody>
                  <a:tcPr anchor="ctr">
                    <a:solidFill>
                      <a:srgbClr val="F0F4F8"/>
                    </a:solidFill>
                  </a:tcPr>
                </a:tc>
              </a:tr>
              <a:tr h="320040">
                <a:tc>
                  <a:txBody>
                    <a:bodyPr wrap="square"/>
                    <a:lstStyle/>
                    <a:p>
                      <a:pPr algn="l"/>
                      <a:r>
                        <a:rPr sz="1200" b="1">
                          <a:solidFill>
                            <a:srgbClr val="2D2D2D"/>
                          </a:solidFill>
                          <a:latin typeface="Calibri"/>
                        </a:rPr>
                        <a:t>Scale</a:t>
                      </a:r>
                    </a:p>
                  </a:txBody>
                  <a:tcPr anchor="ctr">
                    <a:solidFill>
                      <a:srgbClr val="FFFFFF"/>
                    </a:solidFill>
                  </a:tcPr>
                </a:tc>
                <a:tc>
                  <a:txBody>
                    <a:bodyPr wrap="square"/>
                    <a:lstStyle/>
                    <a:p>
                      <a:pPr algn="l"/>
                      <a:r>
                        <a:rPr sz="1200" b="0">
                          <a:solidFill>
                            <a:srgbClr val="2D2D2D"/>
                          </a:solidFill>
                          <a:latin typeface="Calibri"/>
                        </a:rPr>
                        <a:t>Cross-portfolio deployment</a:t>
                      </a:r>
                    </a:p>
                  </a:txBody>
                  <a:tcPr anchor="ctr">
                    <a:solidFill>
                      <a:srgbClr val="FFFFFF"/>
                    </a:solidFill>
                  </a:tcPr>
                </a:tc>
                <a:tc>
                  <a:txBody>
                    <a:bodyPr wrap="square"/>
                    <a:lstStyle/>
                    <a:p>
                      <a:pPr algn="l"/>
                      <a:r>
                        <a:rPr sz="1200" b="0">
                          <a:solidFill>
                            <a:srgbClr val="2D2D2D"/>
                          </a:solidFill>
                          <a:latin typeface="Calibri"/>
                        </a:rPr>
                        <a:t>Framework pricing</a:t>
                      </a:r>
                    </a:p>
                  </a:txBody>
                  <a:tcPr anchor="ctr">
                    <a:solidFill>
                      <a:srgbClr val="FFFFFF"/>
                    </a:solidFill>
                  </a:tcPr>
                </a:tc>
                <a:tc>
                  <a:txBody>
                    <a:bodyPr wrap="square"/>
                    <a:lstStyle/>
                    <a:p>
                      <a:pPr algn="l"/>
                      <a:r>
                        <a:rPr sz="1200" b="0">
                          <a:solidFill>
                            <a:srgbClr val="2D2D2D"/>
                          </a:solidFill>
                          <a:latin typeface="Calibri"/>
                        </a:rPr>
                        <a:t>Ongoing</a:t>
                      </a:r>
                    </a:p>
                  </a:txBody>
                  <a:tcPr anchor="ctr">
                    <a:solidFill>
                      <a:srgbClr val="FFFFFF"/>
                    </a:solidFill>
                  </a:tcPr>
                </a:tc>
              </a:tr>
            </a:tbl>
          </a:graphicData>
        </a:graphic>
      </p:graphicFrame>
      <p:sp>
        <p:nvSpPr>
          <p:cNvPr id="7" name="TextBox 6"/>
          <p:cNvSpPr txBox="1"/>
          <p:nvPr/>
        </p:nvSpPr>
        <p:spPr>
          <a:xfrm>
            <a:off x="731520" y="2926080"/>
            <a:ext cx="10698480" cy="365760"/>
          </a:xfrm>
          <a:prstGeom prst="rect">
            <a:avLst/>
          </a:prstGeom>
          <a:noFill/>
        </p:spPr>
        <p:txBody>
          <a:bodyPr wrap="none">
            <a:spAutoFit/>
          </a:bodyPr>
          <a:lstStyle/>
          <a:p>
            <a:r>
              <a:rPr sz="1600" b="1">
                <a:solidFill>
                  <a:srgbClr val="007ACC"/>
                </a:solidFill>
                <a:latin typeface="Calibri"/>
              </a:rPr>
              <a:t>We measure in operating metrics, not aspirational percentages.</a:t>
            </a:r>
          </a:p>
        </p:txBody>
      </p:sp>
      <p:graphicFrame>
        <p:nvGraphicFramePr>
          <p:cNvPr id="8" name="Table 7"/>
          <p:cNvGraphicFramePr>
            <a:graphicFrameLocks noGrp="1"/>
          </p:cNvGraphicFramePr>
          <p:nvPr/>
        </p:nvGraphicFramePr>
        <p:xfrm>
          <a:off x="731520" y="3383280"/>
          <a:ext cx="10058400" cy="1828800"/>
        </p:xfrm>
        <a:graphic>
          <a:graphicData uri="http://schemas.openxmlformats.org/drawingml/2006/table">
            <a:tbl>
              <a:tblPr firstRow="1" bandRow="1">
                <a:tableStyleId>{5C22544A-7EE6-4342-B048-85BDC9FD1C3A}</a:tableStyleId>
              </a:tblPr>
              <a:tblGrid>
                <a:gridCol w="3200400"/>
                <a:gridCol w="3429000"/>
                <a:gridCol w="3429000"/>
              </a:tblGrid>
              <a:tr h="365760">
                <a:tc>
                  <a:txBody>
                    <a:bodyPr wrap="square"/>
                    <a:lstStyle/>
                    <a:p>
                      <a:pPr algn="l"/>
                      <a:r>
                        <a:rPr sz="1200" b="1">
                          <a:solidFill>
                            <a:srgbClr val="FFFFFF"/>
                          </a:solidFill>
                          <a:latin typeface="Calibri"/>
                        </a:rPr>
                        <a:t>What We Target</a:t>
                      </a:r>
                    </a:p>
                  </a:txBody>
                  <a:tcPr anchor="ctr">
                    <a:solidFill>
                      <a:srgbClr val="1A1A2E"/>
                    </a:solidFill>
                  </a:tcPr>
                </a:tc>
                <a:tc>
                  <a:txBody>
                    <a:bodyPr wrap="square"/>
                    <a:lstStyle/>
                    <a:p>
                      <a:pPr algn="l"/>
                      <a:r>
                        <a:rPr sz="1200" b="1">
                          <a:solidFill>
                            <a:srgbClr val="FFFFFF"/>
                          </a:solidFill>
                          <a:latin typeface="Calibri"/>
                        </a:rPr>
                        <a:t>Typical Before State</a:t>
                      </a:r>
                    </a:p>
                  </a:txBody>
                  <a:tcPr anchor="ctr">
                    <a:solidFill>
                      <a:srgbClr val="1A1A2E"/>
                    </a:solidFill>
                  </a:tcPr>
                </a:tc>
                <a:tc>
                  <a:txBody>
                    <a:bodyPr wrap="square"/>
                    <a:lstStyle/>
                    <a:p>
                      <a:pPr algn="l"/>
                      <a:r>
                        <a:rPr sz="1200" b="1">
                          <a:solidFill>
                            <a:srgbClr val="FFFFFF"/>
                          </a:solidFill>
                          <a:latin typeface="Calibri"/>
                        </a:rPr>
                        <a:t>Typical After State</a:t>
                      </a:r>
                    </a:p>
                  </a:txBody>
                  <a:tcPr anchor="ctr">
                    <a:solidFill>
                      <a:srgbClr val="1A1A2E"/>
                    </a:solidFill>
                  </a:tcPr>
                </a:tc>
              </a:tr>
              <a:tr h="365760">
                <a:tc>
                  <a:txBody>
                    <a:bodyPr wrap="square"/>
                    <a:lstStyle/>
                    <a:p>
                      <a:pPr algn="l"/>
                      <a:r>
                        <a:rPr sz="1200" b="1">
                          <a:solidFill>
                            <a:srgbClr val="2D2D2D"/>
                          </a:solidFill>
                          <a:latin typeface="Calibri"/>
                        </a:rPr>
                        <a:t>Manual recurring processes</a:t>
                      </a:r>
                    </a:p>
                  </a:txBody>
                  <a:tcPr anchor="ctr">
                    <a:solidFill>
                      <a:srgbClr val="FFFFFF"/>
                    </a:solidFill>
                  </a:tcPr>
                </a:tc>
                <a:tc>
                  <a:txBody>
                    <a:bodyPr wrap="square"/>
                    <a:lstStyle/>
                    <a:p>
                      <a:pPr algn="l"/>
                      <a:r>
                        <a:rPr sz="1200" b="0">
                          <a:solidFill>
                            <a:srgbClr val="2D2D2D"/>
                          </a:solidFill>
                          <a:latin typeface="Calibri"/>
                        </a:rPr>
                        <a:t>1-2 days of team time per cycle</a:t>
                      </a:r>
                    </a:p>
                  </a:txBody>
                  <a:tcPr anchor="ctr">
                    <a:solidFill>
                      <a:srgbClr val="FFFFFF"/>
                    </a:solidFill>
                  </a:tcPr>
                </a:tc>
                <a:tc>
                  <a:txBody>
                    <a:bodyPr wrap="square"/>
                    <a:lstStyle/>
                    <a:p>
                      <a:pPr algn="l"/>
                      <a:r>
                        <a:rPr sz="1200" b="0">
                          <a:solidFill>
                            <a:srgbClr val="2D2D2D"/>
                          </a:solidFill>
                          <a:latin typeface="Calibri"/>
                        </a:rPr>
                        <a:t>Under 1 hour per cycle</a:t>
                      </a:r>
                    </a:p>
                  </a:txBody>
                  <a:tcPr anchor="ctr">
                    <a:solidFill>
                      <a:srgbClr val="FFFFFF"/>
                    </a:solidFill>
                  </a:tcPr>
                </a:tc>
              </a:tr>
              <a:tr h="365760">
                <a:tc>
                  <a:txBody>
                    <a:bodyPr wrap="square"/>
                    <a:lstStyle/>
                    <a:p>
                      <a:pPr algn="l"/>
                      <a:r>
                        <a:rPr sz="1200" b="1">
                          <a:solidFill>
                            <a:srgbClr val="2D2D2D"/>
                          </a:solidFill>
                          <a:latin typeface="Calibri"/>
                        </a:rPr>
                        <a:t>Document processing throughput</a:t>
                      </a:r>
                    </a:p>
                  </a:txBody>
                  <a:tcPr anchor="ctr">
                    <a:solidFill>
                      <a:srgbClr val="F0F4F8"/>
                    </a:solidFill>
                  </a:tcPr>
                </a:tc>
                <a:tc>
                  <a:txBody>
                    <a:bodyPr wrap="square"/>
                    <a:lstStyle/>
                    <a:p>
                      <a:pPr algn="l"/>
                      <a:r>
                        <a:rPr sz="1200" b="0">
                          <a:solidFill>
                            <a:srgbClr val="2D2D2D"/>
                          </a:solidFill>
                          <a:latin typeface="Calibri"/>
                        </a:rPr>
                        <a:t>Hours per document, high error rate</a:t>
                      </a:r>
                    </a:p>
                  </a:txBody>
                  <a:tcPr anchor="ctr">
                    <a:solidFill>
                      <a:srgbClr val="F0F4F8"/>
                    </a:solidFill>
                  </a:tcPr>
                </a:tc>
                <a:tc>
                  <a:txBody>
                    <a:bodyPr wrap="square"/>
                    <a:lstStyle/>
                    <a:p>
                      <a:pPr algn="l"/>
                      <a:r>
                        <a:rPr sz="1200" b="0">
                          <a:solidFill>
                            <a:srgbClr val="2D2D2D"/>
                          </a:solidFill>
                          <a:latin typeface="Calibri"/>
                        </a:rPr>
                        <a:t>Minutes per document, consistent output</a:t>
                      </a:r>
                    </a:p>
                  </a:txBody>
                  <a:tcPr anchor="ctr">
                    <a:solidFill>
                      <a:srgbClr val="F0F4F8"/>
                    </a:solidFill>
                  </a:tcPr>
                </a:tc>
              </a:tr>
              <a:tr h="365760">
                <a:tc>
                  <a:txBody>
                    <a:bodyPr wrap="square"/>
                    <a:lstStyle/>
                    <a:p>
                      <a:pPr algn="l"/>
                      <a:r>
                        <a:rPr sz="1200" b="1">
                          <a:solidFill>
                            <a:srgbClr val="2D2D2D"/>
                          </a:solidFill>
                          <a:latin typeface="Calibri"/>
                        </a:rPr>
                        <a:t>Feature delivery on legacy systems</a:t>
                      </a:r>
                    </a:p>
                  </a:txBody>
                  <a:tcPr anchor="ctr">
                    <a:solidFill>
                      <a:srgbClr val="FFFFFF"/>
                    </a:solidFill>
                  </a:tcPr>
                </a:tc>
                <a:tc>
                  <a:txBody>
                    <a:bodyPr wrap="square"/>
                    <a:lstStyle/>
                    <a:p>
                      <a:pPr algn="l"/>
                      <a:r>
                        <a:rPr sz="1200" b="0">
                          <a:solidFill>
                            <a:srgbClr val="2D2D2D"/>
                          </a:solidFill>
                          <a:latin typeface="Calibri"/>
                        </a:rPr>
                        <a:t>Months-long backlogs, talent scarcity</a:t>
                      </a:r>
                    </a:p>
                  </a:txBody>
                  <a:tcPr anchor="ctr">
                    <a:solidFill>
                      <a:srgbClr val="FFFFFF"/>
                    </a:solidFill>
                  </a:tcPr>
                </a:tc>
                <a:tc>
                  <a:txBody>
                    <a:bodyPr wrap="square"/>
                    <a:lstStyle/>
                    <a:p>
                      <a:pPr algn="l"/>
                      <a:r>
                        <a:rPr sz="1200" b="0">
                          <a:solidFill>
                            <a:srgbClr val="2D2D2D"/>
                          </a:solidFill>
                          <a:latin typeface="Calibri"/>
                        </a:rPr>
                        <a:t>Weeks to production, existing codebase</a:t>
                      </a:r>
                    </a:p>
                  </a:txBody>
                  <a:tcPr anchor="ctr">
                    <a:solidFill>
                      <a:srgbClr val="FFFFFF"/>
                    </a:solidFill>
                  </a:tcPr>
                </a:tc>
              </a:tr>
              <a:tr h="365760">
                <a:tc>
                  <a:txBody>
                    <a:bodyPr wrap="square"/>
                    <a:lstStyle/>
                    <a:p>
                      <a:pPr algn="l"/>
                      <a:r>
                        <a:rPr sz="1200" b="1">
                          <a:solidFill>
                            <a:srgbClr val="2D2D2D"/>
                          </a:solidFill>
                          <a:latin typeface="Calibri"/>
                        </a:rPr>
                        <a:t>Revenue-critical deadlines</a:t>
                      </a:r>
                    </a:p>
                  </a:txBody>
                  <a:tcPr anchor="ctr">
                    <a:solidFill>
                      <a:srgbClr val="F0F4F8"/>
                    </a:solidFill>
                  </a:tcPr>
                </a:tc>
                <a:tc>
                  <a:txBody>
                    <a:bodyPr wrap="square"/>
                    <a:lstStyle/>
                    <a:p>
                      <a:pPr algn="l"/>
                      <a:r>
                        <a:rPr sz="1200" b="0">
                          <a:solidFill>
                            <a:srgbClr val="2D2D2D"/>
                          </a:solidFill>
                          <a:latin typeface="Calibri"/>
                        </a:rPr>
                        <a:t>Missed timelines, customer churn risk</a:t>
                      </a:r>
                    </a:p>
                  </a:txBody>
                  <a:tcPr anchor="ctr">
                    <a:solidFill>
                      <a:srgbClr val="F0F4F8"/>
                    </a:solidFill>
                  </a:tcPr>
                </a:tc>
                <a:tc>
                  <a:txBody>
                    <a:bodyPr wrap="square"/>
                    <a:lstStyle/>
                    <a:p>
                      <a:pPr algn="l"/>
                      <a:r>
                        <a:rPr sz="1200" b="0">
                          <a:solidFill>
                            <a:srgbClr val="2D2D2D"/>
                          </a:solidFill>
                          <a:latin typeface="Calibri"/>
                        </a:rPr>
                        <a:t>Deadlines met, accounts retained</a:t>
                      </a:r>
                    </a:p>
                  </a:txBody>
                  <a:tcPr anchor="ctr">
                    <a:solidFill>
                      <a:srgbClr val="F0F4F8"/>
                    </a:solidFill>
                  </a:tcPr>
                </a:tc>
              </a:tr>
            </a:tbl>
          </a:graphicData>
        </a:graphic>
      </p:graphicFrame>
      <p:sp>
        <p:nvSpPr>
          <p:cNvPr id="9" name="TextBox 8"/>
          <p:cNvSpPr txBox="1"/>
          <p:nvPr/>
        </p:nvSpPr>
        <p:spPr>
          <a:xfrm>
            <a:off x="731520" y="5486400"/>
            <a:ext cx="10698480" cy="731520"/>
          </a:xfrm>
          <a:prstGeom prst="rect">
            <a:avLst/>
          </a:prstGeom>
          <a:noFill/>
        </p:spPr>
        <p:txBody>
          <a:bodyPr wrap="square">
            <a:spAutoFit/>
          </a:bodyPr>
          <a:lstStyle/>
          <a:p>
            <a:r>
              <a:rPr sz="1500" b="1">
                <a:solidFill>
                  <a:srgbClr val="1A1A2E"/>
                </a:solidFill>
                <a:latin typeface="Calibri"/>
              </a:rPr>
              <a:t>One workflow pays for itself. What follows is expansion — not a second pitch.</a:t>
            </a:r>
          </a:p>
          <a:p>
            <a:r>
              <a:rPr sz="1300">
                <a:solidFill>
                  <a:srgbClr val="999999"/>
                </a:solidFill>
                <a:latin typeface="Calibri"/>
              </a:rPr>
              <a:t>Typical pattern: initial engagement surfaces 4-5 additional workflows.  Payback on first engagement: 2-4 months.</a:t>
            </a:r>
          </a:p>
        </p:txBody>
      </p:sp>
      <p:sp>
        <p:nvSpPr>
          <p:cNvPr id="10" name="TextBox 9"/>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Based on delivery patterns across engagements. Actual impact depends on workflow complexity, team size, and data readiness.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Why realfast</a:t>
            </a:r>
          </a:p>
        </p:txBody>
      </p:sp>
      <p:sp>
        <p:nvSpPr>
          <p:cNvPr id="5" name="TextBox 4"/>
          <p:cNvSpPr txBox="1"/>
          <p:nvPr/>
        </p:nvSpPr>
        <p:spPr>
          <a:xfrm>
            <a:off x="731520" y="1005840"/>
            <a:ext cx="10698480" cy="365760"/>
          </a:xfrm>
          <a:prstGeom prst="rect">
            <a:avLst/>
          </a:prstGeom>
          <a:noFill/>
        </p:spPr>
        <p:txBody>
          <a:bodyPr wrap="none">
            <a:spAutoFit/>
          </a:bodyPr>
          <a:lstStyle/>
          <a:p>
            <a:r>
              <a:rPr sz="1800">
                <a:solidFill>
                  <a:srgbClr val="2D2D2D"/>
                </a:solidFill>
                <a:latin typeface="Calibri"/>
              </a:rPr>
              <a:t>Don't take our word for it. Test us.</a:t>
            </a:r>
          </a:p>
        </p:txBody>
      </p:sp>
      <p:graphicFrame>
        <p:nvGraphicFramePr>
          <p:cNvPr id="6" name="Table 5"/>
          <p:cNvGraphicFramePr>
            <a:graphicFrameLocks noGrp="1"/>
          </p:cNvGraphicFramePr>
          <p:nvPr/>
        </p:nvGraphicFramePr>
        <p:xfrm>
          <a:off x="731520" y="1554480"/>
          <a:ext cx="10515600" cy="3200400"/>
        </p:xfrm>
        <a:graphic>
          <a:graphicData uri="http://schemas.openxmlformats.org/drawingml/2006/table">
            <a:tbl>
              <a:tblPr firstRow="1" bandRow="1">
                <a:tableStyleId>{5C22544A-7EE6-4342-B048-85BDC9FD1C3A}</a:tableStyleId>
              </a:tblPr>
              <a:tblGrid>
                <a:gridCol w="1371600"/>
                <a:gridCol w="2286000"/>
                <a:gridCol w="2286000"/>
                <a:gridCol w="2286000"/>
                <a:gridCol w="2286000"/>
              </a:tblGrid>
              <a:tr h="457200">
                <a:tc>
                  <a:txBody>
                    <a:bodyPr wrap="square"/>
                    <a:lstStyle/>
                    <a:p>
                      <a:pPr algn="l"/>
                      <a:r>
                        <a:rPr sz="1200" b="1">
                          <a:solidFill>
                            <a:srgbClr val="FFFFFF"/>
                          </a:solidFill>
                          <a:latin typeface="Calibri"/>
                        </a:rPr>
                        <a:t/>
                      </a:r>
                    </a:p>
                  </a:txBody>
                  <a:tcPr anchor="ctr">
                    <a:solidFill>
                      <a:srgbClr val="1A1A2E"/>
                    </a:solidFill>
                  </a:tcPr>
                </a:tc>
                <a:tc>
                  <a:txBody>
                    <a:bodyPr wrap="square"/>
                    <a:lstStyle/>
                    <a:p>
                      <a:pPr algn="l"/>
                      <a:r>
                        <a:rPr sz="1200" b="1">
                          <a:solidFill>
                            <a:srgbClr val="FFFFFF"/>
                          </a:solidFill>
                          <a:latin typeface="Calibri"/>
                        </a:rPr>
                        <a:t>realfast</a:t>
                      </a:r>
                    </a:p>
                  </a:txBody>
                  <a:tcPr anchor="ctr">
                    <a:solidFill>
                      <a:srgbClr val="1A1A2E"/>
                    </a:solidFill>
                  </a:tcPr>
                </a:tc>
                <a:tc>
                  <a:txBody>
                    <a:bodyPr wrap="square"/>
                    <a:lstStyle/>
                    <a:p>
                      <a:pPr algn="l"/>
                      <a:r>
                        <a:rPr sz="1200" b="1">
                          <a:solidFill>
                            <a:srgbClr val="FFFFFF"/>
                          </a:solidFill>
                          <a:latin typeface="Calibri"/>
                        </a:rPr>
                        <a:t>Perficient</a:t>
                      </a:r>
                    </a:p>
                  </a:txBody>
                  <a:tcPr anchor="ctr">
                    <a:solidFill>
                      <a:srgbClr val="1A1A2E"/>
                    </a:solidFill>
                  </a:tcPr>
                </a:tc>
                <a:tc>
                  <a:txBody>
                    <a:bodyPr wrap="square"/>
                    <a:lstStyle/>
                    <a:p>
                      <a:pPr algn="l"/>
                      <a:r>
                        <a:rPr sz="1200" b="1">
                          <a:solidFill>
                            <a:srgbClr val="FFFFFF"/>
                          </a:solidFill>
                          <a:latin typeface="Calibri"/>
                        </a:rPr>
                        <a:t>Big 4 / SI</a:t>
                      </a:r>
                    </a:p>
                  </a:txBody>
                  <a:tcPr anchor="ctr">
                    <a:solidFill>
                      <a:srgbClr val="1A1A2E"/>
                    </a:solidFill>
                  </a:tcPr>
                </a:tc>
                <a:tc>
                  <a:txBody>
                    <a:bodyPr wrap="square"/>
                    <a:lstStyle/>
                    <a:p>
                      <a:pPr algn="l"/>
                      <a:r>
                        <a:rPr sz="1200" b="1">
                          <a:solidFill>
                            <a:srgbClr val="FFFFFF"/>
                          </a:solidFill>
                          <a:latin typeface="Calibri"/>
                        </a:rPr>
                        <a:t>Boutique AI</a:t>
                      </a:r>
                    </a:p>
                  </a:txBody>
                  <a:tcPr anchor="ctr">
                    <a:solidFill>
                      <a:srgbClr val="1A1A2E"/>
                    </a:solidFill>
                  </a:tcPr>
                </a:tc>
              </a:tr>
              <a:tr h="457200">
                <a:tc>
                  <a:txBody>
                    <a:bodyPr wrap="square"/>
                    <a:lstStyle/>
                    <a:p>
                      <a:pPr algn="l"/>
                      <a:r>
                        <a:rPr sz="1200" b="1">
                          <a:solidFill>
                            <a:srgbClr val="2D2D2D"/>
                          </a:solidFill>
                          <a:latin typeface="Calibri"/>
                        </a:rPr>
                        <a:t>Built for</a:t>
                      </a:r>
                    </a:p>
                  </a:txBody>
                  <a:tcPr anchor="ctr">
                    <a:solidFill>
                      <a:srgbClr val="FFFFFF"/>
                    </a:solidFill>
                  </a:tcPr>
                </a:tc>
                <a:tc>
                  <a:txBody>
                    <a:bodyPr wrap="square"/>
                    <a:lstStyle/>
                    <a:p>
                      <a:pPr algn="l"/>
                      <a:r>
                        <a:rPr sz="1200" b="1">
                          <a:solidFill>
                            <a:srgbClr val="007ACC"/>
                          </a:solidFill>
                          <a:latin typeface="Calibri"/>
                        </a:rPr>
                        <a:t>Horizontal portfolio execution</a:t>
                      </a:r>
                    </a:p>
                  </a:txBody>
                  <a:tcPr anchor="ctr">
                    <a:solidFill>
                      <a:srgbClr val="E8F4FD"/>
                    </a:solidFill>
                  </a:tcPr>
                </a:tc>
                <a:tc>
                  <a:txBody>
                    <a:bodyPr wrap="square"/>
                    <a:lstStyle/>
                    <a:p>
                      <a:pPr algn="l"/>
                      <a:r>
                        <a:rPr sz="1200" b="0">
                          <a:solidFill>
                            <a:srgbClr val="2D2D2D"/>
                          </a:solidFill>
                          <a:latin typeface="Calibri"/>
                        </a:rPr>
                        <a:t>Broad digital transformation</a:t>
                      </a:r>
                    </a:p>
                  </a:txBody>
                  <a:tcPr anchor="ctr">
                    <a:solidFill>
                      <a:srgbClr val="FFFFFF"/>
                    </a:solidFill>
                  </a:tcPr>
                </a:tc>
                <a:tc>
                  <a:txBody>
                    <a:bodyPr wrap="square"/>
                    <a:lstStyle/>
                    <a:p>
                      <a:pPr algn="l"/>
                      <a:r>
                        <a:rPr sz="1200" b="0">
                          <a:solidFill>
                            <a:srgbClr val="2D2D2D"/>
                          </a:solidFill>
                          <a:latin typeface="Calibri"/>
                        </a:rPr>
                        <a:t>Enterprise advisory</a:t>
                      </a:r>
                    </a:p>
                  </a:txBody>
                  <a:tcPr anchor="ctr">
                    <a:solidFill>
                      <a:srgbClr val="FFFFFF"/>
                    </a:solidFill>
                  </a:tcPr>
                </a:tc>
                <a:tc>
                  <a:txBody>
                    <a:bodyPr wrap="square"/>
                    <a:lstStyle/>
                    <a:p>
                      <a:pPr algn="l"/>
                      <a:r>
                        <a:rPr sz="1200" b="0">
                          <a:solidFill>
                            <a:srgbClr val="2D2D2D"/>
                          </a:solidFill>
                          <a:latin typeface="Calibri"/>
                        </a:rPr>
                        <a:t>Deep tech R&amp;D</a:t>
                      </a:r>
                    </a:p>
                  </a:txBody>
                  <a:tcPr anchor="ctr">
                    <a:solidFill>
                      <a:srgbClr val="FFFFFF"/>
                    </a:solidFill>
                  </a:tcPr>
                </a:tc>
              </a:tr>
              <a:tr h="457200">
                <a:tc>
                  <a:txBody>
                    <a:bodyPr wrap="square"/>
                    <a:lstStyle/>
                    <a:p>
                      <a:pPr algn="l"/>
                      <a:r>
                        <a:rPr sz="1200" b="1">
                          <a:solidFill>
                            <a:srgbClr val="2D2D2D"/>
                          </a:solidFill>
                          <a:latin typeface="Calibri"/>
                        </a:rPr>
                        <a:t>Speed</a:t>
                      </a:r>
                    </a:p>
                  </a:txBody>
                  <a:tcPr anchor="ctr">
                    <a:solidFill>
                      <a:srgbClr val="F0F4F8"/>
                    </a:solidFill>
                  </a:tcPr>
                </a:tc>
                <a:tc>
                  <a:txBody>
                    <a:bodyPr wrap="square"/>
                    <a:lstStyle/>
                    <a:p>
                      <a:pPr algn="l"/>
                      <a:r>
                        <a:rPr sz="1200" b="1">
                          <a:solidFill>
                            <a:srgbClr val="007ACC"/>
                          </a:solidFill>
                          <a:latin typeface="Calibri"/>
                        </a:rPr>
                        <a:t>3-6 weeks</a:t>
                      </a:r>
                    </a:p>
                  </a:txBody>
                  <a:tcPr anchor="ctr">
                    <a:solidFill>
                      <a:srgbClr val="E8F4FD"/>
                    </a:solidFill>
                  </a:tcPr>
                </a:tc>
                <a:tc>
                  <a:txBody>
                    <a:bodyPr wrap="square"/>
                    <a:lstStyle/>
                    <a:p>
                      <a:pPr algn="l"/>
                      <a:r>
                        <a:rPr sz="1200" b="0">
                          <a:solidFill>
                            <a:srgbClr val="2D2D2D"/>
                          </a:solidFill>
                          <a:latin typeface="Calibri"/>
                        </a:rPr>
                        <a:t>3-6 months</a:t>
                      </a:r>
                    </a:p>
                  </a:txBody>
                  <a:tcPr anchor="ctr">
                    <a:solidFill>
                      <a:srgbClr val="F0F4F8"/>
                    </a:solidFill>
                  </a:tcPr>
                </a:tc>
                <a:tc>
                  <a:txBody>
                    <a:bodyPr wrap="square"/>
                    <a:lstStyle/>
                    <a:p>
                      <a:pPr algn="l"/>
                      <a:r>
                        <a:rPr sz="1200" b="0">
                          <a:solidFill>
                            <a:srgbClr val="2D2D2D"/>
                          </a:solidFill>
                          <a:latin typeface="Calibri"/>
                        </a:rPr>
                        <a:t>6-12 months</a:t>
                      </a:r>
                    </a:p>
                  </a:txBody>
                  <a:tcPr anchor="ctr">
                    <a:solidFill>
                      <a:srgbClr val="F0F4F8"/>
                    </a:solidFill>
                  </a:tcPr>
                </a:tc>
                <a:tc>
                  <a:txBody>
                    <a:bodyPr wrap="square"/>
                    <a:lstStyle/>
                    <a:p>
                      <a:pPr algn="l"/>
                      <a:r>
                        <a:rPr sz="1200" b="0">
                          <a:solidFill>
                            <a:srgbClr val="2D2D2D"/>
                          </a:solidFill>
                          <a:latin typeface="Calibri"/>
                        </a:rPr>
                        <a:t>Varies</a:t>
                      </a:r>
                    </a:p>
                  </a:txBody>
                  <a:tcPr anchor="ctr">
                    <a:solidFill>
                      <a:srgbClr val="F0F4F8"/>
                    </a:solidFill>
                  </a:tcPr>
                </a:tc>
              </a:tr>
              <a:tr h="457200">
                <a:tc>
                  <a:txBody>
                    <a:bodyPr wrap="square"/>
                    <a:lstStyle/>
                    <a:p>
                      <a:pPr algn="l"/>
                      <a:r>
                        <a:rPr sz="1200" b="1">
                          <a:solidFill>
                            <a:srgbClr val="2D2D2D"/>
                          </a:solidFill>
                          <a:latin typeface="Calibri"/>
                        </a:rPr>
                        <a:t>Portfolio fit</a:t>
                      </a:r>
                    </a:p>
                  </a:txBody>
                  <a:tcPr anchor="ctr">
                    <a:solidFill>
                      <a:srgbClr val="FFFFFF"/>
                    </a:solidFill>
                  </a:tcPr>
                </a:tc>
                <a:tc>
                  <a:txBody>
                    <a:bodyPr wrap="square"/>
                    <a:lstStyle/>
                    <a:p>
                      <a:pPr algn="l"/>
                      <a:r>
                        <a:rPr sz="1200" b="1">
                          <a:solidFill>
                            <a:srgbClr val="007ACC"/>
                          </a:solidFill>
                          <a:latin typeface="Calibri"/>
                        </a:rPr>
                        <a:t>Same playbook, any industry</a:t>
                      </a:r>
                    </a:p>
                  </a:txBody>
                  <a:tcPr anchor="ctr">
                    <a:solidFill>
                      <a:srgbClr val="E8F4FD"/>
                    </a:solidFill>
                  </a:tcPr>
                </a:tc>
                <a:tc>
                  <a:txBody>
                    <a:bodyPr wrap="square"/>
                    <a:lstStyle/>
                    <a:p>
                      <a:pPr algn="l"/>
                      <a:r>
                        <a:rPr sz="1200" b="0">
                          <a:solidFill>
                            <a:srgbClr val="2D2D2D"/>
                          </a:solidFill>
                          <a:latin typeface="Calibri"/>
                        </a:rPr>
                        <a:t>Engagement by engagement</a:t>
                      </a:r>
                    </a:p>
                  </a:txBody>
                  <a:tcPr anchor="ctr">
                    <a:solidFill>
                      <a:srgbClr val="FFFFFF"/>
                    </a:solidFill>
                  </a:tcPr>
                </a:tc>
                <a:tc>
                  <a:txBody>
                    <a:bodyPr wrap="square"/>
                    <a:lstStyle/>
                    <a:p>
                      <a:pPr algn="l"/>
                      <a:r>
                        <a:rPr sz="1200" b="0">
                          <a:solidFill>
                            <a:srgbClr val="2D2D2D"/>
                          </a:solidFill>
                          <a:latin typeface="Calibri"/>
                        </a:rPr>
                        <a:t>Engagement by engagement</a:t>
                      </a:r>
                    </a:p>
                  </a:txBody>
                  <a:tcPr anchor="ctr">
                    <a:solidFill>
                      <a:srgbClr val="FFFFFF"/>
                    </a:solidFill>
                  </a:tcPr>
                </a:tc>
                <a:tc>
                  <a:txBody>
                    <a:bodyPr wrap="square"/>
                    <a:lstStyle/>
                    <a:p>
                      <a:pPr algn="l"/>
                      <a:r>
                        <a:rPr sz="1200" b="0">
                          <a:solidFill>
                            <a:srgbClr val="2D2D2D"/>
                          </a:solidFill>
                          <a:latin typeface="Calibri"/>
                        </a:rPr>
                        <a:t>Narrow</a:t>
                      </a:r>
                    </a:p>
                  </a:txBody>
                  <a:tcPr anchor="ctr">
                    <a:solidFill>
                      <a:srgbClr val="FFFFFF"/>
                    </a:solidFill>
                  </a:tcPr>
                </a:tc>
              </a:tr>
              <a:tr h="457200">
                <a:tc>
                  <a:txBody>
                    <a:bodyPr wrap="square"/>
                    <a:lstStyle/>
                    <a:p>
                      <a:pPr algn="l"/>
                      <a:r>
                        <a:rPr sz="1200" b="1">
                          <a:solidFill>
                            <a:srgbClr val="2D2D2D"/>
                          </a:solidFill>
                          <a:latin typeface="Calibri"/>
                        </a:rPr>
                        <a:t>Learning</a:t>
                      </a:r>
                    </a:p>
                  </a:txBody>
                  <a:tcPr anchor="ctr">
                    <a:solidFill>
                      <a:srgbClr val="F0F4F8"/>
                    </a:solidFill>
                  </a:tcPr>
                </a:tc>
                <a:tc>
                  <a:txBody>
                    <a:bodyPr wrap="square"/>
                    <a:lstStyle/>
                    <a:p>
                      <a:pPr algn="l"/>
                      <a:r>
                        <a:rPr sz="1200" b="1">
                          <a:solidFill>
                            <a:srgbClr val="007ACC"/>
                          </a:solidFill>
                          <a:latin typeface="Calibri"/>
                        </a:rPr>
                        <a:t>Compounds cross-portfolio</a:t>
                      </a:r>
                    </a:p>
                  </a:txBody>
                  <a:tcPr anchor="ctr">
                    <a:solidFill>
                      <a:srgbClr val="E8F4FD"/>
                    </a:solidFill>
                  </a:tcPr>
                </a:tc>
                <a:tc>
                  <a:txBody>
                    <a:bodyPr wrap="square"/>
                    <a:lstStyle/>
                    <a:p>
                      <a:pPr algn="l"/>
                      <a:r>
                        <a:rPr sz="1200" b="0">
                          <a:solidFill>
                            <a:srgbClr val="2D2D2D"/>
                          </a:solidFill>
                          <a:latin typeface="Calibri"/>
                        </a:rPr>
                        <a:t>Standalone</a:t>
                      </a:r>
                    </a:p>
                  </a:txBody>
                  <a:tcPr anchor="ctr">
                    <a:solidFill>
                      <a:srgbClr val="F0F4F8"/>
                    </a:solidFill>
                  </a:tcPr>
                </a:tc>
                <a:tc>
                  <a:txBody>
                    <a:bodyPr wrap="square"/>
                    <a:lstStyle/>
                    <a:p>
                      <a:pPr algn="l"/>
                      <a:r>
                        <a:rPr sz="1200" b="0">
                          <a:solidFill>
                            <a:srgbClr val="2D2D2D"/>
                          </a:solidFill>
                          <a:latin typeface="Calibri"/>
                        </a:rPr>
                        <a:t>Standalone</a:t>
                      </a:r>
                    </a:p>
                  </a:txBody>
                  <a:tcPr anchor="ctr">
                    <a:solidFill>
                      <a:srgbClr val="F0F4F8"/>
                    </a:solidFill>
                  </a:tcPr>
                </a:tc>
                <a:tc>
                  <a:txBody>
                    <a:bodyPr wrap="square"/>
                    <a:lstStyle/>
                    <a:p>
                      <a:pPr algn="l"/>
                      <a:r>
                        <a:rPr sz="1200" b="0">
                          <a:solidFill>
                            <a:srgbClr val="2D2D2D"/>
                          </a:solidFill>
                          <a:latin typeface="Calibri"/>
                        </a:rPr>
                        <a:t>No portfolio view</a:t>
                      </a:r>
                    </a:p>
                  </a:txBody>
                  <a:tcPr anchor="ctr">
                    <a:solidFill>
                      <a:srgbClr val="F0F4F8"/>
                    </a:solidFill>
                  </a:tcPr>
                </a:tc>
              </a:tr>
              <a:tr h="457200">
                <a:tc>
                  <a:txBody>
                    <a:bodyPr wrap="square"/>
                    <a:lstStyle/>
                    <a:p>
                      <a:pPr algn="l"/>
                      <a:r>
                        <a:rPr sz="1200" b="1">
                          <a:solidFill>
                            <a:srgbClr val="2D2D2D"/>
                          </a:solidFill>
                          <a:latin typeface="Calibri"/>
                        </a:rPr>
                        <a:t>Teams</a:t>
                      </a:r>
                    </a:p>
                  </a:txBody>
                  <a:tcPr anchor="ctr">
                    <a:solidFill>
                      <a:srgbClr val="FFFFFF"/>
                    </a:solidFill>
                  </a:tcPr>
                </a:tc>
                <a:tc>
                  <a:txBody>
                    <a:bodyPr wrap="square"/>
                    <a:lstStyle/>
                    <a:p>
                      <a:pPr algn="l"/>
                      <a:r>
                        <a:rPr sz="1200" b="1">
                          <a:solidFill>
                            <a:srgbClr val="007ACC"/>
                          </a:solidFill>
                          <a:latin typeface="Calibri"/>
                        </a:rPr>
                        <a:t>Senior engineers, small</a:t>
                      </a:r>
                    </a:p>
                  </a:txBody>
                  <a:tcPr anchor="ctr">
                    <a:solidFill>
                      <a:srgbClr val="E8F4FD"/>
                    </a:solidFill>
                  </a:tcPr>
                </a:tc>
                <a:tc>
                  <a:txBody>
                    <a:bodyPr wrap="square"/>
                    <a:lstStyle/>
                    <a:p>
                      <a:pPr algn="l"/>
                      <a:r>
                        <a:rPr sz="1200" b="0">
                          <a:solidFill>
                            <a:srgbClr val="2D2D2D"/>
                          </a:solidFill>
                          <a:latin typeface="Calibri"/>
                        </a:rPr>
                        <a:t>Mixed seniority, large</a:t>
                      </a:r>
                    </a:p>
                  </a:txBody>
                  <a:tcPr anchor="ctr">
                    <a:solidFill>
                      <a:srgbClr val="FFFFFF"/>
                    </a:solidFill>
                  </a:tcPr>
                </a:tc>
                <a:tc>
                  <a:txBody>
                    <a:bodyPr wrap="square"/>
                    <a:lstStyle/>
                    <a:p>
                      <a:pPr algn="l"/>
                      <a:r>
                        <a:rPr sz="1200" b="0">
                          <a:solidFill>
                            <a:srgbClr val="2D2D2D"/>
                          </a:solidFill>
                          <a:latin typeface="Calibri"/>
                        </a:rPr>
                        <a:t>Junior-heavy, large</a:t>
                      </a:r>
                    </a:p>
                  </a:txBody>
                  <a:tcPr anchor="ctr">
                    <a:solidFill>
                      <a:srgbClr val="FFFFFF"/>
                    </a:solidFill>
                  </a:tcPr>
                </a:tc>
                <a:tc>
                  <a:txBody>
                    <a:bodyPr wrap="square"/>
                    <a:lstStyle/>
                    <a:p>
                      <a:pPr algn="l"/>
                      <a:r>
                        <a:rPr sz="1200" b="0">
                          <a:solidFill>
                            <a:srgbClr val="2D2D2D"/>
                          </a:solidFill>
                          <a:latin typeface="Calibri"/>
                        </a:rPr>
                        <a:t>Research</a:t>
                      </a:r>
                    </a:p>
                  </a:txBody>
                  <a:tcPr anchor="ctr">
                    <a:solidFill>
                      <a:srgbClr val="FFFFFF"/>
                    </a:solidFill>
                  </a:tcPr>
                </a:tc>
              </a:tr>
              <a:tr h="457200">
                <a:tc>
                  <a:txBody>
                    <a:bodyPr wrap="square"/>
                    <a:lstStyle/>
                    <a:p>
                      <a:pPr algn="l"/>
                      <a:r>
                        <a:rPr sz="1200" b="1">
                          <a:solidFill>
                            <a:srgbClr val="2D2D2D"/>
                          </a:solidFill>
                          <a:latin typeface="Calibri"/>
                        </a:rPr>
                        <a:t>Pricing</a:t>
                      </a:r>
                    </a:p>
                  </a:txBody>
                  <a:tcPr anchor="ctr">
                    <a:solidFill>
                      <a:srgbClr val="F0F4F8"/>
                    </a:solidFill>
                  </a:tcPr>
                </a:tc>
                <a:tc>
                  <a:txBody>
                    <a:bodyPr wrap="square"/>
                    <a:lstStyle/>
                    <a:p>
                      <a:pPr algn="l"/>
                      <a:r>
                        <a:rPr sz="1200" b="1">
                          <a:solidFill>
                            <a:srgbClr val="007ACC"/>
                          </a:solidFill>
                          <a:latin typeface="Calibri"/>
                        </a:rPr>
                        <a:t>Outcome-anchored</a:t>
                      </a:r>
                    </a:p>
                  </a:txBody>
                  <a:tcPr anchor="ctr">
                    <a:solidFill>
                      <a:srgbClr val="E8F4FD"/>
                    </a:solidFill>
                  </a:tcPr>
                </a:tc>
                <a:tc>
                  <a:txBody>
                    <a:bodyPr wrap="square"/>
                    <a:lstStyle/>
                    <a:p>
                      <a:pPr algn="l"/>
                      <a:r>
                        <a:rPr sz="1200" b="0">
                          <a:solidFill>
                            <a:srgbClr val="2D2D2D"/>
                          </a:solidFill>
                          <a:latin typeface="Calibri"/>
                        </a:rPr>
                        <a:t>T&amp;M, scope grows</a:t>
                      </a:r>
                    </a:p>
                  </a:txBody>
                  <a:tcPr anchor="ctr">
                    <a:solidFill>
                      <a:srgbClr val="F0F4F8"/>
                    </a:solidFill>
                  </a:tcPr>
                </a:tc>
                <a:tc>
                  <a:txBody>
                    <a:bodyPr wrap="square"/>
                    <a:lstStyle/>
                    <a:p>
                      <a:pPr algn="l"/>
                      <a:r>
                        <a:rPr sz="1200" b="0">
                          <a:solidFill>
                            <a:srgbClr val="2D2D2D"/>
                          </a:solidFill>
                          <a:latin typeface="Calibri"/>
                        </a:rPr>
                        <a:t>T&amp;M, scope grows</a:t>
                      </a:r>
                    </a:p>
                  </a:txBody>
                  <a:tcPr anchor="ctr">
                    <a:solidFill>
                      <a:srgbClr val="F0F4F8"/>
                    </a:solidFill>
                  </a:tcPr>
                </a:tc>
                <a:tc>
                  <a:txBody>
                    <a:bodyPr wrap="square"/>
                    <a:lstStyle/>
                    <a:p>
                      <a:pPr algn="l"/>
                      <a:r>
                        <a:rPr sz="1200" b="0">
                          <a:solidFill>
                            <a:srgbClr val="2D2D2D"/>
                          </a:solidFill>
                          <a:latin typeface="Calibri"/>
                        </a:rPr>
                        <a:t>Project</a:t>
                      </a:r>
                    </a:p>
                  </a:txBody>
                  <a:tcPr anchor="ctr">
                    <a:solidFill>
                      <a:srgbClr val="F0F4F8"/>
                    </a:solidFill>
                  </a:tcPr>
                </a:tc>
              </a:tr>
            </a:tbl>
          </a:graphicData>
        </a:graphic>
      </p:graphicFrame>
      <p:sp>
        <p:nvSpPr>
          <p:cNvPr id="7" name="TextBox 6"/>
          <p:cNvSpPr txBox="1"/>
          <p:nvPr/>
        </p:nvSpPr>
        <p:spPr>
          <a:xfrm>
            <a:off x="731520" y="5303520"/>
            <a:ext cx="10698480" cy="822960"/>
          </a:xfrm>
          <a:prstGeom prst="rect">
            <a:avLst/>
          </a:prstGeom>
          <a:noFill/>
        </p:spPr>
        <p:txBody>
          <a:bodyPr wrap="square">
            <a:spAutoFit/>
          </a:bodyPr>
          <a:lstStyle/>
          <a:p>
            <a:r>
              <a:rPr sz="1800" b="1">
                <a:solidFill>
                  <a:srgbClr val="1A1A2E"/>
                </a:solidFill>
                <a:latin typeface="Calibri"/>
              </a:rPr>
              <a:t>Rather than debate it, let's prove it.</a:t>
            </a:r>
          </a:p>
          <a:p>
            <a:r>
              <a:rPr sz="1500">
                <a:solidFill>
                  <a:srgbClr val="999999"/>
                </a:solidFill>
                <a:latin typeface="Calibri"/>
              </a:rPr>
              <a:t>Pick a portfolio company. Pick a workflow. Run us alongside your existing options. Same problem. Same timeline. Compare the output.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none">
            <a:spAutoFit/>
          </a:bodyPr>
          <a:lstStyle/>
          <a:p>
            <a:r>
              <a:rPr sz="3200" b="1">
                <a:solidFill>
                  <a:srgbClr val="1A1A2E"/>
                </a:solidFill>
                <a:latin typeface="Calibri"/>
              </a:rPr>
              <a:t>How It Starts</a:t>
            </a:r>
          </a:p>
        </p:txBody>
      </p:sp>
      <p:sp>
        <p:nvSpPr>
          <p:cNvPr id="5" name="TextBox 4"/>
          <p:cNvSpPr txBox="1"/>
          <p:nvPr/>
        </p:nvSpPr>
        <p:spPr>
          <a:xfrm>
            <a:off x="731520" y="1097280"/>
            <a:ext cx="10698480" cy="457200"/>
          </a:xfrm>
          <a:prstGeom prst="rect">
            <a:avLst/>
          </a:prstGeom>
          <a:noFill/>
        </p:spPr>
        <p:txBody>
          <a:bodyPr wrap="none">
            <a:spAutoFit/>
          </a:bodyPr>
          <a:lstStyle/>
          <a:p>
            <a:r>
              <a:rPr sz="1800">
                <a:solidFill>
                  <a:srgbClr val="2D2D2D"/>
                </a:solidFill>
                <a:latin typeface="Calibri"/>
              </a:rPr>
              <a:t>One decision. One company. One workflow.</a:t>
            </a:r>
          </a:p>
        </p:txBody>
      </p:sp>
      <p:sp>
        <p:nvSpPr>
          <p:cNvPr id="6" name="Oval 5"/>
          <p:cNvSpPr/>
          <p:nvPr/>
        </p:nvSpPr>
        <p:spPr>
          <a:xfrm>
            <a:off x="914400" y="1828800"/>
            <a:ext cx="502920" cy="50292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1</a:t>
            </a:r>
          </a:p>
        </p:txBody>
      </p:sp>
      <p:sp>
        <p:nvSpPr>
          <p:cNvPr id="7" name="TextBox 6"/>
          <p:cNvSpPr txBox="1"/>
          <p:nvPr/>
        </p:nvSpPr>
        <p:spPr>
          <a:xfrm>
            <a:off x="1828800" y="1828800"/>
            <a:ext cx="8686800" cy="502920"/>
          </a:xfrm>
          <a:prstGeom prst="rect">
            <a:avLst/>
          </a:prstGeom>
          <a:noFill/>
        </p:spPr>
        <p:txBody>
          <a:bodyPr wrap="none">
            <a:spAutoFit/>
          </a:bodyPr>
          <a:lstStyle/>
          <a:p>
            <a:r>
              <a:rPr sz="1800" b="1">
                <a:solidFill>
                  <a:srgbClr val="1A1A2E"/>
                </a:solidFill>
                <a:latin typeface="Calibri"/>
              </a:rPr>
              <a:t>Joint selection</a:t>
            </a:r>
            <a:r>
              <a:rPr sz="1500">
                <a:solidFill>
                  <a:srgbClr val="999999"/>
                </a:solidFill>
                <a:latin typeface="Calibri"/>
              </a:rPr>
              <a:t>   Identify a company based on friction and readiness</a:t>
            </a:r>
          </a:p>
        </p:txBody>
      </p:sp>
      <p:sp>
        <p:nvSpPr>
          <p:cNvPr id="8" name="Oval 7"/>
          <p:cNvSpPr/>
          <p:nvPr/>
        </p:nvSpPr>
        <p:spPr>
          <a:xfrm>
            <a:off x="914400" y="2697480"/>
            <a:ext cx="502920" cy="50292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2</a:t>
            </a:r>
          </a:p>
        </p:txBody>
      </p:sp>
      <p:sp>
        <p:nvSpPr>
          <p:cNvPr id="9" name="TextBox 8"/>
          <p:cNvSpPr txBox="1"/>
          <p:nvPr/>
        </p:nvSpPr>
        <p:spPr>
          <a:xfrm>
            <a:off x="1828800" y="2697480"/>
            <a:ext cx="8686800" cy="502920"/>
          </a:xfrm>
          <a:prstGeom prst="rect">
            <a:avLst/>
          </a:prstGeom>
          <a:noFill/>
        </p:spPr>
        <p:txBody>
          <a:bodyPr wrap="none">
            <a:spAutoFit/>
          </a:bodyPr>
          <a:lstStyle/>
          <a:p>
            <a:r>
              <a:rPr sz="1800" b="1">
                <a:solidFill>
                  <a:srgbClr val="1A1A2E"/>
                </a:solidFill>
                <a:latin typeface="Calibri"/>
              </a:rPr>
              <a:t>Scoping call</a:t>
            </a:r>
            <a:r>
              <a:rPr sz="1500">
                <a:solidFill>
                  <a:srgbClr val="999999"/>
                </a:solidFill>
                <a:latin typeface="Calibri"/>
              </a:rPr>
              <a:t>   1 hour. One workflow, one metric, success criteria.</a:t>
            </a:r>
          </a:p>
        </p:txBody>
      </p:sp>
      <p:sp>
        <p:nvSpPr>
          <p:cNvPr id="10" name="Oval 9"/>
          <p:cNvSpPr/>
          <p:nvPr/>
        </p:nvSpPr>
        <p:spPr>
          <a:xfrm>
            <a:off x="914400" y="3566160"/>
            <a:ext cx="502920" cy="50292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3</a:t>
            </a:r>
          </a:p>
        </p:txBody>
      </p:sp>
      <p:sp>
        <p:nvSpPr>
          <p:cNvPr id="11" name="TextBox 10"/>
          <p:cNvSpPr txBox="1"/>
          <p:nvPr/>
        </p:nvSpPr>
        <p:spPr>
          <a:xfrm>
            <a:off x="1828800" y="3566160"/>
            <a:ext cx="8686800" cy="502920"/>
          </a:xfrm>
          <a:prstGeom prst="rect">
            <a:avLst/>
          </a:prstGeom>
          <a:noFill/>
        </p:spPr>
        <p:txBody>
          <a:bodyPr wrap="none">
            <a:spAutoFit/>
          </a:bodyPr>
          <a:lstStyle/>
          <a:p>
            <a:r>
              <a:rPr sz="1800" b="1">
                <a:solidFill>
                  <a:srgbClr val="1A1A2E"/>
                </a:solidFill>
                <a:latin typeface="Calibri"/>
              </a:rPr>
              <a:t>Discovery sprint</a:t>
            </a:r>
            <a:r>
              <a:rPr sz="1500">
                <a:solidFill>
                  <a:srgbClr val="999999"/>
                </a:solidFill>
                <a:latin typeface="Calibri"/>
              </a:rPr>
              <a:t>   2 weeks. Map workflow, establish baseline, design mechanism.</a:t>
            </a:r>
          </a:p>
        </p:txBody>
      </p:sp>
      <p:sp>
        <p:nvSpPr>
          <p:cNvPr id="12" name="Oval 11"/>
          <p:cNvSpPr/>
          <p:nvPr/>
        </p:nvSpPr>
        <p:spPr>
          <a:xfrm>
            <a:off x="914400" y="4434840"/>
            <a:ext cx="502920" cy="50292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4</a:t>
            </a:r>
          </a:p>
        </p:txBody>
      </p:sp>
      <p:sp>
        <p:nvSpPr>
          <p:cNvPr id="13" name="TextBox 12"/>
          <p:cNvSpPr txBox="1"/>
          <p:nvPr/>
        </p:nvSpPr>
        <p:spPr>
          <a:xfrm>
            <a:off x="1828800" y="4434840"/>
            <a:ext cx="8686800" cy="502920"/>
          </a:xfrm>
          <a:prstGeom prst="rect">
            <a:avLst/>
          </a:prstGeom>
          <a:noFill/>
        </p:spPr>
        <p:txBody>
          <a:bodyPr wrap="none">
            <a:spAutoFit/>
          </a:bodyPr>
          <a:lstStyle/>
          <a:p>
            <a:r>
              <a:rPr sz="1800" b="1">
                <a:solidFill>
                  <a:srgbClr val="1A1A2E"/>
                </a:solidFill>
                <a:latin typeface="Calibri"/>
              </a:rPr>
              <a:t>Build + deploy</a:t>
            </a:r>
            <a:r>
              <a:rPr sz="1500">
                <a:solidFill>
                  <a:srgbClr val="999999"/>
                </a:solidFill>
                <a:latin typeface="Calibri"/>
              </a:rPr>
              <a:t>   3-4 weeks. Production system with real users.</a:t>
            </a:r>
          </a:p>
        </p:txBody>
      </p:sp>
      <p:sp>
        <p:nvSpPr>
          <p:cNvPr id="14" name="Oval 13"/>
          <p:cNvSpPr/>
          <p:nvPr/>
        </p:nvSpPr>
        <p:spPr>
          <a:xfrm>
            <a:off x="914400" y="5303520"/>
            <a:ext cx="502920" cy="50292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5</a:t>
            </a:r>
          </a:p>
        </p:txBody>
      </p:sp>
      <p:sp>
        <p:nvSpPr>
          <p:cNvPr id="15" name="TextBox 14"/>
          <p:cNvSpPr txBox="1"/>
          <p:nvPr/>
        </p:nvSpPr>
        <p:spPr>
          <a:xfrm>
            <a:off x="1828800" y="5303520"/>
            <a:ext cx="8686800" cy="502920"/>
          </a:xfrm>
          <a:prstGeom prst="rect">
            <a:avLst/>
          </a:prstGeom>
          <a:noFill/>
        </p:spPr>
        <p:txBody>
          <a:bodyPr wrap="none">
            <a:spAutoFit/>
          </a:bodyPr>
          <a:lstStyle/>
          <a:p>
            <a:r>
              <a:rPr sz="1800" b="1">
                <a:solidFill>
                  <a:srgbClr val="1A1A2E"/>
                </a:solidFill>
                <a:latin typeface="Calibri"/>
              </a:rPr>
              <a:t>Measure + decide</a:t>
            </a:r>
            <a:r>
              <a:rPr sz="1500">
                <a:solidFill>
                  <a:srgbClr val="999999"/>
                </a:solidFill>
                <a:latin typeface="Calibri"/>
              </a:rPr>
              <a:t>   Hard numbers. Expand, or stop.</a:t>
            </a:r>
          </a:p>
        </p:txBody>
      </p:sp>
      <p:sp>
        <p:nvSpPr>
          <p:cNvPr id="16" name="Rounded Rectangle 15"/>
          <p:cNvSpPr/>
          <p:nvPr/>
        </p:nvSpPr>
        <p:spPr>
          <a:xfrm>
            <a:off x="731520" y="5760720"/>
            <a:ext cx="9875520" cy="6400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B4A0"/>
                </a:solidFill>
                <a:latin typeface="Calibri"/>
              </a:rPr>
              <a:t>5-6 weeks from handshake to measured impact.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474720"/>
            <a:ext cx="12191695" cy="36576"/>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1463040"/>
          </a:xfrm>
          <a:prstGeom prst="rect">
            <a:avLst/>
          </a:prstGeom>
          <a:noFill/>
        </p:spPr>
        <p:txBody>
          <a:bodyPr wrap="square">
            <a:spAutoFit/>
          </a:bodyPr>
          <a:lstStyle/>
          <a:p>
            <a:r>
              <a:rPr sz="2200">
                <a:solidFill>
                  <a:srgbClr val="FFFFFF"/>
                </a:solidFill>
                <a:latin typeface="Calibri"/>
              </a:rPr>
              <a:t>Enterprise AI adoption is held back by structural execution barriers —</a:t>
            </a:r>
          </a:p>
          <a:p>
            <a:r>
              <a:rPr sz="2200">
                <a:solidFill>
                  <a:srgbClr val="FFFFFF"/>
                </a:solidFill>
                <a:latin typeface="Calibri"/>
              </a:rPr>
              <a:t>not by ambition or technology.</a:t>
            </a:r>
          </a:p>
          <a:p>
            <a:r>
              <a:rPr sz="1000">
                <a:solidFill>
                  <a:srgbClr val="FFFFFF"/>
                </a:solidFill>
                <a:latin typeface="Calibri"/>
              </a:rPr>
              <a:t/>
            </a:r>
          </a:p>
          <a:p>
            <a:r>
              <a:rPr sz="2200">
                <a:solidFill>
                  <a:srgbClr val="FFFFFF"/>
                </a:solidFill>
                <a:latin typeface="Calibri"/>
              </a:rPr>
              <a:t>A portfolio of 273+ companies represents both the challenge</a:t>
            </a:r>
          </a:p>
          <a:p>
            <a:r>
              <a:rPr sz="2200">
                <a:solidFill>
                  <a:srgbClr val="FFFFFF"/>
                </a:solidFill>
                <a:latin typeface="Calibri"/>
              </a:rPr>
              <a:t>and the opportunity.</a:t>
            </a:r>
          </a:p>
        </p:txBody>
      </p:sp>
      <p:sp>
        <p:nvSpPr>
          <p:cNvPr id="5" name="TextBox 4"/>
          <p:cNvSpPr txBox="1"/>
          <p:nvPr/>
        </p:nvSpPr>
        <p:spPr>
          <a:xfrm>
            <a:off x="1371600" y="3840480"/>
            <a:ext cx="9144000" cy="731520"/>
          </a:xfrm>
          <a:prstGeom prst="rect">
            <a:avLst/>
          </a:prstGeom>
          <a:noFill/>
        </p:spPr>
        <p:txBody>
          <a:bodyPr wrap="none">
            <a:spAutoFit/>
          </a:bodyPr>
          <a:lstStyle/>
          <a:p>
            <a:r>
              <a:rPr sz="2800" b="1">
                <a:solidFill>
                  <a:srgbClr val="00B4A0"/>
                </a:solidFill>
                <a:latin typeface="Calibri"/>
              </a:rPr>
              <a:t>That starts with one conversation.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