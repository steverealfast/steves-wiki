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Let the slide sit for 3-5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question we've built our company around. Not 'how do we use AI' — that's a tool question. The structural question is: why has a trillion-dollar industry not improved its fundamental economics in ten years, and what happens when AI forces the issue? Everything I'm about to show you flows from this.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TCS is the clearest case. They nearly doubled revenue over a decade. Sounds impressive — until you see headcount nearly doubled too. At roughly $50K RPE, every additional million dollars of revenue requires 20 new people. This is arithmetic, not opinion. When RPE does tick up — as it did for Infosys recently — it's driven by layoffs, not structural improvement. The top five firms shed 57,900 employees in two years. They'll rehire when deals return. RPE will revert.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Services firms used to absorb delivery risk through bench — idle people you could throw at a project when it slipped. That buffer is gone. Every project now has to hit its time-to-value target with no margin for error and no spare people. This isn't a choice they made for efficiency. It's a response to margin pressure. The safety net has been cut to protect the economics — but the economics haven't actually improved.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sales engineer at a major cloud platform told us this directly: their largest enterprise client now regularly requests $150K-$300K AI projects alongside existing multi-million dollar contracts. The firm cannot profitably serve them. But the client implies a bigger deal will follow, so refusing isn't an option. They're caught between a cost structure they can't flex and a market they can't ignore. This is not one firm's problem. This is the industry.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capable AI agents launched in early 2025, the market's response was immediate. The entire IT outsourcing model is labour arbitrage — hire at $15/hour, bill at $80/hour. The market saw AI agents and immediately repriced the stocks. Revenue won't fall off a cliff — multi-year contracts protect the near term. But the trajectory is clear: eight to ten quarters of consensus estimates trimmed by two to three percent each cycle. A slow bleed, not a sudden collapse. The firms know this. Their stock prices know this. Their hiring plans know this.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response from every IT services firm: give engineers AI tools. Copilot, Cursor, Devin. Announce AI transformation. But this addresses one node in a multi-node pipeline. Even granting the most optimistic productivity claims — 2x, 5x, 10x — everything upstream and downstream stays the same speed. The firm doesn't get faster. Individual engineers get faster. The distinction matters. The question isn't whether AI tools help developers. Assume they do. The question is whether developer productivity was ever the binding constraint. In most IT services engagements, it was 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per employee tells you how productive your people are. It doesn't tell you how efficient your organization is at converting opportunity into delivered revenue. The metric that matters is friction per unit of revenue. For a typical IT services project, engineering represents only 50-65% of total cost. The rest — selling, scoping, legal, compliance, staffing, project management, knowledge transfer — is organizational friction. The firms announcing AI transformation by giving engineers Copilot are optimizing the minority of their cost structure while ignoring the majority.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implication is a fundamental reorientation. The economics of the old model — optimize delivery cost on a large, stable contract — don't transfer to a world where deal frequency is rising and deal size is falling. A firm that can move a $30K deal through its full pipeline at the same speed and margin as a $3M deal has a structural advantage. And that advantage compounds with every deal closed.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Accenture has committed $3B to AI and acquires 31+ companies a year. Surely scale and capital can close this gap. It cannot. The problem is structural, not financial. An operation built to sell 10,000 junior developers at $30/hour is a volume business. The entire organizational infrastructure — campuses, training pipelines, bench management — exists to support labour arbitrage at scale. You cannot repurpose this into high-leverage AI-native delivery any more than a container shipping company can pivot to same-day drone delivery by buying drones.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Clayton Christensen's Law of Conservation of Attractive Profits: when one layer commoditizes, adjacent layers de-commoditize. Infrastructure is commoditizing — AI agents generate hundreds of API calls per minute versus a human generating dozens per hour. Applications are compressing — SaaS companies have lost over $300 billion in market cap, growth has halved, switching costs are dissolving as LLMs make data migration trivial. The context layer is what emerges. It's the institutional knowledge that directs AI agents — it doesn't live in a document. It emerges from thousands of workflows executed over time. This is where value concentrates.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ways to deploy AI. In the product. For building the product. And to run the company. Most firms are focused on the first two. Very few are addressing the third. But the third is where the structural economics change. Sales must move faster. Pre-sales must scope in days, not weeks. Legal must review in hours. Compliance must clear in a single pass. Knowledge must transfer automatically, not through meetings. No IT services firm is structured to build this. Their teams are organized by function, not by flow. Their tooling is procured per function. There is no connective tissue.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realfast is built on this thesis. Every function in the company runs on Exocortex — an AI operating system that spans the full pipeline. This is not a set of AI tools bolted onto existing processes. It is the operating infrastructure that connects everything. The connective tissue that traditional firms don't have.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Exocortex does three things. It extracts institutional knowledge from people, contracts, past projects, and domain expertise. It maintains that knowledge as the business evolves — continuously re-engineering processes as we learn what works. And it applies it across every workflow, for whoever needs it. Each engagement generates execution traces — granular records of what worked, what failed, what took longer than expected, what the client actually needed versus what the SOW described. These traces feed the next engagement. The system gets smarter by doing work, not by being trained.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economic mechanism is specific. Coordination overhead in a typical project — project management, status alignment, knowledge transfer, cross-timezone handoffs, role-dependency wait times — represents 35-50% of total delivery cost. These aren't engineering costs. They're organizational costs. They show up in payroll budgets, not IT budgets. Exocortex doesn't optimize this overhead. It structurally eliminates it. Consultants who previously needed dedicated developers, PMs, and BAs can now deliver independently. The result is not a 10% gain. It's a 2-3x margin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project completed makes the next one faster. In a traditional firm, knowledge dissipates when the team disbands. In our model, domain knowledge, workflow patterns, and client-specific context compound in Exocortex. The second project is faster than the first. The third is faster than the second. This is not true for traditional services firms. Their delivery quality is a function of whoever they happen to staff. Ours is a function of every engagement we've ever delivered.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production results. TASC went from 799 leads in June to 2,818 in July — 3.5x improvement while maintaining conversation quality. Their CTO said it's like hiring 3 quality SDRs without adding headcount. Houzbay's lead gen agent hit 30% conversion — nearly one in three users qualifying. Flok went from kickoff to production in 5 business days on a complex Agentforce implementation. These prove delivery speed and outcome quality. What they also prove — though it's not on the slide — is that each of these engagements fed the next. The compounding is already happening.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[Personalize based on presenter. Key beats: relevant scale experience, domain credibility, why this team is uniquely positioned.]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we're making this argument about the industry, we need to show our own numbers. This is the most powerful proof point available. [Populate when data is ready.]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ask you to bet on a vision. We ask you to bet on one workflow. One business metric. 3-6 weeks. We prove the delta — time, cost, quality — against what you would have gotten from the firm you were about to hire. If we fail, you know quickly and cheaply. If we succeed, you have a decision to make about your next project. And every engagement compounds. The second project is faster than the first. The third is faster than the second. Over time, what you're building with us is not a series of disconnected implementations — it's an operational intelligence layer tuned to your business.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competitors will hire Accenture. They'll get Accenture's cost structure, timeline, and coordination overhead. Nobody gets fired for that decision. But here's what that decision costs: every project they do with a traditional firm is a standalone engagement. No compounding. No operational intelligence accumulating. You, on the other hand, build compound advantage with every engagement. The gap doesn't stay constant. It widens.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technology moat — it's an operational moat. A competitor starting today is not just behind on code. They're behind on thousands of accumulated workflow traces that encode how workflows actually behave in practice. Which deals stall at legal review. Which client stakeholders need early alignment. Which compliance requirements are blocking versus procedural. This gap widens with every project we deliver. And the incumbents? They can't build this without dismantling the organizational infrastructure that generates their current revenue. The firms with the most to gain from this transition are the ones least able to execute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second-order opportunity. Every engagement we deliver through Exocortex compounds context about the client's business. Over time, what they're building with us — without buying anything — is an operational intelligence layer tuned to their domain, their workflows, their institutional knowledge. The end state is not permanent dependency on realfast. It's their organization running on the same operating leverage we do. We don't sell Exocortex. We deliver through it. The platform thesis is an emergent outcome, not a sales pitch. This shifts our commercial model from subcontracting at better margins to transforming how services organizations operate.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prototype. Exocortex runs our operations today. Every engagement we've delivered — TASC, Houzbay, Flok — was delivered through this platform. It's ISO 27001 certified, SOC 2 compliant, and enterprise-grade. Five components working together: ExoCode for developers, ExoWork for business workflows, ExoManager for delivery oversight, ExoHelpdesk for managed services, ExoMetacog for analytics. All instrumented for full 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remember. We are a services company that delivers through a platform — every engagement compounds. Capital unlocks distribution — partner hires with CXO rolodexes and SI acquisitions for client relationships. The exit math works three ways: strategic acquisition by a large SI that wants our operating model, PE roll-up of recurring managed services revenue, or continued scaling. The bet you're making is that AI will restructure IT services and we've built the platform to be the efficient winner in that restructuring.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[Populate with specific numbers. This slide converts conviction into commitment. Every number must be defensible.]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workflow. One metric. 3-6 weeks. We prove we can deliver the same outcome — production-grade, enterprise-quality — at a fundamentally different speed and cost. If we fail, you know in weeks with minimal investment. If we succeed, you have a measurable gap and a decision to make about your next project. There's no procurement cycle. No multi-year commitment. Just a focused test of whether a structurally different operating model delivers what the traditional firms can't.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91695" cy="36576"/>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011680"/>
            <a:ext cx="9144000" cy="1097280"/>
          </a:xfrm>
          <a:prstGeom prst="rect">
            <a:avLst/>
          </a:prstGeom>
          <a:noFill/>
        </p:spPr>
        <p:txBody>
          <a:bodyPr wrap="none">
            <a:spAutoFit/>
          </a:bodyPr>
          <a:lstStyle/>
          <a:p>
            <a:pPr algn="ctr"/>
            <a:r>
              <a:rPr sz="4800" b="1">
                <a:solidFill>
                  <a:srgbClr val="FFFFFF"/>
                </a:solidFill>
                <a:latin typeface="Calibri"/>
              </a:rPr>
              <a:t>realfast</a:t>
            </a:r>
          </a:p>
        </p:txBody>
      </p:sp>
      <p:sp>
        <p:nvSpPr>
          <p:cNvPr id="5" name="TextBox 4"/>
          <p:cNvSpPr txBox="1"/>
          <p:nvPr/>
        </p:nvSpPr>
        <p:spPr>
          <a:xfrm>
            <a:off x="1371600" y="3474720"/>
            <a:ext cx="9144000" cy="548640"/>
          </a:xfrm>
          <a:prstGeom prst="rect">
            <a:avLst/>
          </a:prstGeom>
          <a:noFill/>
        </p:spPr>
        <p:txBody>
          <a:bodyPr wrap="none">
            <a:spAutoFit/>
          </a:bodyPr>
          <a:lstStyle/>
          <a:p>
            <a:pPr algn="ctr"/>
            <a:r>
              <a:rPr sz="2200">
                <a:solidFill>
                  <a:srgbClr val="00B4A0"/>
                </a:solidFill>
                <a:latin typeface="Calibri"/>
              </a:rPr>
              <a:t>AI-native IT services</a:t>
            </a:r>
          </a:p>
        </p:txBody>
      </p:sp>
      <p:sp>
        <p:nvSpPr>
          <p:cNvPr id="6" name="TextBox 5"/>
          <p:cNvSpPr txBox="1"/>
          <p:nvPr/>
        </p:nvSpPr>
        <p:spPr>
          <a:xfrm>
            <a:off x="1371600" y="5029200"/>
            <a:ext cx="9144000" cy="457200"/>
          </a:xfrm>
          <a:prstGeom prst="rect">
            <a:avLst/>
          </a:prstGeom>
          <a:noFill/>
        </p:spPr>
        <p:txBody>
          <a:bodyPr wrap="none">
            <a:spAutoFit/>
          </a:bodyPr>
          <a:lstStyle/>
          <a:p>
            <a:pPr algn="ctr"/>
            <a:r>
              <a:rPr sz="1400">
                <a:solidFill>
                  <a:srgbClr val="999999"/>
                </a:solidFill>
                <a:latin typeface="Calibri"/>
              </a:rPr>
              <a:t>[Presenter Name]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10058400" cy="1371600"/>
          </a:xfrm>
          <a:prstGeom prst="rect">
            <a:avLst/>
          </a:prstGeom>
          <a:noFill/>
        </p:spPr>
        <p:txBody>
          <a:bodyPr wrap="square">
            <a:spAutoFit/>
          </a:bodyPr>
          <a:lstStyle/>
          <a:p>
            <a:pPr algn="ctr"/>
            <a:r>
              <a:rPr sz="3600" b="1">
                <a:solidFill>
                  <a:srgbClr val="FFFFFF"/>
                </a:solidFill>
                <a:latin typeface="Calibri"/>
              </a:rPr>
              <a:t>What does an IT services firm need to look like
in three years to survive?</a:t>
            </a:r>
          </a:p>
        </p:txBody>
      </p:sp>
      <p:sp>
        <p:nvSpPr>
          <p:cNvPr id="4" name="TextBox 3"/>
          <p:cNvSpPr txBox="1"/>
          <p:nvPr/>
        </p:nvSpPr>
        <p:spPr>
          <a:xfrm>
            <a:off x="1097280" y="3840480"/>
            <a:ext cx="10058400" cy="548640"/>
          </a:xfrm>
          <a:prstGeom prst="rect">
            <a:avLst/>
          </a:prstGeom>
          <a:noFill/>
        </p:spPr>
        <p:txBody>
          <a:bodyPr wrap="none">
            <a:spAutoFit/>
          </a:bodyPr>
          <a:lstStyle/>
          <a:p>
            <a:pPr algn="ctr"/>
            <a:r>
              <a:rPr sz="1800">
                <a:solidFill>
                  <a:srgbClr val="CCCCCC"/>
                </a:solidFill>
                <a:latin typeface="Calibri"/>
              </a:rPr>
              <a:t>$1T+ industry. Flat unit economics. Structural repricing underway.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IT services revenue per employee has been flat to declining for a decade</a:t>
            </a:r>
          </a:p>
        </p:txBody>
      </p:sp>
      <p:graphicFrame>
        <p:nvGraphicFramePr>
          <p:cNvPr id="5" name="Table 4"/>
          <p:cNvGraphicFramePr>
            <a:graphicFrameLocks noGrp="1"/>
          </p:cNvGraphicFramePr>
          <p:nvPr/>
        </p:nvGraphicFramePr>
        <p:xfrm>
          <a:off x="731520" y="1645920"/>
          <a:ext cx="10058400" cy="2011680"/>
        </p:xfrm>
        <a:graphic>
          <a:graphicData uri="http://schemas.openxmlformats.org/drawingml/2006/table">
            <a:tbl>
              <a:tblPr firstRow="1" bandRow="1">
                <a:tableStyleId>{5C22544A-7EE6-4342-B048-85BDC9FD1C3A}</a:tableStyleId>
              </a:tblPr>
              <a:tblGrid>
                <a:gridCol w="2286000"/>
                <a:gridCol w="2560320"/>
                <a:gridCol w="2560320"/>
                <a:gridCol w="2651760"/>
              </a:tblGrid>
              <a:tr h="402336">
                <a:tc>
                  <a:txBody>
                    <a:bodyPr wrap="square"/>
                    <a:lstStyle/>
                    <a:p>
                      <a:pPr algn="l"/>
                      <a:r>
                        <a:rPr sz="1300" b="1">
                          <a:solidFill>
                            <a:srgbClr val="FFFFFF"/>
                          </a:solidFill>
                          <a:latin typeface="Calibri"/>
                        </a:rPr>
                        <a:t>Company</a:t>
                      </a:r>
                    </a:p>
                  </a:txBody>
                  <a:tcPr anchor="ctr">
                    <a:solidFill>
                      <a:srgbClr val="1A1A2E"/>
                    </a:solidFill>
                  </a:tcPr>
                </a:tc>
                <a:tc>
                  <a:txBody>
                    <a:bodyPr wrap="square"/>
                    <a:lstStyle/>
                    <a:p>
                      <a:pPr algn="l"/>
                      <a:r>
                        <a:rPr sz="1300" b="1">
                          <a:solidFill>
                            <a:srgbClr val="FFFFFF"/>
                          </a:solidFill>
                          <a:latin typeface="Calibri"/>
                        </a:rPr>
                        <a:t>RPE (FY2015)</a:t>
                      </a:r>
                    </a:p>
                  </a:txBody>
                  <a:tcPr anchor="ctr">
                    <a:solidFill>
                      <a:srgbClr val="1A1A2E"/>
                    </a:solidFill>
                  </a:tcPr>
                </a:tc>
                <a:tc>
                  <a:txBody>
                    <a:bodyPr wrap="square"/>
                    <a:lstStyle/>
                    <a:p>
                      <a:pPr algn="l"/>
                      <a:r>
                        <a:rPr sz="1300" b="1">
                          <a:solidFill>
                            <a:srgbClr val="FFFFFF"/>
                          </a:solidFill>
                          <a:latin typeface="Calibri"/>
                        </a:rPr>
                        <a:t>RPE (FY2023)</a:t>
                      </a:r>
                    </a:p>
                  </a:txBody>
                  <a:tcPr anchor="ctr">
                    <a:solidFill>
                      <a:srgbClr val="1A1A2E"/>
                    </a:solidFill>
                  </a:tcPr>
                </a:tc>
                <a:tc>
                  <a:txBody>
                    <a:bodyPr wrap="square"/>
                    <a:lstStyle/>
                    <a:p>
                      <a:pPr algn="l"/>
                      <a:r>
                        <a:rPr sz="1300" b="1">
                          <a:solidFill>
                            <a:srgbClr val="FFFFFF"/>
                          </a:solidFill>
                          <a:latin typeface="Calibri"/>
                        </a:rPr>
                        <a:t>Change</a:t>
                      </a:r>
                    </a:p>
                  </a:txBody>
                  <a:tcPr anchor="ctr">
                    <a:solidFill>
                      <a:srgbClr val="1A1A2E"/>
                    </a:solidFill>
                  </a:tcPr>
                </a:tc>
              </a:tr>
              <a:tr h="402336">
                <a:tc>
                  <a:txBody>
                    <a:bodyPr wrap="square"/>
                    <a:lstStyle/>
                    <a:p>
                      <a:pPr algn="l"/>
                      <a:r>
                        <a:rPr sz="1300" b="1">
                          <a:solidFill>
                            <a:srgbClr val="2D2D2D"/>
                          </a:solidFill>
                          <a:latin typeface="Calibri"/>
                        </a:rPr>
                        <a:t>Infosys</a:t>
                      </a:r>
                    </a:p>
                  </a:txBody>
                  <a:tcPr anchor="ctr">
                    <a:solidFill>
                      <a:srgbClr val="FFFFFF"/>
                    </a:solidFill>
                  </a:tcPr>
                </a:tc>
                <a:tc>
                  <a:txBody>
                    <a:bodyPr wrap="square"/>
                    <a:lstStyle/>
                    <a:p>
                      <a:pPr algn="l"/>
                      <a:r>
                        <a:rPr sz="1300" b="0">
                          <a:solidFill>
                            <a:srgbClr val="2D2D2D"/>
                          </a:solidFill>
                          <a:latin typeface="Calibri"/>
                        </a:rPr>
                        <a:t>$49,442</a:t>
                      </a:r>
                    </a:p>
                  </a:txBody>
                  <a:tcPr anchor="ctr">
                    <a:solidFill>
                      <a:srgbClr val="FFFFFF"/>
                    </a:solidFill>
                  </a:tcPr>
                </a:tc>
                <a:tc>
                  <a:txBody>
                    <a:bodyPr wrap="square"/>
                    <a:lstStyle/>
                    <a:p>
                      <a:pPr algn="l"/>
                      <a:r>
                        <a:rPr sz="1300" b="0">
                          <a:solidFill>
                            <a:srgbClr val="2D2D2D"/>
                          </a:solidFill>
                          <a:latin typeface="Calibri"/>
                        </a:rPr>
                        <a:t>$53,060</a:t>
                      </a:r>
                    </a:p>
                  </a:txBody>
                  <a:tcPr anchor="ctr">
                    <a:solidFill>
                      <a:srgbClr val="FFFFFF"/>
                    </a:solidFill>
                  </a:tcPr>
                </a:tc>
                <a:tc>
                  <a:txBody>
                    <a:bodyPr wrap="square"/>
                    <a:lstStyle/>
                    <a:p>
                      <a:pPr algn="l"/>
                      <a:r>
                        <a:rPr sz="1300" b="0">
                          <a:solidFill>
                            <a:srgbClr val="2D2D2D"/>
                          </a:solidFill>
                          <a:latin typeface="Calibri"/>
                        </a:rPr>
                        <a:t>+7.3% over 8 years</a:t>
                      </a:r>
                    </a:p>
                  </a:txBody>
                  <a:tcPr anchor="ctr">
                    <a:solidFill>
                      <a:srgbClr val="FFFFFF"/>
                    </a:solidFill>
                  </a:tcPr>
                </a:tc>
              </a:tr>
              <a:tr h="402336">
                <a:tc>
                  <a:txBody>
                    <a:bodyPr wrap="square"/>
                    <a:lstStyle/>
                    <a:p>
                      <a:pPr algn="l"/>
                      <a:r>
                        <a:rPr sz="1300" b="1">
                          <a:solidFill>
                            <a:srgbClr val="2D2D2D"/>
                          </a:solidFill>
                          <a:latin typeface="Calibri"/>
                        </a:rPr>
                        <a:t>TCS</a:t>
                      </a:r>
                    </a:p>
                  </a:txBody>
                  <a:tcPr anchor="ctr">
                    <a:solidFill>
                      <a:srgbClr val="F0F4F8"/>
                    </a:solidFill>
                  </a:tcPr>
                </a:tc>
                <a:tc>
                  <a:txBody>
                    <a:bodyPr wrap="square"/>
                    <a:lstStyle/>
                    <a:p>
                      <a:pPr algn="l"/>
                      <a:r>
                        <a:rPr sz="1300" b="0">
                          <a:solidFill>
                            <a:srgbClr val="2D2D2D"/>
                          </a:solidFill>
                          <a:latin typeface="Calibri"/>
                        </a:rPr>
                        <a:t>~$50,700</a:t>
                      </a:r>
                    </a:p>
                  </a:txBody>
                  <a:tcPr anchor="ctr">
                    <a:solidFill>
                      <a:srgbClr val="F0F4F8"/>
                    </a:solidFill>
                  </a:tcPr>
                </a:tc>
                <a:tc>
                  <a:txBody>
                    <a:bodyPr wrap="square"/>
                    <a:lstStyle/>
                    <a:p>
                      <a:pPr algn="l"/>
                      <a:r>
                        <a:rPr sz="1300" b="0">
                          <a:solidFill>
                            <a:srgbClr val="2D2D2D"/>
                          </a:solidFill>
                          <a:latin typeface="Calibri"/>
                        </a:rPr>
                        <a:t>~$47,000</a:t>
                      </a:r>
                    </a:p>
                  </a:txBody>
                  <a:tcPr anchor="ctr">
                    <a:solidFill>
                      <a:srgbClr val="F0F4F8"/>
                    </a:solidFill>
                  </a:tcPr>
                </a:tc>
                <a:tc>
                  <a:txBody>
                    <a:bodyPr wrap="square"/>
                    <a:lstStyle/>
                    <a:p>
                      <a:pPr algn="l"/>
                      <a:r>
                        <a:rPr sz="1300" b="0">
                          <a:solidFill>
                            <a:srgbClr val="CC3333"/>
                          </a:solidFill>
                          <a:latin typeface="Calibri"/>
                        </a:rPr>
                        <a:t>Flat to negative</a:t>
                      </a:r>
                    </a:p>
                  </a:txBody>
                  <a:tcPr anchor="ctr">
                    <a:solidFill>
                      <a:srgbClr val="F0F4F8"/>
                    </a:solidFill>
                  </a:tcPr>
                </a:tc>
              </a:tr>
              <a:tr h="402336">
                <a:tc>
                  <a:txBody>
                    <a:bodyPr wrap="square"/>
                    <a:lstStyle/>
                    <a:p>
                      <a:pPr algn="l"/>
                      <a:r>
                        <a:rPr sz="1300" b="1">
                          <a:solidFill>
                            <a:srgbClr val="2D2D2D"/>
                          </a:solidFill>
                          <a:latin typeface="Calibri"/>
                        </a:rPr>
                        <a:t>Wipro</a:t>
                      </a:r>
                    </a:p>
                  </a:txBody>
                  <a:tcPr anchor="ctr">
                    <a:solidFill>
                      <a:srgbClr val="FFFFFF"/>
                    </a:solidFill>
                  </a:tcPr>
                </a:tc>
                <a:tc>
                  <a:txBody>
                    <a:bodyPr wrap="square"/>
                    <a:lstStyle/>
                    <a:p>
                      <a:pPr algn="l"/>
                      <a:r>
                        <a:rPr sz="1300" b="0">
                          <a:solidFill>
                            <a:srgbClr val="2D2D2D"/>
                          </a:solidFill>
                          <a:latin typeface="Calibri"/>
                        </a:rPr>
                        <a:t>~$48,000</a:t>
                      </a:r>
                    </a:p>
                  </a:txBody>
                  <a:tcPr anchor="ctr">
                    <a:solidFill>
                      <a:srgbClr val="FFFFFF"/>
                    </a:solidFill>
                  </a:tcPr>
                </a:tc>
                <a:tc>
                  <a:txBody>
                    <a:bodyPr wrap="square"/>
                    <a:lstStyle/>
                    <a:p>
                      <a:pPr algn="l"/>
                      <a:r>
                        <a:rPr sz="1300" b="0">
                          <a:solidFill>
                            <a:srgbClr val="2D2D2D"/>
                          </a:solidFill>
                          <a:latin typeface="Calibri"/>
                        </a:rPr>
                        <a:t>~$45,100</a:t>
                      </a:r>
                    </a:p>
                  </a:txBody>
                  <a:tcPr anchor="ctr">
                    <a:solidFill>
                      <a:srgbClr val="FFFFFF"/>
                    </a:solidFill>
                  </a:tcPr>
                </a:tc>
                <a:tc>
                  <a:txBody>
                    <a:bodyPr wrap="square"/>
                    <a:lstStyle/>
                    <a:p>
                      <a:pPr algn="l"/>
                      <a:r>
                        <a:rPr sz="1300" b="0">
                          <a:solidFill>
                            <a:srgbClr val="CC3333"/>
                          </a:solidFill>
                          <a:latin typeface="Calibri"/>
                        </a:rPr>
                        <a:t>Declining</a:t>
                      </a:r>
                    </a:p>
                  </a:txBody>
                  <a:tcPr anchor="ctr">
                    <a:solidFill>
                      <a:srgbClr val="FFFFFF"/>
                    </a:solidFill>
                  </a:tcPr>
                </a:tc>
              </a:tr>
              <a:tr h="402336">
                <a:tc>
                  <a:txBody>
                    <a:bodyPr wrap="square"/>
                    <a:lstStyle/>
                    <a:p>
                      <a:pPr algn="l"/>
                      <a:r>
                        <a:rPr sz="1300" b="1">
                          <a:solidFill>
                            <a:srgbClr val="2D2D2D"/>
                          </a:solidFill>
                          <a:latin typeface="Calibri"/>
                        </a:rPr>
                        <a:t>HCLTech</a:t>
                      </a:r>
                    </a:p>
                  </a:txBody>
                  <a:tcPr anchor="ctr">
                    <a:solidFill>
                      <a:srgbClr val="F0F4F8"/>
                    </a:solidFill>
                  </a:tcPr>
                </a:tc>
                <a:tc>
                  <a:txBody>
                    <a:bodyPr wrap="square"/>
                    <a:lstStyle/>
                    <a:p>
                      <a:pPr algn="l"/>
                      <a:r>
                        <a:rPr sz="1300" b="0">
                          <a:solidFill>
                            <a:srgbClr val="2D2D2D"/>
                          </a:solidFill>
                          <a:latin typeface="Calibri"/>
                        </a:rPr>
                        <a:t>~$65,000</a:t>
                      </a:r>
                    </a:p>
                  </a:txBody>
                  <a:tcPr anchor="ctr">
                    <a:solidFill>
                      <a:srgbClr val="F0F4F8"/>
                    </a:solidFill>
                  </a:tcPr>
                </a:tc>
                <a:tc>
                  <a:txBody>
                    <a:bodyPr wrap="square"/>
                    <a:lstStyle/>
                    <a:p>
                      <a:pPr algn="l"/>
                      <a:r>
                        <a:rPr sz="1300" b="0">
                          <a:solidFill>
                            <a:srgbClr val="2D2D2D"/>
                          </a:solidFill>
                          <a:latin typeface="Calibri"/>
                        </a:rPr>
                        <a:t>~$61,400</a:t>
                      </a:r>
                    </a:p>
                  </a:txBody>
                  <a:tcPr anchor="ctr">
                    <a:solidFill>
                      <a:srgbClr val="F0F4F8"/>
                    </a:solidFill>
                  </a:tcPr>
                </a:tc>
                <a:tc>
                  <a:txBody>
                    <a:bodyPr wrap="square"/>
                    <a:lstStyle/>
                    <a:p>
                      <a:pPr algn="l"/>
                      <a:r>
                        <a:rPr sz="1300" b="0">
                          <a:solidFill>
                            <a:srgbClr val="CC3333"/>
                          </a:solidFill>
                          <a:latin typeface="Calibri"/>
                        </a:rPr>
                        <a:t>Declining</a:t>
                      </a:r>
                    </a:p>
                  </a:txBody>
                  <a:tcPr anchor="ctr">
                    <a:solidFill>
                      <a:srgbClr val="F0F4F8"/>
                    </a:solidFill>
                  </a:tcPr>
                </a:tc>
              </a:tr>
            </a:tbl>
          </a:graphicData>
        </a:graphic>
      </p:graphicFrame>
      <p:sp>
        <p:nvSpPr>
          <p:cNvPr id="6" name="Rectangle 5"/>
          <p:cNvSpPr/>
          <p:nvPr/>
        </p:nvSpPr>
        <p:spPr>
          <a:xfrm>
            <a:off x="731520" y="4023360"/>
            <a:ext cx="54864" cy="640080"/>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023360"/>
            <a:ext cx="10058400" cy="640080"/>
          </a:xfrm>
          <a:prstGeom prst="rect">
            <a:avLst/>
          </a:prstGeom>
          <a:noFill/>
        </p:spPr>
        <p:txBody>
          <a:bodyPr wrap="square">
            <a:spAutoFit/>
          </a:bodyPr>
          <a:lstStyle/>
          <a:p>
            <a:r>
              <a:rPr sz="1500" i="1">
                <a:solidFill>
                  <a:srgbClr val="2D2D2D"/>
                </a:solidFill>
                <a:latin typeface="Calibri"/>
              </a:rPr>
              <a:t>TCS: Revenue doubled ($16B → $30B). Headcount doubled (319K → 608K). Ratio unchanged.</a:t>
            </a:r>
          </a:p>
        </p:txBody>
      </p:sp>
      <p:sp>
        <p:nvSpPr>
          <p:cNvPr id="8" name="TextBox 7"/>
          <p:cNvSpPr txBox="1"/>
          <p:nvPr/>
        </p:nvSpPr>
        <p:spPr>
          <a:xfrm>
            <a:off x="731520" y="6400800"/>
            <a:ext cx="10698480" cy="365760"/>
          </a:xfrm>
          <a:prstGeom prst="rect">
            <a:avLst/>
          </a:prstGeom>
          <a:noFill/>
        </p:spPr>
        <p:txBody>
          <a:bodyPr wrap="square">
            <a:spAutoFit/>
          </a:bodyPr>
          <a:lstStyle/>
          <a:p>
            <a:r>
              <a:rPr sz="800" i="1">
                <a:solidFill>
                  <a:srgbClr val="999999"/>
                </a:solidFill>
                <a:latin typeface="Calibri"/>
              </a:rPr>
              <a:t>Sources: Bullfincher, StockAnalysis, Pathfinders Training, Communications Today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The bench that absorbed delivery risk has been systematically eliminated</a:t>
            </a:r>
          </a:p>
        </p:txBody>
      </p:sp>
      <p:sp>
        <p:nvSpPr>
          <p:cNvPr id="5" name="Rounded Rectangle 4"/>
          <p:cNvSpPr/>
          <p:nvPr/>
        </p:nvSpPr>
        <p:spPr>
          <a:xfrm>
            <a:off x="731520" y="1828800"/>
            <a:ext cx="3108960" cy="22860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r>
              <a:rPr sz="2000" b="1">
                <a:solidFill>
                  <a:srgbClr val="1A1A2E"/>
                </a:solidFill>
                <a:latin typeface="Calibri"/>
              </a:rPr>
              <a:t>Bench</a:t>
            </a:r>
          </a:p>
          <a:p>
            <a:pPr algn="ctr">
              <a:spcBef>
                <a:spcPts val="1400"/>
              </a:spcBef>
            </a:pPr>
            <a:r>
              <a:rPr sz="2400" b="1">
                <a:solidFill>
                  <a:srgbClr val="CC3333"/>
                </a:solidFill>
                <a:latin typeface="Calibri"/>
              </a:rPr>
              <a:t>10-15%  →  2-5%</a:t>
            </a:r>
          </a:p>
          <a:p>
            <a:pPr algn="ctr">
              <a:spcBef>
                <a:spcPts val="800"/>
              </a:spcBef>
            </a:pPr>
            <a:r>
              <a:rPr sz="1300">
                <a:solidFill>
                  <a:srgbClr val="999999"/>
                </a:solidFill>
                <a:latin typeface="Calibri"/>
              </a:rPr>
              <a:t/>
            </a:r>
          </a:p>
        </p:txBody>
      </p:sp>
      <p:sp>
        <p:nvSpPr>
          <p:cNvPr id="6" name="Rounded Rectangle 5"/>
          <p:cNvSpPr/>
          <p:nvPr/>
        </p:nvSpPr>
        <p:spPr>
          <a:xfrm>
            <a:off x="4069080" y="1828800"/>
            <a:ext cx="3108960" cy="22860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r>
              <a:rPr sz="2000" b="1">
                <a:solidFill>
                  <a:srgbClr val="1A1A2E"/>
                </a:solidFill>
                <a:latin typeface="Calibri"/>
              </a:rPr>
              <a:t>Utilization</a:t>
            </a:r>
          </a:p>
          <a:p>
            <a:pPr algn="ctr">
              <a:spcBef>
                <a:spcPts val="1400"/>
              </a:spcBef>
            </a:pPr>
            <a:r>
              <a:rPr sz="2400" b="1">
                <a:solidFill>
                  <a:srgbClr val="CC3333"/>
                </a:solidFill>
                <a:latin typeface="Calibri"/>
              </a:rPr>
              <a:t>70-75%  →  83-86%</a:t>
            </a:r>
          </a:p>
          <a:p>
            <a:pPr algn="ctr">
              <a:spcBef>
                <a:spcPts val="800"/>
              </a:spcBef>
            </a:pPr>
            <a:r>
              <a:rPr sz="1300">
                <a:solidFill>
                  <a:srgbClr val="999999"/>
                </a:solidFill>
                <a:latin typeface="Calibri"/>
              </a:rPr>
              <a:t/>
            </a:r>
          </a:p>
        </p:txBody>
      </p:sp>
      <p:sp>
        <p:nvSpPr>
          <p:cNvPr id="7" name="Rounded Rectangle 6"/>
          <p:cNvSpPr/>
          <p:nvPr/>
        </p:nvSpPr>
        <p:spPr>
          <a:xfrm>
            <a:off x="7406640" y="1828800"/>
            <a:ext cx="3108960" cy="22860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r>
              <a:rPr sz="2000" b="1">
                <a:solidFill>
                  <a:srgbClr val="1A1A2E"/>
                </a:solidFill>
                <a:latin typeface="Calibri"/>
              </a:rPr>
              <a:t>TCS Rule</a:t>
            </a:r>
          </a:p>
          <a:p>
            <a:pPr algn="ctr">
              <a:spcBef>
                <a:spcPts val="1400"/>
              </a:spcBef>
            </a:pPr>
            <a:r>
              <a:rPr sz="2800" b="1">
                <a:solidFill>
                  <a:srgbClr val="CC3333"/>
                </a:solidFill>
                <a:latin typeface="Calibri"/>
              </a:rPr>
              <a:t>35 days</a:t>
            </a:r>
          </a:p>
          <a:p>
            <a:pPr algn="ctr">
              <a:spcBef>
                <a:spcPts val="800"/>
              </a:spcBef>
            </a:pPr>
            <a:r>
              <a:rPr sz="1300">
                <a:solidFill>
                  <a:srgbClr val="999999"/>
                </a:solidFill>
                <a:latin typeface="Calibri"/>
              </a:rPr>
              <a:t>Retrain or exit</a:t>
            </a:r>
          </a:p>
        </p:txBody>
      </p:sp>
      <p:sp>
        <p:nvSpPr>
          <p:cNvPr id="8" name="TextBox 7"/>
          <p:cNvSpPr txBox="1"/>
          <p:nvPr/>
        </p:nvSpPr>
        <p:spPr>
          <a:xfrm>
            <a:off x="731520" y="6400800"/>
            <a:ext cx="10698480" cy="365760"/>
          </a:xfrm>
          <a:prstGeom prst="rect">
            <a:avLst/>
          </a:prstGeom>
          <a:noFill/>
        </p:spPr>
        <p:txBody>
          <a:bodyPr wrap="square">
            <a:spAutoFit/>
          </a:bodyPr>
          <a:lstStyle/>
          <a:p>
            <a:r>
              <a:rPr sz="800" i="1">
                <a:solidFill>
                  <a:srgbClr val="999999"/>
                </a:solidFill>
                <a:latin typeface="Calibri"/>
              </a:rPr>
              <a:t>Sources: Trak.in, Economic Times, NiftyTrader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Customers want $150K AI projects — the firms serving them can't deliver below $3M profitably</a:t>
            </a:r>
          </a:p>
        </p:txBody>
      </p:sp>
      <p:sp>
        <p:nvSpPr>
          <p:cNvPr id="5" name="Rounded Rectangle 4"/>
          <p:cNvSpPr/>
          <p:nvPr/>
        </p:nvSpPr>
        <p:spPr>
          <a:xfrm>
            <a:off x="731520" y="1828800"/>
            <a:ext cx="3200400" cy="146304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r>
              <a:rPr sz="1600" b="1">
                <a:solidFill>
                  <a:srgbClr val="1A1A2E"/>
                </a:solidFill>
                <a:latin typeface="Calibri"/>
              </a:rPr>
              <a:t>1. Shorter commitments</a:t>
            </a:r>
          </a:p>
          <a:p>
            <a:pPr>
              <a:spcBef>
                <a:spcPts val="800"/>
              </a:spcBef>
            </a:pPr>
            <a:r>
              <a:rPr sz="1300">
                <a:solidFill>
                  <a:srgbClr val="999999"/>
                </a:solidFill>
                <a:latin typeface="Calibri"/>
              </a:rPr>
              <a:t>Annual renewals replacing multi-year lock-ins</a:t>
            </a:r>
          </a:p>
        </p:txBody>
      </p:sp>
      <p:sp>
        <p:nvSpPr>
          <p:cNvPr id="6" name="Rounded Rectangle 5"/>
          <p:cNvSpPr/>
          <p:nvPr/>
        </p:nvSpPr>
        <p:spPr>
          <a:xfrm>
            <a:off x="4114800" y="1828800"/>
            <a:ext cx="3200400" cy="146304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r>
              <a:rPr sz="1600" b="1">
                <a:solidFill>
                  <a:srgbClr val="1A1A2E"/>
                </a:solidFill>
                <a:latin typeface="Calibri"/>
              </a:rPr>
              <a:t>2. Smaller, faster AI engagements</a:t>
            </a:r>
          </a:p>
          <a:p>
            <a:pPr>
              <a:spcBef>
                <a:spcPts val="800"/>
              </a:spcBef>
            </a:pPr>
            <a:r>
              <a:rPr sz="1300">
                <a:solidFill>
                  <a:srgbClr val="999999"/>
                </a:solidFill>
                <a:latin typeface="Calibri"/>
              </a:rPr>
              <a:t>$150K-$300K alongside multi-million dollar contracts</a:t>
            </a:r>
          </a:p>
        </p:txBody>
      </p:sp>
      <p:sp>
        <p:nvSpPr>
          <p:cNvPr id="7" name="Rounded Rectangle 6"/>
          <p:cNvSpPr/>
          <p:nvPr/>
        </p:nvSpPr>
        <p:spPr>
          <a:xfrm>
            <a:off x="7498080" y="1828800"/>
            <a:ext cx="3200400" cy="146304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r>
              <a:rPr sz="1600" b="1">
                <a:solidFill>
                  <a:srgbClr val="1A1A2E"/>
                </a:solidFill>
                <a:latin typeface="Calibri"/>
              </a:rPr>
              <a:t>3. Overhead per deal is constant</a:t>
            </a:r>
          </a:p>
          <a:p>
            <a:pPr>
              <a:spcBef>
                <a:spcPts val="800"/>
              </a:spcBef>
            </a:pPr>
            <a:r>
              <a:rPr sz="1300">
                <a:solidFill>
                  <a:srgbClr val="999999"/>
                </a:solidFill>
                <a:latin typeface="Calibri"/>
              </a:rPr>
              <a:t>The cost of processing a $300K deal approaches the cost of processing a $30M deal</a:t>
            </a:r>
          </a:p>
        </p:txBody>
      </p:sp>
      <p:sp>
        <p:nvSpPr>
          <p:cNvPr id="8" name="Rectangle 7"/>
          <p:cNvSpPr/>
          <p:nvPr/>
        </p:nvSpPr>
        <p:spPr>
          <a:xfrm>
            <a:off x="731520" y="3840480"/>
            <a:ext cx="54864" cy="640080"/>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840480"/>
            <a:ext cx="10058400" cy="640080"/>
          </a:xfrm>
          <a:prstGeom prst="rect">
            <a:avLst/>
          </a:prstGeom>
          <a:noFill/>
        </p:spPr>
        <p:txBody>
          <a:bodyPr wrap="square">
            <a:spAutoFit/>
          </a:bodyPr>
          <a:lstStyle/>
          <a:p>
            <a:r>
              <a:rPr sz="1500" i="1">
                <a:solidFill>
                  <a:srgbClr val="2D2D2D"/>
                </a:solidFill>
                <a:latin typeface="Calibri"/>
              </a:rPr>
              <a:t>Firms must serve deals from $30K to $300M. Their cost structure makes them unprofitable below a threshold most don't know.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This is not a prediction — the public markets are pricing it in now</a:t>
            </a:r>
          </a:p>
        </p:txBody>
      </p:sp>
      <p:sp>
        <p:nvSpPr>
          <p:cNvPr id="5" name="TextBox 4"/>
          <p:cNvSpPr txBox="1"/>
          <p:nvPr/>
        </p:nvSpPr>
        <p:spPr>
          <a:xfrm>
            <a:off x="731520" y="1463040"/>
            <a:ext cx="5029200" cy="365760"/>
          </a:xfrm>
          <a:prstGeom prst="rect">
            <a:avLst/>
          </a:prstGeom>
          <a:noFill/>
        </p:spPr>
        <p:txBody>
          <a:bodyPr wrap="none">
            <a:spAutoFit/>
          </a:bodyPr>
          <a:lstStyle/>
          <a:p>
            <a:r>
              <a:rPr sz="1400" b="1">
                <a:solidFill>
                  <a:srgbClr val="999999"/>
                </a:solidFill>
                <a:latin typeface="Calibri"/>
              </a:rPr>
              <a:t>Stock reactions on AI agent launches (single session)</a:t>
            </a:r>
          </a:p>
        </p:txBody>
      </p:sp>
      <p:sp>
        <p:nvSpPr>
          <p:cNvPr id="6" name="Rectangle 5"/>
          <p:cNvSpPr/>
          <p:nvPr/>
        </p:nvSpPr>
        <p:spPr>
          <a:xfrm>
            <a:off x="731520" y="2011680"/>
            <a:ext cx="4114800" cy="548640"/>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84832"/>
            <a:ext cx="4023360" cy="457200"/>
          </a:xfrm>
          <a:prstGeom prst="rect">
            <a:avLst/>
          </a:prstGeom>
          <a:noFill/>
        </p:spPr>
        <p:txBody>
          <a:bodyPr wrap="none">
            <a:spAutoFit/>
          </a:bodyPr>
          <a:lstStyle/>
          <a:p>
            <a:r>
              <a:rPr sz="1400" b="1">
                <a:solidFill>
                  <a:srgbClr val="FFFFFF"/>
                </a:solidFill>
                <a:latin typeface="Calibri"/>
              </a:rPr>
              <a:t>Cognizant: ~-10%</a:t>
            </a:r>
          </a:p>
        </p:txBody>
      </p:sp>
      <p:sp>
        <p:nvSpPr>
          <p:cNvPr id="8" name="Rectangle 7"/>
          <p:cNvSpPr/>
          <p:nvPr/>
        </p:nvSpPr>
        <p:spPr>
          <a:xfrm>
            <a:off x="731520" y="2834640"/>
            <a:ext cx="3456432" cy="548640"/>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907792"/>
            <a:ext cx="3364992" cy="457200"/>
          </a:xfrm>
          <a:prstGeom prst="rect">
            <a:avLst/>
          </a:prstGeom>
          <a:noFill/>
        </p:spPr>
        <p:txBody>
          <a:bodyPr wrap="none">
            <a:spAutoFit/>
          </a:bodyPr>
          <a:lstStyle/>
          <a:p>
            <a:r>
              <a:rPr sz="1400" b="1">
                <a:solidFill>
                  <a:srgbClr val="FFFFFF"/>
                </a:solidFill>
                <a:latin typeface="Calibri"/>
              </a:rPr>
              <a:t>Infosys ADRs: -8.4%</a:t>
            </a:r>
          </a:p>
        </p:txBody>
      </p:sp>
      <p:sp>
        <p:nvSpPr>
          <p:cNvPr id="10" name="Rectangle 9"/>
          <p:cNvSpPr/>
          <p:nvPr/>
        </p:nvSpPr>
        <p:spPr>
          <a:xfrm>
            <a:off x="731520" y="3657600"/>
            <a:ext cx="2468880" cy="548640"/>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730752"/>
            <a:ext cx="2377440" cy="457200"/>
          </a:xfrm>
          <a:prstGeom prst="rect">
            <a:avLst/>
          </a:prstGeom>
          <a:noFill/>
        </p:spPr>
        <p:txBody>
          <a:bodyPr wrap="none">
            <a:spAutoFit/>
          </a:bodyPr>
          <a:lstStyle/>
          <a:p>
            <a:r>
              <a:rPr sz="1400" b="1">
                <a:solidFill>
                  <a:srgbClr val="FFFFFF"/>
                </a:solidFill>
                <a:latin typeface="Calibri"/>
              </a:rPr>
              <a:t>Nifty IT: -6%</a:t>
            </a:r>
          </a:p>
        </p:txBody>
      </p:sp>
      <p:sp>
        <p:nvSpPr>
          <p:cNvPr id="12" name="Rectangle 11"/>
          <p:cNvSpPr/>
          <p:nvPr/>
        </p:nvSpPr>
        <p:spPr>
          <a:xfrm>
            <a:off x="731520" y="4480560"/>
            <a:ext cx="1851660" cy="548640"/>
          </a:xfrm>
          <a:prstGeom prst="rect">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53712"/>
            <a:ext cx="1760220" cy="457200"/>
          </a:xfrm>
          <a:prstGeom prst="rect">
            <a:avLst/>
          </a:prstGeom>
          <a:noFill/>
        </p:spPr>
        <p:txBody>
          <a:bodyPr wrap="none">
            <a:spAutoFit/>
          </a:bodyPr>
          <a:lstStyle/>
          <a:p>
            <a:r>
              <a:rPr sz="1400" b="1">
                <a:solidFill>
                  <a:srgbClr val="FFFFFF"/>
                </a:solidFill>
                <a:latin typeface="Calibri"/>
              </a:rPr>
              <a:t>Wipro: -4.5%</a:t>
            </a:r>
          </a:p>
        </p:txBody>
      </p:sp>
      <p:sp>
        <p:nvSpPr>
          <p:cNvPr id="14" name="TextBox 13"/>
          <p:cNvSpPr txBox="1"/>
          <p:nvPr/>
        </p:nvSpPr>
        <p:spPr>
          <a:xfrm>
            <a:off x="6217920" y="1463040"/>
            <a:ext cx="5029200" cy="365760"/>
          </a:xfrm>
          <a:prstGeom prst="rect">
            <a:avLst/>
          </a:prstGeom>
          <a:noFill/>
        </p:spPr>
        <p:txBody>
          <a:bodyPr wrap="none">
            <a:spAutoFit/>
          </a:bodyPr>
          <a:lstStyle/>
          <a:p>
            <a:r>
              <a:rPr sz="1400" b="1">
                <a:solidFill>
                  <a:srgbClr val="999999"/>
                </a:solidFill>
                <a:latin typeface="Calibri"/>
              </a:rPr>
              <a:t>Hiring collapse</a:t>
            </a:r>
          </a:p>
        </p:txBody>
      </p:sp>
      <p:sp>
        <p:nvSpPr>
          <p:cNvPr id="15" name="TextBox 14"/>
          <p:cNvSpPr txBox="1"/>
          <p:nvPr/>
        </p:nvSpPr>
        <p:spPr>
          <a:xfrm>
            <a:off x="6217920" y="2011680"/>
            <a:ext cx="5029200" cy="2743200"/>
          </a:xfrm>
          <a:prstGeom prst="rect">
            <a:avLst/>
          </a:prstGeom>
          <a:noFill/>
        </p:spPr>
        <p:txBody>
          <a:bodyPr wrap="square">
            <a:spAutoFit/>
          </a:bodyPr>
          <a:lstStyle/>
          <a:p>
            <a:pPr>
              <a:spcBef>
                <a:spcPts val="1600"/>
              </a:spcBef>
            </a:pPr>
            <a:r>
              <a:rPr sz="1800">
                <a:solidFill>
                  <a:srgbClr val="2D2D2D"/>
                </a:solidFill>
                <a:latin typeface="Calibri"/>
              </a:rPr>
              <a:t>TCS cut 11,000 in one quarter</a:t>
            </a:r>
          </a:p>
          <a:p>
            <a:pPr>
              <a:spcBef>
                <a:spcPts val="1600"/>
              </a:spcBef>
            </a:pPr>
            <a:r>
              <a:rPr sz="1800">
                <a:solidFill>
                  <a:srgbClr val="2D2D2D"/>
                </a:solidFill>
                <a:latin typeface="Calibri"/>
              </a:rPr>
              <a:t>Big Four historically hired 10,000+/quarter</a:t>
            </a:r>
          </a:p>
          <a:p>
            <a:pPr>
              <a:spcBef>
                <a:spcPts val="1600"/>
              </a:spcBef>
            </a:pPr>
            <a:r>
              <a:rPr sz="1800">
                <a:solidFill>
                  <a:srgbClr val="2D2D2D"/>
                </a:solidFill>
                <a:latin typeface="Calibri"/>
              </a:rPr>
              <a:t>Revenue growth: 15-20% → low single digits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Making engineers faster doesn't make the firm faster — the bottleneck just moves</a:t>
            </a:r>
          </a:p>
        </p:txBody>
      </p:sp>
      <p:sp>
        <p:nvSpPr>
          <p:cNvPr id="5" name="Rounded Rectangle 4"/>
          <p:cNvSpPr/>
          <p:nvPr/>
        </p:nvSpPr>
        <p:spPr>
          <a:xfrm>
            <a:off x="457200" y="2286000"/>
            <a:ext cx="1188720" cy="64008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2D2D2D"/>
                </a:solidFill>
                <a:latin typeface="Calibri"/>
              </a:rPr>
              <a:t>Pre-sales</a:t>
            </a:r>
          </a:p>
        </p:txBody>
      </p:sp>
      <p:sp>
        <p:nvSpPr>
          <p:cNvPr id="6" name="Right Arrow 5"/>
          <p:cNvSpPr/>
          <p:nvPr/>
        </p:nvSpPr>
        <p:spPr>
          <a:xfrm>
            <a:off x="1645920" y="2468880"/>
            <a:ext cx="137160" cy="27432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83080" y="2286000"/>
            <a:ext cx="1188720" cy="64008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2D2D2D"/>
                </a:solidFill>
                <a:latin typeface="Calibri"/>
              </a:rPr>
              <a:t>Legal</a:t>
            </a:r>
          </a:p>
        </p:txBody>
      </p:sp>
      <p:sp>
        <p:nvSpPr>
          <p:cNvPr id="8" name="Right Arrow 7"/>
          <p:cNvSpPr/>
          <p:nvPr/>
        </p:nvSpPr>
        <p:spPr>
          <a:xfrm>
            <a:off x="2971800" y="2468880"/>
            <a:ext cx="137160" cy="27432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08960" y="2286000"/>
            <a:ext cx="1188720" cy="64008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2D2D2D"/>
                </a:solidFill>
                <a:latin typeface="Calibri"/>
              </a:rPr>
              <a:t>Compliance</a:t>
            </a:r>
          </a:p>
        </p:txBody>
      </p:sp>
      <p:sp>
        <p:nvSpPr>
          <p:cNvPr id="10" name="Right Arrow 9"/>
          <p:cNvSpPr/>
          <p:nvPr/>
        </p:nvSpPr>
        <p:spPr>
          <a:xfrm>
            <a:off x="4297680" y="2468880"/>
            <a:ext cx="137160" cy="27432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34840" y="2286000"/>
            <a:ext cx="1188720" cy="64008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2D2D2D"/>
                </a:solidFill>
                <a:latin typeface="Calibri"/>
              </a:rPr>
              <a:t>Staffing</a:t>
            </a:r>
          </a:p>
        </p:txBody>
      </p:sp>
      <p:sp>
        <p:nvSpPr>
          <p:cNvPr id="12" name="Right Arrow 11"/>
          <p:cNvSpPr/>
          <p:nvPr/>
        </p:nvSpPr>
        <p:spPr>
          <a:xfrm>
            <a:off x="5623560" y="2468880"/>
            <a:ext cx="137160" cy="27432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2286000"/>
            <a:ext cx="1188720" cy="6400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ENGINEERING</a:t>
            </a:r>
          </a:p>
        </p:txBody>
      </p:sp>
      <p:sp>
        <p:nvSpPr>
          <p:cNvPr id="14" name="Right Arrow 13"/>
          <p:cNvSpPr/>
          <p:nvPr/>
        </p:nvSpPr>
        <p:spPr>
          <a:xfrm>
            <a:off x="6949440" y="2468880"/>
            <a:ext cx="137160" cy="27432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086600" y="2286000"/>
            <a:ext cx="1188720" cy="64008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2D2D2D"/>
                </a:solidFill>
                <a:latin typeface="Calibri"/>
              </a:rPr>
              <a:t>QA</a:t>
            </a:r>
          </a:p>
        </p:txBody>
      </p:sp>
      <p:sp>
        <p:nvSpPr>
          <p:cNvPr id="16" name="Right Arrow 15"/>
          <p:cNvSpPr/>
          <p:nvPr/>
        </p:nvSpPr>
        <p:spPr>
          <a:xfrm>
            <a:off x="8275320" y="2468880"/>
            <a:ext cx="137160" cy="27432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412480" y="2286000"/>
            <a:ext cx="1188720" cy="64008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2D2D2D"/>
                </a:solidFill>
                <a:latin typeface="Calibri"/>
              </a:rPr>
              <a:t>PM</a:t>
            </a:r>
          </a:p>
        </p:txBody>
      </p:sp>
      <p:sp>
        <p:nvSpPr>
          <p:cNvPr id="18" name="Right Arrow 17"/>
          <p:cNvSpPr/>
          <p:nvPr/>
        </p:nvSpPr>
        <p:spPr>
          <a:xfrm>
            <a:off x="9601200" y="2468880"/>
            <a:ext cx="137160" cy="27432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38360" y="2286000"/>
            <a:ext cx="1188720" cy="64008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2D2D2D"/>
                </a:solidFill>
                <a:latin typeface="Calibri"/>
              </a:rPr>
              <a:t>Delivery</a:t>
            </a:r>
          </a:p>
        </p:txBody>
      </p:sp>
      <p:sp>
        <p:nvSpPr>
          <p:cNvPr id="20" name="TextBox 19"/>
          <p:cNvSpPr txBox="1"/>
          <p:nvPr/>
        </p:nvSpPr>
        <p:spPr>
          <a:xfrm>
            <a:off x="731520" y="3474720"/>
            <a:ext cx="10515600" cy="1097280"/>
          </a:xfrm>
          <a:prstGeom prst="rect">
            <a:avLst/>
          </a:prstGeom>
          <a:noFill/>
        </p:spPr>
        <p:txBody>
          <a:bodyPr wrap="square">
            <a:spAutoFit/>
          </a:bodyPr>
          <a:lstStyle/>
          <a:p>
            <a:r>
              <a:rPr sz="1800">
                <a:solidFill>
                  <a:srgbClr val="2D2D2D"/>
                </a:solidFill>
                <a:latin typeface="Calibri"/>
              </a:rPr>
              <a:t>Grant 10x engineering speed. The bottleneck moves to legal.
Then compliance. Then pre-sales.
Friction per unit of revenue stays the same.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35-50% of delivery cost is organizational friction, not engineering</a:t>
            </a:r>
          </a:p>
        </p:txBody>
      </p:sp>
      <p:sp>
        <p:nvSpPr>
          <p:cNvPr id="5" name="Rounded Rectangle 4"/>
          <p:cNvSpPr/>
          <p:nvPr/>
        </p:nvSpPr>
        <p:spPr>
          <a:xfrm>
            <a:off x="731520" y="1828800"/>
            <a:ext cx="5029200" cy="10972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ctr"/>
            <a:r>
              <a:rPr sz="2200" b="1">
                <a:solidFill>
                  <a:srgbClr val="FFFFFF"/>
                </a:solidFill>
                <a:latin typeface="Calibri"/>
              </a:rPr>
              <a:t>Engineering: 50-65%</a:t>
            </a:r>
          </a:p>
        </p:txBody>
      </p:sp>
      <p:sp>
        <p:nvSpPr>
          <p:cNvPr id="6" name="Rounded Rectangle 5"/>
          <p:cNvSpPr/>
          <p:nvPr/>
        </p:nvSpPr>
        <p:spPr>
          <a:xfrm>
            <a:off x="6217920" y="1828800"/>
            <a:ext cx="1417320" cy="4572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Selling &amp; scoping</a:t>
            </a:r>
          </a:p>
        </p:txBody>
      </p:sp>
      <p:sp>
        <p:nvSpPr>
          <p:cNvPr id="7" name="Rounded Rectangle 6"/>
          <p:cNvSpPr/>
          <p:nvPr/>
        </p:nvSpPr>
        <p:spPr>
          <a:xfrm>
            <a:off x="7726680" y="1828800"/>
            <a:ext cx="1417320" cy="4572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Legal review</a:t>
            </a:r>
          </a:p>
        </p:txBody>
      </p:sp>
      <p:sp>
        <p:nvSpPr>
          <p:cNvPr id="8" name="Rounded Rectangle 7"/>
          <p:cNvSpPr/>
          <p:nvPr/>
        </p:nvSpPr>
        <p:spPr>
          <a:xfrm>
            <a:off x="9235440" y="1828800"/>
            <a:ext cx="1417320" cy="4572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Compliance</a:t>
            </a:r>
          </a:p>
        </p:txBody>
      </p:sp>
      <p:sp>
        <p:nvSpPr>
          <p:cNvPr id="9" name="Rounded Rectangle 8"/>
          <p:cNvSpPr/>
          <p:nvPr/>
        </p:nvSpPr>
        <p:spPr>
          <a:xfrm>
            <a:off x="10744200" y="1828800"/>
            <a:ext cx="1417320" cy="4572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Staffing</a:t>
            </a:r>
          </a:p>
        </p:txBody>
      </p:sp>
      <p:sp>
        <p:nvSpPr>
          <p:cNvPr id="10" name="Rounded Rectangle 9"/>
          <p:cNvSpPr/>
          <p:nvPr/>
        </p:nvSpPr>
        <p:spPr>
          <a:xfrm>
            <a:off x="6217920" y="2377440"/>
            <a:ext cx="1417320" cy="4572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Project management</a:t>
            </a:r>
          </a:p>
        </p:txBody>
      </p:sp>
      <p:sp>
        <p:nvSpPr>
          <p:cNvPr id="11" name="Rounded Rectangle 10"/>
          <p:cNvSpPr/>
          <p:nvPr/>
        </p:nvSpPr>
        <p:spPr>
          <a:xfrm>
            <a:off x="7726680" y="2377440"/>
            <a:ext cx="1417320" cy="4572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Knowledge transfer</a:t>
            </a:r>
          </a:p>
        </p:txBody>
      </p:sp>
      <p:sp>
        <p:nvSpPr>
          <p:cNvPr id="12" name="Rounded Rectangle 11"/>
          <p:cNvSpPr/>
          <p:nvPr/>
        </p:nvSpPr>
        <p:spPr>
          <a:xfrm>
            <a:off x="9235440" y="2377440"/>
            <a:ext cx="1417320" cy="4572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Documentation &amp; renewal</a:t>
            </a:r>
          </a:p>
        </p:txBody>
      </p:sp>
      <p:sp>
        <p:nvSpPr>
          <p:cNvPr id="13" name="TextBox 12"/>
          <p:cNvSpPr txBox="1"/>
          <p:nvPr/>
        </p:nvSpPr>
        <p:spPr>
          <a:xfrm>
            <a:off x="6217920" y="2926080"/>
            <a:ext cx="5029200" cy="365760"/>
          </a:xfrm>
          <a:prstGeom prst="rect">
            <a:avLst/>
          </a:prstGeom>
          <a:noFill/>
        </p:spPr>
        <p:txBody>
          <a:bodyPr wrap="none">
            <a:spAutoFit/>
          </a:bodyPr>
          <a:lstStyle/>
          <a:p>
            <a:r>
              <a:rPr sz="1800" b="1">
                <a:solidFill>
                  <a:srgbClr val="CC3333"/>
                </a:solidFill>
                <a:latin typeface="Calibri"/>
              </a:rPr>
              <a:t>Organizational friction: 35-50%</a:t>
            </a:r>
          </a:p>
        </p:txBody>
      </p:sp>
      <p:sp>
        <p:nvSpPr>
          <p:cNvPr id="14" name="Rounded Rectangle 13"/>
          <p:cNvSpPr/>
          <p:nvPr/>
        </p:nvSpPr>
        <p:spPr>
          <a:xfrm>
            <a:off x="731520" y="3840480"/>
            <a:ext cx="10515600" cy="82296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ctr"/>
            <a:r>
              <a:rPr sz="1600" b="1">
                <a:solidFill>
                  <a:srgbClr val="00B4A0"/>
                </a:solidFill>
                <a:latin typeface="Calibri"/>
              </a:rPr>
              <a:t>Friction per unit of revenue</a:t>
            </a:r>
            <a:r>
              <a:rPr sz="1600">
                <a:solidFill>
                  <a:srgbClr val="CCCCCC"/>
                </a:solidFill>
                <a:latin typeface="Calibri"/>
              </a:rPr>
              <a:t> = total cost (time + money) to move $1 from first conversation to delivered outcome</a:t>
            </a:r>
          </a:p>
        </p:txBody>
      </p:sp>
      <p:sp>
        <p:nvSpPr>
          <p:cNvPr id="15" name="TextBox 14"/>
          <p:cNvSpPr txBox="1"/>
          <p:nvPr/>
        </p:nvSpPr>
        <p:spPr>
          <a:xfrm>
            <a:off x="731520" y="6400800"/>
            <a:ext cx="10698480" cy="365760"/>
          </a:xfrm>
          <a:prstGeom prst="rect">
            <a:avLst/>
          </a:prstGeom>
          <a:noFill/>
        </p:spPr>
        <p:txBody>
          <a:bodyPr wrap="square">
            <a:spAutoFit/>
          </a:bodyPr>
          <a:lstStyle/>
          <a:p>
            <a:r>
              <a:rPr sz="800" i="1">
                <a:solidFill>
                  <a:srgbClr val="999999"/>
                </a:solidFill>
                <a:latin typeface="Calibri"/>
              </a:rPr>
              <a:t>Source: APQC benchmarks; Accenture SG&amp;A ~17% of revenue before delivery costs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Minimize friction per unit of revenue and you can profitably serve $30K and $30M with the same margin</a:t>
            </a:r>
          </a:p>
        </p:txBody>
      </p:sp>
      <p:sp>
        <p:nvSpPr>
          <p:cNvPr id="5" name="Rounded Rectangle 4"/>
          <p:cNvSpPr/>
          <p:nvPr/>
        </p:nvSpPr>
        <p:spPr>
          <a:xfrm>
            <a:off x="731520" y="1828800"/>
            <a:ext cx="4846320" cy="2286000"/>
          </a:xfrm>
          <a:prstGeom prst="roundRect">
            <a:avLst/>
          </a:prstGeom>
          <a:solidFill>
            <a:srgbClr val="F5F5F5"/>
          </a:solidFill>
          <a:ln w="38100">
            <a:solidFill>
              <a:srgbClr val="CC3333"/>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r>
              <a:rPr sz="2200" b="1">
                <a:solidFill>
                  <a:srgbClr val="1A1A2E"/>
                </a:solidFill>
                <a:latin typeface="Calibri"/>
              </a:rPr>
              <a:t>Traditional model</a:t>
            </a:r>
          </a:p>
          <a:p>
            <a:pPr>
              <a:spcBef>
                <a:spcPts val="1200"/>
              </a:spcBef>
            </a:pPr>
            <a:r>
              <a:rPr sz="1600">
                <a:solidFill>
                  <a:srgbClr val="2D2D2D"/>
                </a:solidFill>
                <a:latin typeface="Calibri"/>
              </a:rPr>
              <a:t>Overhead per deal is constant
→ Unprofitable below threshold
→ Optimized for deal SIZE</a:t>
            </a:r>
          </a:p>
        </p:txBody>
      </p:sp>
      <p:sp>
        <p:nvSpPr>
          <p:cNvPr id="6" name="Rounded Rectangle 5"/>
          <p:cNvSpPr/>
          <p:nvPr/>
        </p:nvSpPr>
        <p:spPr>
          <a:xfrm>
            <a:off x="6035040" y="1828800"/>
            <a:ext cx="4846320" cy="2286000"/>
          </a:xfrm>
          <a:prstGeom prst="roundRect">
            <a:avLst/>
          </a:prstGeom>
          <a:solidFill>
            <a:srgbClr val="F5F5F5"/>
          </a:solidFill>
          <a:ln w="38100">
            <a:solidFill>
              <a:srgbClr val="33AA55"/>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r>
              <a:rPr sz="2200" b="1">
                <a:solidFill>
                  <a:srgbClr val="1A1A2E"/>
                </a:solidFill>
                <a:latin typeface="Calibri"/>
              </a:rPr>
              <a:t>Low-friction model</a:t>
            </a:r>
          </a:p>
          <a:p>
            <a:pPr>
              <a:spcBef>
                <a:spcPts val="1200"/>
              </a:spcBef>
            </a:pPr>
            <a:r>
              <a:rPr sz="1600">
                <a:solidFill>
                  <a:srgbClr val="2D2D2D"/>
                </a:solidFill>
                <a:latin typeface="Calibri"/>
              </a:rPr>
              <a:t>Overhead scales with deal
→ Profitable at any size
→ Optimized for deal VELOCITY</a:t>
            </a:r>
          </a:p>
        </p:txBody>
      </p:sp>
      <p:sp>
        <p:nvSpPr>
          <p:cNvPr id="7" name="Rectangle 6"/>
          <p:cNvSpPr/>
          <p:nvPr/>
        </p:nvSpPr>
        <p:spPr>
          <a:xfrm>
            <a:off x="731520" y="4754880"/>
            <a:ext cx="54864" cy="640080"/>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754880"/>
            <a:ext cx="10058400" cy="640080"/>
          </a:xfrm>
          <a:prstGeom prst="rect">
            <a:avLst/>
          </a:prstGeom>
          <a:noFill/>
        </p:spPr>
        <p:txBody>
          <a:bodyPr wrap="square">
            <a:spAutoFit/>
          </a:bodyPr>
          <a:lstStyle/>
          <a:p>
            <a:r>
              <a:rPr sz="1500" i="1">
                <a:solidFill>
                  <a:srgbClr val="2D2D2D"/>
                </a:solidFill>
                <a:latin typeface="Calibri"/>
              </a:rPr>
              <a:t>Deal frequency is rising. Deal size is falling. The firm optimized for velocity has a structural advantage that compounds with every deal closed.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$3B in AI spend doesn't fix a structural problem — Accenture's model requires the friction it's trying to eliminate</a:t>
            </a:r>
          </a:p>
        </p:txBody>
      </p:sp>
      <p:sp>
        <p:nvSpPr>
          <p:cNvPr id="5" name="Rounded Rectangle 4"/>
          <p:cNvSpPr/>
          <p:nvPr/>
        </p:nvSpPr>
        <p:spPr>
          <a:xfrm>
            <a:off x="731520" y="1645920"/>
            <a:ext cx="3108960" cy="25603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a:lstStyle/>
          <a:p>
            <a:pPr algn="ctr"/>
            <a:r>
              <a:rPr sz="1600" b="1">
                <a:solidFill>
                  <a:srgbClr val="1A1A2E"/>
                </a:solidFill>
                <a:latin typeface="Calibri"/>
              </a:rPr>
              <a:t>Procure AI tools
for engineers</a:t>
            </a:r>
          </a:p>
          <a:p>
            <a:pPr algn="ctr">
              <a:spcBef>
                <a:spcPts val="1600"/>
              </a:spcBef>
            </a:pPr>
            <a:r>
              <a:rPr sz="3600">
                <a:solidFill>
                  <a:srgbClr val="CC3333"/>
                </a:solidFill>
                <a:latin typeface="Calibri"/>
              </a:rPr>
              <a:t>✗</a:t>
            </a:r>
          </a:p>
          <a:p>
            <a:pPr algn="ctr">
              <a:spcBef>
                <a:spcPts val="800"/>
              </a:spcBef>
            </a:pPr>
            <a:r>
              <a:rPr sz="1400" i="1">
                <a:solidFill>
                  <a:srgbClr val="999999"/>
                </a:solidFill>
                <a:latin typeface="Calibri"/>
              </a:rPr>
              <a:t>Relocates bottleneck</a:t>
            </a:r>
          </a:p>
        </p:txBody>
      </p:sp>
      <p:sp>
        <p:nvSpPr>
          <p:cNvPr id="6" name="Rounded Rectangle 5"/>
          <p:cNvSpPr/>
          <p:nvPr/>
        </p:nvSpPr>
        <p:spPr>
          <a:xfrm>
            <a:off x="4206240" y="1645920"/>
            <a:ext cx="3108960" cy="25603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a:lstStyle/>
          <a:p>
            <a:pPr algn="ctr"/>
            <a:r>
              <a:rPr sz="1600" b="1">
                <a:solidFill>
                  <a:srgbClr val="1A1A2E"/>
                </a:solidFill>
                <a:latin typeface="Calibri"/>
              </a:rPr>
              <a:t>Rebrand revenue as
"AI consulting"</a:t>
            </a:r>
          </a:p>
          <a:p>
            <a:pPr algn="ctr">
              <a:spcBef>
                <a:spcPts val="1600"/>
              </a:spcBef>
            </a:pPr>
            <a:r>
              <a:rPr sz="3600">
                <a:solidFill>
                  <a:srgbClr val="CC3333"/>
                </a:solidFill>
                <a:latin typeface="Calibri"/>
              </a:rPr>
              <a:t>✗</a:t>
            </a:r>
          </a:p>
          <a:p>
            <a:pPr algn="ctr">
              <a:spcBef>
                <a:spcPts val="800"/>
              </a:spcBef>
            </a:pPr>
            <a:r>
              <a:rPr sz="1400" i="1">
                <a:solidFill>
                  <a:srgbClr val="999999"/>
                </a:solidFill>
                <a:latin typeface="Calibri"/>
              </a:rPr>
              <a:t>Optics, not structure</a:t>
            </a:r>
          </a:p>
        </p:txBody>
      </p:sp>
      <p:sp>
        <p:nvSpPr>
          <p:cNvPr id="7" name="Rounded Rectangle 6"/>
          <p:cNvSpPr/>
          <p:nvPr/>
        </p:nvSpPr>
        <p:spPr>
          <a:xfrm>
            <a:off x="7680960" y="1645920"/>
            <a:ext cx="3108960" cy="25603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a:lstStyle/>
          <a:p>
            <a:pPr algn="ctr"/>
            <a:r>
              <a:rPr sz="1600" b="1">
                <a:solidFill>
                  <a:srgbClr val="1A1A2E"/>
                </a:solidFill>
                <a:latin typeface="Calibri"/>
              </a:rPr>
              <a:t>Acquire AI startups</a:t>
            </a:r>
          </a:p>
          <a:p>
            <a:pPr algn="ctr">
              <a:spcBef>
                <a:spcPts val="1600"/>
              </a:spcBef>
            </a:pPr>
            <a:r>
              <a:rPr sz="3600">
                <a:solidFill>
                  <a:srgbClr val="CC3333"/>
                </a:solidFill>
                <a:latin typeface="Calibri"/>
              </a:rPr>
              <a:t>✗</a:t>
            </a:r>
          </a:p>
          <a:p>
            <a:pPr algn="ctr">
              <a:spcBef>
                <a:spcPts val="800"/>
              </a:spcBef>
            </a:pPr>
            <a:r>
              <a:rPr sz="1400" i="1">
                <a:solidFill>
                  <a:srgbClr val="999999"/>
                </a:solidFill>
                <a:latin typeface="Calibri"/>
              </a:rPr>
              <a:t>Incompatible operating
structures</a:t>
            </a:r>
          </a:p>
        </p:txBody>
      </p:sp>
      <p:sp>
        <p:nvSpPr>
          <p:cNvPr id="8" name="TextBox 7"/>
          <p:cNvSpPr txBox="1"/>
          <p:nvPr/>
        </p:nvSpPr>
        <p:spPr>
          <a:xfrm>
            <a:off x="1371600" y="4754880"/>
            <a:ext cx="9144000" cy="731520"/>
          </a:xfrm>
          <a:prstGeom prst="rect">
            <a:avLst/>
          </a:prstGeom>
          <a:noFill/>
        </p:spPr>
        <p:txBody>
          <a:bodyPr wrap="square">
            <a:spAutoFit/>
          </a:bodyPr>
          <a:lstStyle/>
          <a:p>
            <a:pPr algn="ctr"/>
            <a:r>
              <a:rPr sz="1800" i="1">
                <a:solidFill>
                  <a:srgbClr val="00B4A0"/>
                </a:solidFill>
                <a:latin typeface="Calibri"/>
              </a:rPr>
              <a:t>"A container shipping company cannot pivot to same-day drone delivery by buying drones."</a:t>
            </a:r>
          </a:p>
        </p:txBody>
      </p:sp>
      <p:sp>
        <p:nvSpPr>
          <p:cNvPr id="9" name="TextBox 8"/>
          <p:cNvSpPr txBox="1"/>
          <p:nvPr/>
        </p:nvSpPr>
        <p:spPr>
          <a:xfrm>
            <a:off x="731520" y="6400800"/>
            <a:ext cx="10698480" cy="365760"/>
          </a:xfrm>
          <a:prstGeom prst="rect">
            <a:avLst/>
          </a:prstGeom>
          <a:noFill/>
        </p:spPr>
        <p:txBody>
          <a:bodyPr wrap="square">
            <a:spAutoFit/>
          </a:bodyPr>
          <a:lstStyle/>
          <a:p>
            <a:r>
              <a:rPr sz="800" i="1">
                <a:solidFill>
                  <a:srgbClr val="999999"/>
                </a:solidFill>
                <a:latin typeface="Calibri"/>
              </a:rPr>
              <a:t>Source: Accenture IR — $3B AI commitment, 31+ acquisitions/year, SG&amp;A ~17% of revenue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square">
            <a:spAutoFit/>
          </a:bodyPr>
          <a:lstStyle/>
          <a:p>
            <a:r>
              <a:rPr sz="2800" b="1">
                <a:solidFill>
                  <a:srgbClr val="FFFFFF"/>
                </a:solidFill>
                <a:latin typeface="Calibri"/>
              </a:rPr>
              <a:t>Infrastructure commoditizes. Applications compress.
The context layer emerges as the value center.</a:t>
            </a:r>
          </a:p>
        </p:txBody>
      </p:sp>
      <p:sp>
        <p:nvSpPr>
          <p:cNvPr id="4" name="Rounded Rectangle 3"/>
          <p:cNvSpPr/>
          <p:nvPr/>
        </p:nvSpPr>
        <p:spPr>
          <a:xfrm>
            <a:off x="1828800" y="2194560"/>
            <a:ext cx="8229600" cy="1280160"/>
          </a:xfrm>
          <a:prstGeom prst="round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1600" b="1">
                <a:solidFill>
                  <a:srgbClr val="FFFFFF"/>
                </a:solidFill>
                <a:latin typeface="Calibri"/>
              </a:rPr>
              <a:t>LAYER 3 — CONTEXT LAYER</a:t>
            </a:r>
          </a:p>
          <a:p>
            <a:r>
              <a:rPr sz="1200">
                <a:solidFill>
                  <a:srgbClr val="FFFFFF"/>
                </a:solidFill>
                <a:latin typeface="Calibri"/>
              </a:rPr>
              <a:t>Institutional knowledge directing AI agents</a:t>
            </a:r>
          </a:p>
        </p:txBody>
      </p:sp>
      <p:sp>
        <p:nvSpPr>
          <p:cNvPr id="5" name="Rounded Rectangle 4"/>
          <p:cNvSpPr/>
          <p:nvPr/>
        </p:nvSpPr>
        <p:spPr>
          <a:xfrm>
            <a:off x="1828800" y="3657600"/>
            <a:ext cx="8229600" cy="1097280"/>
          </a:xfrm>
          <a:prstGeom prst="round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1600" b="1">
                <a:solidFill>
                  <a:srgbClr val="FFFFFF"/>
                </a:solidFill>
                <a:latin typeface="Calibri"/>
              </a:rPr>
              <a:t>LAYER 2 — APPLICATIONS</a:t>
            </a:r>
          </a:p>
          <a:p>
            <a:r>
              <a:rPr sz="1200">
                <a:solidFill>
                  <a:srgbClr val="CCCCCC"/>
                </a:solidFill>
                <a:latin typeface="Calibri"/>
              </a:rPr>
              <a:t>Dashboards, CRMs, project management
$300B+ market cap lost. Growth halved 36% → 17%.</a:t>
            </a:r>
          </a:p>
        </p:txBody>
      </p:sp>
      <p:sp>
        <p:nvSpPr>
          <p:cNvPr id="6" name="Rounded Rectangle 5"/>
          <p:cNvSpPr/>
          <p:nvPr/>
        </p:nvSpPr>
        <p:spPr>
          <a:xfrm>
            <a:off x="1828800" y="4937760"/>
            <a:ext cx="8229600" cy="914400"/>
          </a:xfrm>
          <a:prstGeom prst="roundRect">
            <a:avLst/>
          </a:prstGeom>
          <a:solidFill>
            <a:srgbClr val="444466"/>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1600" b="1">
                <a:solidFill>
                  <a:srgbClr val="FFFFFF"/>
                </a:solidFill>
                <a:latin typeface="Calibri"/>
              </a:rPr>
              <a:t>LAYER 1 — INFRASTRUCTURE</a:t>
            </a:r>
          </a:p>
          <a:p>
            <a:r>
              <a:rPr sz="1200">
                <a:solidFill>
                  <a:srgbClr val="CCCCCC"/>
                </a:solidFill>
                <a:latin typeface="Calibri"/>
              </a:rPr>
              <a:t>APIs, databases, auth, monitoring
Commoditizing. AI agents consume 100x more API calls.</a:t>
            </a:r>
          </a:p>
        </p:txBody>
      </p:sp>
      <p:sp>
        <p:nvSpPr>
          <p:cNvPr id="7" name="TextBox 6"/>
          <p:cNvSpPr txBox="1"/>
          <p:nvPr/>
        </p:nvSpPr>
        <p:spPr>
          <a:xfrm>
            <a:off x="1828800" y="6035040"/>
            <a:ext cx="8229600" cy="457200"/>
          </a:xfrm>
          <a:prstGeom prst="rect">
            <a:avLst/>
          </a:prstGeom>
          <a:noFill/>
        </p:spPr>
        <p:txBody>
          <a:bodyPr wrap="none">
            <a:spAutoFit/>
          </a:bodyPr>
          <a:lstStyle/>
          <a:p>
            <a:pPr algn="ctr"/>
            <a:r>
              <a:rPr sz="1400" i="1">
                <a:solidFill>
                  <a:srgbClr val="CCCCCC"/>
                </a:solidFill>
                <a:latin typeface="Calibri"/>
              </a:rPr>
              <a:t>Christensen's Law: when one layer commoditizes, adjacent layers de-commoditize.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Firms deploy AI in products and for building products — almost none deploy AI to run the company</a:t>
            </a:r>
          </a:p>
        </p:txBody>
      </p:sp>
      <p:sp>
        <p:nvSpPr>
          <p:cNvPr id="5" name="Rounded Rectangle 4"/>
          <p:cNvSpPr/>
          <p:nvPr/>
        </p:nvSpPr>
        <p:spPr>
          <a:xfrm>
            <a:off x="731520" y="2011680"/>
            <a:ext cx="6400800" cy="731520"/>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5440680" cy="7315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03120"/>
            <a:ext cx="6217920" cy="548640"/>
          </a:xfrm>
          <a:prstGeom prst="rect">
            <a:avLst/>
          </a:prstGeom>
          <a:noFill/>
        </p:spPr>
        <p:txBody>
          <a:bodyPr wrap="none">
            <a:spAutoFit/>
          </a:bodyPr>
          <a:lstStyle/>
          <a:p>
            <a:r>
              <a:rPr sz="1600" b="1">
                <a:solidFill>
                  <a:srgbClr val="FFFFFF"/>
                </a:solidFill>
                <a:latin typeface="Calibri"/>
              </a:rPr>
              <a:t>AI in the product you sell</a:t>
            </a:r>
          </a:p>
        </p:txBody>
      </p:sp>
      <p:sp>
        <p:nvSpPr>
          <p:cNvPr id="8" name="TextBox 7"/>
          <p:cNvSpPr txBox="1"/>
          <p:nvPr/>
        </p:nvSpPr>
        <p:spPr>
          <a:xfrm>
            <a:off x="7498079" y="2103120"/>
            <a:ext cx="4114800" cy="548640"/>
          </a:xfrm>
          <a:prstGeom prst="rect">
            <a:avLst/>
          </a:prstGeom>
          <a:noFill/>
        </p:spPr>
        <p:txBody>
          <a:bodyPr wrap="none">
            <a:spAutoFit/>
          </a:bodyPr>
          <a:lstStyle/>
          <a:p>
            <a:r>
              <a:rPr sz="1400">
                <a:solidFill>
                  <a:srgbClr val="999999"/>
                </a:solidFill>
                <a:latin typeface="Calibri"/>
              </a:rPr>
              <a:t>← Most firms focus here</a:t>
            </a:r>
          </a:p>
        </p:txBody>
      </p:sp>
      <p:sp>
        <p:nvSpPr>
          <p:cNvPr id="9" name="Rounded Rectangle 8"/>
          <p:cNvSpPr/>
          <p:nvPr/>
        </p:nvSpPr>
        <p:spPr>
          <a:xfrm>
            <a:off x="731520" y="3291840"/>
            <a:ext cx="6400800" cy="731520"/>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291840"/>
            <a:ext cx="3520440" cy="7315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383280"/>
            <a:ext cx="6217920" cy="548640"/>
          </a:xfrm>
          <a:prstGeom prst="rect">
            <a:avLst/>
          </a:prstGeom>
          <a:noFill/>
        </p:spPr>
        <p:txBody>
          <a:bodyPr wrap="none">
            <a:spAutoFit/>
          </a:bodyPr>
          <a:lstStyle/>
          <a:p>
            <a:r>
              <a:rPr sz="1600" b="1">
                <a:solidFill>
                  <a:srgbClr val="FFFFFF"/>
                </a:solidFill>
                <a:latin typeface="Calibri"/>
              </a:rPr>
              <a:t>AI for building the product</a:t>
            </a:r>
          </a:p>
        </p:txBody>
      </p:sp>
      <p:sp>
        <p:nvSpPr>
          <p:cNvPr id="12" name="TextBox 11"/>
          <p:cNvSpPr txBox="1"/>
          <p:nvPr/>
        </p:nvSpPr>
        <p:spPr>
          <a:xfrm>
            <a:off x="7498079" y="3383280"/>
            <a:ext cx="4114800" cy="548640"/>
          </a:xfrm>
          <a:prstGeom prst="rect">
            <a:avLst/>
          </a:prstGeom>
          <a:noFill/>
        </p:spPr>
        <p:txBody>
          <a:bodyPr wrap="none">
            <a:spAutoFit/>
          </a:bodyPr>
          <a:lstStyle/>
          <a:p>
            <a:r>
              <a:rPr sz="1400">
                <a:solidFill>
                  <a:srgbClr val="999999"/>
                </a:solidFill>
                <a:latin typeface="Calibri"/>
              </a:rPr>
              <a:t>← Second priority</a:t>
            </a:r>
          </a:p>
        </p:txBody>
      </p:sp>
      <p:sp>
        <p:nvSpPr>
          <p:cNvPr id="13" name="Rounded Rectangle 12"/>
          <p:cNvSpPr/>
          <p:nvPr/>
        </p:nvSpPr>
        <p:spPr>
          <a:xfrm>
            <a:off x="731520" y="4572000"/>
            <a:ext cx="6400800" cy="731520"/>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4572000"/>
            <a:ext cx="768096" cy="731520"/>
          </a:xfrm>
          <a:prstGeom prst="round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663440"/>
            <a:ext cx="6217920" cy="548640"/>
          </a:xfrm>
          <a:prstGeom prst="rect">
            <a:avLst/>
          </a:prstGeom>
          <a:noFill/>
        </p:spPr>
        <p:txBody>
          <a:bodyPr wrap="none">
            <a:spAutoFit/>
          </a:bodyPr>
          <a:lstStyle/>
          <a:p>
            <a:r>
              <a:rPr sz="1600" b="1">
                <a:solidFill>
                  <a:srgbClr val="2D2D2D"/>
                </a:solidFill>
                <a:latin typeface="Calibri"/>
              </a:rPr>
              <a:t>AI to run the company</a:t>
            </a:r>
          </a:p>
        </p:txBody>
      </p:sp>
      <p:sp>
        <p:nvSpPr>
          <p:cNvPr id="16" name="TextBox 15"/>
          <p:cNvSpPr txBox="1"/>
          <p:nvPr/>
        </p:nvSpPr>
        <p:spPr>
          <a:xfrm>
            <a:off x="7498079" y="4663440"/>
            <a:ext cx="4114800" cy="548640"/>
          </a:xfrm>
          <a:prstGeom prst="rect">
            <a:avLst/>
          </a:prstGeom>
          <a:noFill/>
        </p:spPr>
        <p:txBody>
          <a:bodyPr wrap="none">
            <a:spAutoFit/>
          </a:bodyPr>
          <a:lstStyle/>
          <a:p>
            <a:r>
              <a:rPr sz="1400">
                <a:solidFill>
                  <a:srgbClr val="999999"/>
                </a:solidFill>
                <a:latin typeface="Calibri"/>
              </a:rPr>
              <a:t>← Where structural economics change</a:t>
            </a:r>
          </a:p>
        </p:txBody>
      </p:sp>
      <p:sp>
        <p:nvSpPr>
          <p:cNvPr id="17" name="Rectangle 16"/>
          <p:cNvSpPr/>
          <p:nvPr/>
        </p:nvSpPr>
        <p:spPr>
          <a:xfrm>
            <a:off x="731520" y="5486400"/>
            <a:ext cx="54864" cy="640080"/>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486400"/>
            <a:ext cx="10058400" cy="640080"/>
          </a:xfrm>
          <a:prstGeom prst="rect">
            <a:avLst/>
          </a:prstGeom>
          <a:noFill/>
        </p:spPr>
        <p:txBody>
          <a:bodyPr wrap="square">
            <a:spAutoFit/>
          </a:bodyPr>
          <a:lstStyle/>
          <a:p>
            <a:r>
              <a:rPr sz="1500" i="1">
                <a:solidFill>
                  <a:srgbClr val="2D2D2D"/>
                </a:solidFill>
                <a:latin typeface="Calibri"/>
              </a:rPr>
              <a:t>If friction per unit of revenue is the metric, AI at one stage is not the solution. AI across the entire pipeline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Every function at realfast — pre-sales, delivery, operations, recruitment — runs on a single AI operating system</a:t>
            </a:r>
          </a:p>
        </p:txBody>
      </p:sp>
      <p:sp>
        <p:nvSpPr>
          <p:cNvPr id="5" name="TextBox 4"/>
          <p:cNvSpPr txBox="1"/>
          <p:nvPr/>
        </p:nvSpPr>
        <p:spPr>
          <a:xfrm>
            <a:off x="457200" y="1645920"/>
            <a:ext cx="2743200" cy="274320"/>
          </a:xfrm>
          <a:prstGeom prst="rect">
            <a:avLst/>
          </a:prstGeom>
          <a:noFill/>
        </p:spPr>
        <p:txBody>
          <a:bodyPr wrap="none">
            <a:spAutoFit/>
          </a:bodyPr>
          <a:lstStyle/>
          <a:p>
            <a:r>
              <a:rPr sz="1200" b="1">
                <a:solidFill>
                  <a:srgbClr val="999999"/>
                </a:solidFill>
                <a:latin typeface="Calibri"/>
              </a:rPr>
              <a:t>TRADITIONAL</a:t>
            </a:r>
          </a:p>
        </p:txBody>
      </p:sp>
      <p:sp>
        <p:nvSpPr>
          <p:cNvPr id="6" name="Rounded Rectangle 5"/>
          <p:cNvSpPr/>
          <p:nvPr/>
        </p:nvSpPr>
        <p:spPr>
          <a:xfrm>
            <a:off x="457200" y="2011680"/>
            <a:ext cx="1188720" cy="54864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Pre-sales</a:t>
            </a:r>
          </a:p>
        </p:txBody>
      </p:sp>
      <p:sp>
        <p:nvSpPr>
          <p:cNvPr id="7" name="Right Arrow 6"/>
          <p:cNvSpPr/>
          <p:nvPr/>
        </p:nvSpPr>
        <p:spPr>
          <a:xfrm>
            <a:off x="1645920" y="2148840"/>
            <a:ext cx="109728" cy="18288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755648" y="2011680"/>
            <a:ext cx="1188720" cy="54864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Scoping</a:t>
            </a:r>
          </a:p>
        </p:txBody>
      </p:sp>
      <p:sp>
        <p:nvSpPr>
          <p:cNvPr id="9" name="Right Arrow 8"/>
          <p:cNvSpPr/>
          <p:nvPr/>
        </p:nvSpPr>
        <p:spPr>
          <a:xfrm>
            <a:off x="2944368" y="2148840"/>
            <a:ext cx="109728" cy="18288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54096" y="2011680"/>
            <a:ext cx="1188720" cy="54864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Legal</a:t>
            </a:r>
          </a:p>
        </p:txBody>
      </p:sp>
      <p:sp>
        <p:nvSpPr>
          <p:cNvPr id="11" name="Right Arrow 10"/>
          <p:cNvSpPr/>
          <p:nvPr/>
        </p:nvSpPr>
        <p:spPr>
          <a:xfrm>
            <a:off x="4242816" y="2148840"/>
            <a:ext cx="109728" cy="18288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52544" y="2011680"/>
            <a:ext cx="1188720" cy="54864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Compliance</a:t>
            </a:r>
          </a:p>
        </p:txBody>
      </p:sp>
      <p:sp>
        <p:nvSpPr>
          <p:cNvPr id="13" name="Right Arrow 12"/>
          <p:cNvSpPr/>
          <p:nvPr/>
        </p:nvSpPr>
        <p:spPr>
          <a:xfrm>
            <a:off x="5541264" y="2148840"/>
            <a:ext cx="109728" cy="18288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50992" y="2011680"/>
            <a:ext cx="1188720" cy="54864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Staffing</a:t>
            </a:r>
          </a:p>
        </p:txBody>
      </p:sp>
      <p:sp>
        <p:nvSpPr>
          <p:cNvPr id="15" name="Right Arrow 14"/>
          <p:cNvSpPr/>
          <p:nvPr/>
        </p:nvSpPr>
        <p:spPr>
          <a:xfrm>
            <a:off x="6839712" y="2148840"/>
            <a:ext cx="109728" cy="18288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949440" y="2011680"/>
            <a:ext cx="1188720" cy="54864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Delivery</a:t>
            </a:r>
          </a:p>
        </p:txBody>
      </p:sp>
      <p:sp>
        <p:nvSpPr>
          <p:cNvPr id="17" name="Right Arrow 16"/>
          <p:cNvSpPr/>
          <p:nvPr/>
        </p:nvSpPr>
        <p:spPr>
          <a:xfrm>
            <a:off x="8138160" y="2148840"/>
            <a:ext cx="109728" cy="18288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47888" y="2011680"/>
            <a:ext cx="1188720" cy="54864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QA</a:t>
            </a:r>
          </a:p>
        </p:txBody>
      </p:sp>
      <p:sp>
        <p:nvSpPr>
          <p:cNvPr id="19" name="Right Arrow 18"/>
          <p:cNvSpPr/>
          <p:nvPr/>
        </p:nvSpPr>
        <p:spPr>
          <a:xfrm>
            <a:off x="9436608" y="2148840"/>
            <a:ext cx="109728" cy="18288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546336" y="2011680"/>
            <a:ext cx="1188720" cy="54864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2D2D2D"/>
                </a:solidFill>
                <a:latin typeface="Calibri"/>
              </a:rPr>
              <a:t>PM</a:t>
            </a:r>
          </a:p>
        </p:txBody>
      </p:sp>
      <p:sp>
        <p:nvSpPr>
          <p:cNvPr id="21" name="TextBox 20"/>
          <p:cNvSpPr txBox="1"/>
          <p:nvPr/>
        </p:nvSpPr>
        <p:spPr>
          <a:xfrm>
            <a:off x="457200" y="2697480"/>
            <a:ext cx="10058400" cy="274320"/>
          </a:xfrm>
          <a:prstGeom prst="rect">
            <a:avLst/>
          </a:prstGeom>
          <a:noFill/>
        </p:spPr>
        <p:txBody>
          <a:bodyPr wrap="none">
            <a:spAutoFit/>
          </a:bodyPr>
          <a:lstStyle/>
          <a:p>
            <a:r>
              <a:rPr sz="1200" i="1">
                <a:solidFill>
                  <a:srgbClr val="CC3333"/>
                </a:solidFill>
                <a:latin typeface="Calibri"/>
              </a:rPr>
              <a:t>Siloed functions. Manual handoffs. Friction at every boundary.</a:t>
            </a:r>
          </a:p>
        </p:txBody>
      </p:sp>
      <p:sp>
        <p:nvSpPr>
          <p:cNvPr id="22" name="TextBox 21"/>
          <p:cNvSpPr txBox="1"/>
          <p:nvPr/>
        </p:nvSpPr>
        <p:spPr>
          <a:xfrm>
            <a:off x="457200" y="3383280"/>
            <a:ext cx="2743200" cy="274320"/>
          </a:xfrm>
          <a:prstGeom prst="rect">
            <a:avLst/>
          </a:prstGeom>
          <a:noFill/>
        </p:spPr>
        <p:txBody>
          <a:bodyPr wrap="none">
            <a:spAutoFit/>
          </a:bodyPr>
          <a:lstStyle/>
          <a:p>
            <a:r>
              <a:rPr sz="1200" b="1">
                <a:solidFill>
                  <a:srgbClr val="00B4A0"/>
                </a:solidFill>
                <a:latin typeface="Calibri"/>
              </a:rPr>
              <a:t>REALFAST</a:t>
            </a:r>
          </a:p>
        </p:txBody>
      </p:sp>
      <p:sp>
        <p:nvSpPr>
          <p:cNvPr id="23" name="Rounded Rectangle 22"/>
          <p:cNvSpPr/>
          <p:nvPr/>
        </p:nvSpPr>
        <p:spPr>
          <a:xfrm>
            <a:off x="457200" y="4206240"/>
            <a:ext cx="10515600" cy="457200"/>
          </a:xfrm>
          <a:prstGeom prst="round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E X O C O R T E X</a:t>
            </a:r>
          </a:p>
        </p:txBody>
      </p:sp>
      <p:sp>
        <p:nvSpPr>
          <p:cNvPr id="24" name="Rounded Rectangle 23"/>
          <p:cNvSpPr/>
          <p:nvPr/>
        </p:nvSpPr>
        <p:spPr>
          <a:xfrm>
            <a:off x="457200" y="3657600"/>
            <a:ext cx="1188720" cy="54864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alibri"/>
              </a:rPr>
              <a:t>Pre-sales</a:t>
            </a:r>
          </a:p>
        </p:txBody>
      </p:sp>
      <p:sp>
        <p:nvSpPr>
          <p:cNvPr id="25" name="Rounded Rectangle 24"/>
          <p:cNvSpPr/>
          <p:nvPr/>
        </p:nvSpPr>
        <p:spPr>
          <a:xfrm>
            <a:off x="1755648" y="3657600"/>
            <a:ext cx="1188720" cy="54864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alibri"/>
              </a:rPr>
              <a:t>Scoping</a:t>
            </a:r>
          </a:p>
        </p:txBody>
      </p:sp>
      <p:sp>
        <p:nvSpPr>
          <p:cNvPr id="26" name="Rounded Rectangle 25"/>
          <p:cNvSpPr/>
          <p:nvPr/>
        </p:nvSpPr>
        <p:spPr>
          <a:xfrm>
            <a:off x="3054096" y="3657600"/>
            <a:ext cx="1188720" cy="54864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alibri"/>
              </a:rPr>
              <a:t>Legal</a:t>
            </a:r>
          </a:p>
        </p:txBody>
      </p:sp>
      <p:sp>
        <p:nvSpPr>
          <p:cNvPr id="27" name="Rounded Rectangle 26"/>
          <p:cNvSpPr/>
          <p:nvPr/>
        </p:nvSpPr>
        <p:spPr>
          <a:xfrm>
            <a:off x="4352544" y="3657600"/>
            <a:ext cx="1188720" cy="54864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alibri"/>
              </a:rPr>
              <a:t>Compliance</a:t>
            </a:r>
          </a:p>
        </p:txBody>
      </p:sp>
      <p:sp>
        <p:nvSpPr>
          <p:cNvPr id="28" name="Rounded Rectangle 27"/>
          <p:cNvSpPr/>
          <p:nvPr/>
        </p:nvSpPr>
        <p:spPr>
          <a:xfrm>
            <a:off x="5650992" y="3657600"/>
            <a:ext cx="1188720" cy="54864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alibri"/>
              </a:rPr>
              <a:t>Staffing</a:t>
            </a:r>
          </a:p>
        </p:txBody>
      </p:sp>
      <p:sp>
        <p:nvSpPr>
          <p:cNvPr id="29" name="Rounded Rectangle 28"/>
          <p:cNvSpPr/>
          <p:nvPr/>
        </p:nvSpPr>
        <p:spPr>
          <a:xfrm>
            <a:off x="6949440" y="3657600"/>
            <a:ext cx="1188720" cy="54864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alibri"/>
              </a:rPr>
              <a:t>Delivery</a:t>
            </a:r>
          </a:p>
        </p:txBody>
      </p:sp>
      <p:sp>
        <p:nvSpPr>
          <p:cNvPr id="30" name="Rounded Rectangle 29"/>
          <p:cNvSpPr/>
          <p:nvPr/>
        </p:nvSpPr>
        <p:spPr>
          <a:xfrm>
            <a:off x="8247888" y="3657600"/>
            <a:ext cx="1188720" cy="54864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alibri"/>
              </a:rPr>
              <a:t>QA</a:t>
            </a:r>
          </a:p>
        </p:txBody>
      </p:sp>
      <p:sp>
        <p:nvSpPr>
          <p:cNvPr id="31" name="Rounded Rectangle 30"/>
          <p:cNvSpPr/>
          <p:nvPr/>
        </p:nvSpPr>
        <p:spPr>
          <a:xfrm>
            <a:off x="9546336" y="3657600"/>
            <a:ext cx="1188720" cy="54864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FFFFFF"/>
                </a:solidFill>
                <a:latin typeface="Calibri"/>
              </a:rPr>
              <a:t>PM</a:t>
            </a:r>
          </a:p>
        </p:txBody>
      </p:sp>
      <p:sp>
        <p:nvSpPr>
          <p:cNvPr id="32" name="TextBox 31"/>
          <p:cNvSpPr txBox="1"/>
          <p:nvPr/>
        </p:nvSpPr>
        <p:spPr>
          <a:xfrm>
            <a:off x="457200" y="4846320"/>
            <a:ext cx="10058400" cy="274320"/>
          </a:xfrm>
          <a:prstGeom prst="rect">
            <a:avLst/>
          </a:prstGeom>
          <a:noFill/>
        </p:spPr>
        <p:txBody>
          <a:bodyPr wrap="none">
            <a:spAutoFit/>
          </a:bodyPr>
          <a:lstStyle/>
          <a:p>
            <a:r>
              <a:rPr sz="1200" i="1">
                <a:solidFill>
                  <a:srgbClr val="33AA55"/>
                </a:solidFill>
                <a:latin typeface="Calibri"/>
              </a:rPr>
              <a:t>Integrated pipeline. Context flows automatically. Friction structurally eliminated.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Exocortex extracts institutional knowledge, maintains it as the business evolves, and applies it across every workflow</a:t>
            </a:r>
          </a:p>
        </p:txBody>
      </p:sp>
      <p:sp>
        <p:nvSpPr>
          <p:cNvPr id="5" name="Oval 4"/>
          <p:cNvSpPr/>
          <p:nvPr/>
        </p:nvSpPr>
        <p:spPr>
          <a:xfrm>
            <a:off x="731520" y="2011680"/>
            <a:ext cx="3200400" cy="182880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EXTRACT</a:t>
            </a:r>
          </a:p>
          <a:p>
            <a:pPr algn="ctr">
              <a:spcBef>
                <a:spcPts val="600"/>
              </a:spcBef>
            </a:pPr>
            <a:r>
              <a:rPr sz="1200">
                <a:solidFill>
                  <a:srgbClr val="FFFFFF"/>
                </a:solidFill>
                <a:latin typeface="Calibri"/>
              </a:rPr>
              <a:t>From people, contracts,
past projects, domain expertise</a:t>
            </a:r>
          </a:p>
        </p:txBody>
      </p:sp>
      <p:sp>
        <p:nvSpPr>
          <p:cNvPr id="6" name="Right Arrow 5"/>
          <p:cNvSpPr/>
          <p:nvPr/>
        </p:nvSpPr>
        <p:spPr>
          <a:xfrm>
            <a:off x="3931920" y="2651760"/>
            <a:ext cx="457200" cy="45720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389120" y="2011680"/>
            <a:ext cx="3200400" cy="182880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MAINTAIN</a:t>
            </a:r>
          </a:p>
          <a:p>
            <a:pPr algn="ctr">
              <a:spcBef>
                <a:spcPts val="600"/>
              </a:spcBef>
            </a:pPr>
            <a:r>
              <a:rPr sz="1200">
                <a:solidFill>
                  <a:srgbClr val="FFFFFF"/>
                </a:solidFill>
                <a:latin typeface="Calibri"/>
              </a:rPr>
              <a:t>Continuously re-engineer
as we learn what works</a:t>
            </a:r>
          </a:p>
        </p:txBody>
      </p:sp>
      <p:sp>
        <p:nvSpPr>
          <p:cNvPr id="8" name="Right Arrow 7"/>
          <p:cNvSpPr/>
          <p:nvPr/>
        </p:nvSpPr>
        <p:spPr>
          <a:xfrm>
            <a:off x="7589520" y="2651760"/>
            <a:ext cx="457200" cy="457200"/>
          </a:xfrm>
          <a:prstGeom prs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046720" y="2011680"/>
            <a:ext cx="3200400" cy="1828800"/>
          </a:xfrm>
          <a:prstGeom prst="ellipse">
            <a:avLst/>
          </a:prstGeom>
          <a:solidFill>
            <a:srgbClr val="66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APPLY</a:t>
            </a:r>
          </a:p>
          <a:p>
            <a:pPr algn="ctr">
              <a:spcBef>
                <a:spcPts val="600"/>
              </a:spcBef>
            </a:pPr>
            <a:r>
              <a:rPr sz="1200">
                <a:solidFill>
                  <a:srgbClr val="FFFFFF"/>
                </a:solidFill>
                <a:latin typeface="Calibri"/>
              </a:rPr>
              <a:t>Across workflows —
whoever needs it, whenever</a:t>
            </a:r>
          </a:p>
        </p:txBody>
      </p:sp>
      <p:sp>
        <p:nvSpPr>
          <p:cNvPr id="10" name="TextBox 9"/>
          <p:cNvSpPr txBox="1"/>
          <p:nvPr/>
        </p:nvSpPr>
        <p:spPr>
          <a:xfrm>
            <a:off x="2286000" y="4206240"/>
            <a:ext cx="7315200" cy="731520"/>
          </a:xfrm>
          <a:prstGeom prst="rect">
            <a:avLst/>
          </a:prstGeom>
          <a:noFill/>
        </p:spPr>
        <p:txBody>
          <a:bodyPr wrap="square">
            <a:spAutoFit/>
          </a:bodyPr>
          <a:lstStyle/>
          <a:p>
            <a:pPr algn="ctr"/>
            <a:r>
              <a:rPr sz="2200" b="1">
                <a:solidFill>
                  <a:srgbClr val="00B4A0"/>
                </a:solidFill>
                <a:latin typeface="Calibri"/>
              </a:rPr>
              <a:t>Gets smarter by doing work, not by being trained.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Coordination overhead is 35-50% of delivery cost — Exocortex structurally eliminates it</a:t>
            </a:r>
          </a:p>
        </p:txBody>
      </p:sp>
      <p:sp>
        <p:nvSpPr>
          <p:cNvPr id="5" name="TextBox 4"/>
          <p:cNvSpPr txBox="1"/>
          <p:nvPr/>
        </p:nvSpPr>
        <p:spPr>
          <a:xfrm>
            <a:off x="731520" y="1463040"/>
            <a:ext cx="5029200" cy="365760"/>
          </a:xfrm>
          <a:prstGeom prst="rect">
            <a:avLst/>
          </a:prstGeom>
          <a:noFill/>
        </p:spPr>
        <p:txBody>
          <a:bodyPr wrap="none">
            <a:spAutoFit/>
          </a:bodyPr>
          <a:lstStyle/>
          <a:p>
            <a:r>
              <a:rPr sz="1400" b="1">
                <a:solidFill>
                  <a:srgbClr val="CC3333"/>
                </a:solidFill>
                <a:latin typeface="Calibri"/>
              </a:rPr>
              <a:t>BEFORE (Traditional)</a:t>
            </a:r>
          </a:p>
        </p:txBody>
      </p:sp>
      <p:sp>
        <p:nvSpPr>
          <p:cNvPr id="6" name="Rounded Rectangle 5"/>
          <p:cNvSpPr/>
          <p:nvPr/>
        </p:nvSpPr>
        <p:spPr>
          <a:xfrm>
            <a:off x="1371600" y="2011680"/>
            <a:ext cx="1828800" cy="45720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2D2D2D"/>
                </a:solidFill>
                <a:latin typeface="Calibri"/>
              </a:rPr>
              <a:t>PM</a:t>
            </a:r>
          </a:p>
        </p:txBody>
      </p:sp>
      <p:sp>
        <p:nvSpPr>
          <p:cNvPr id="7" name="Down Arrow 6"/>
          <p:cNvSpPr/>
          <p:nvPr/>
        </p:nvSpPr>
        <p:spPr>
          <a:xfrm>
            <a:off x="2103120" y="2468880"/>
            <a:ext cx="365760" cy="137160"/>
          </a:xfrm>
          <a:prstGeom prst="down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1600" y="2606040"/>
            <a:ext cx="1828800" cy="45720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2D2D2D"/>
                </a:solidFill>
                <a:latin typeface="Calibri"/>
              </a:rPr>
              <a:t>BA</a:t>
            </a:r>
          </a:p>
        </p:txBody>
      </p:sp>
      <p:sp>
        <p:nvSpPr>
          <p:cNvPr id="9" name="Down Arrow 8"/>
          <p:cNvSpPr/>
          <p:nvPr/>
        </p:nvSpPr>
        <p:spPr>
          <a:xfrm>
            <a:off x="2103120" y="3063240"/>
            <a:ext cx="365760" cy="137160"/>
          </a:xfrm>
          <a:prstGeom prst="down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371600" y="3200400"/>
            <a:ext cx="1828800" cy="45720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2D2D2D"/>
                </a:solidFill>
                <a:latin typeface="Calibri"/>
              </a:rPr>
              <a:t>Architect</a:t>
            </a:r>
          </a:p>
        </p:txBody>
      </p:sp>
      <p:sp>
        <p:nvSpPr>
          <p:cNvPr id="11" name="Down Arrow 10"/>
          <p:cNvSpPr/>
          <p:nvPr/>
        </p:nvSpPr>
        <p:spPr>
          <a:xfrm>
            <a:off x="2103120" y="3657600"/>
            <a:ext cx="365760" cy="137160"/>
          </a:xfrm>
          <a:prstGeom prst="down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71600" y="3794760"/>
            <a:ext cx="1828800" cy="45720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2D2D2D"/>
                </a:solidFill>
                <a:latin typeface="Calibri"/>
              </a:rPr>
              <a:t>Developer</a:t>
            </a:r>
          </a:p>
        </p:txBody>
      </p:sp>
      <p:sp>
        <p:nvSpPr>
          <p:cNvPr id="13" name="Down Arrow 12"/>
          <p:cNvSpPr/>
          <p:nvPr/>
        </p:nvSpPr>
        <p:spPr>
          <a:xfrm>
            <a:off x="2103120" y="4251960"/>
            <a:ext cx="365760" cy="137160"/>
          </a:xfrm>
          <a:prstGeom prst="down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71600" y="4389120"/>
            <a:ext cx="1828800" cy="457200"/>
          </a:xfrm>
          <a:prstGeom prst="roundRect">
            <a:avLst/>
          </a:prstGeom>
          <a:solidFill>
            <a:srgbClr val="E0E0E0"/>
          </a:solidFill>
          <a:ln w="127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2D2D2D"/>
                </a:solidFill>
                <a:latin typeface="Calibri"/>
              </a:rPr>
              <a:t>QA</a:t>
            </a:r>
          </a:p>
        </p:txBody>
      </p:sp>
      <p:sp>
        <p:nvSpPr>
          <p:cNvPr id="15" name="TextBox 14"/>
          <p:cNvSpPr txBox="1"/>
          <p:nvPr/>
        </p:nvSpPr>
        <p:spPr>
          <a:xfrm>
            <a:off x="731520" y="5120640"/>
            <a:ext cx="4572000" cy="274320"/>
          </a:xfrm>
          <a:prstGeom prst="rect">
            <a:avLst/>
          </a:prstGeom>
          <a:noFill/>
        </p:spPr>
        <p:txBody>
          <a:bodyPr wrap="none">
            <a:spAutoFit/>
          </a:bodyPr>
          <a:lstStyle/>
          <a:p>
            <a:r>
              <a:rPr sz="1400" b="1">
                <a:solidFill>
                  <a:srgbClr val="CC3333"/>
                </a:solidFill>
                <a:latin typeface="Calibri"/>
              </a:rPr>
              <a:t>Coordination overhead: 35-50%</a:t>
            </a:r>
          </a:p>
        </p:txBody>
      </p:sp>
      <p:sp>
        <p:nvSpPr>
          <p:cNvPr id="16" name="TextBox 15"/>
          <p:cNvSpPr txBox="1"/>
          <p:nvPr/>
        </p:nvSpPr>
        <p:spPr>
          <a:xfrm>
            <a:off x="6217920" y="1463040"/>
            <a:ext cx="5029200" cy="365760"/>
          </a:xfrm>
          <a:prstGeom prst="rect">
            <a:avLst/>
          </a:prstGeom>
          <a:noFill/>
        </p:spPr>
        <p:txBody>
          <a:bodyPr wrap="none">
            <a:spAutoFit/>
          </a:bodyPr>
          <a:lstStyle/>
          <a:p>
            <a:r>
              <a:rPr sz="1400" b="1">
                <a:solidFill>
                  <a:srgbClr val="33AA55"/>
                </a:solidFill>
                <a:latin typeface="Calibri"/>
              </a:rPr>
              <a:t>AFTER (realfast)</a:t>
            </a:r>
          </a:p>
        </p:txBody>
      </p:sp>
      <p:sp>
        <p:nvSpPr>
          <p:cNvPr id="17" name="Rounded Rectangle 16"/>
          <p:cNvSpPr/>
          <p:nvPr/>
        </p:nvSpPr>
        <p:spPr>
          <a:xfrm>
            <a:off x="6858000" y="2377440"/>
            <a:ext cx="2286000" cy="548640"/>
          </a:xfrm>
          <a:prstGeom prst="roundRect">
            <a:avLst/>
          </a:prstGeom>
          <a:solidFill>
            <a:srgbClr val="1A1A2E"/>
          </a:solidFill>
          <a:ln w="254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Consultant</a:t>
            </a:r>
          </a:p>
        </p:txBody>
      </p:sp>
      <p:sp>
        <p:nvSpPr>
          <p:cNvPr id="18" name="Rounded Rectangle 17"/>
          <p:cNvSpPr/>
          <p:nvPr/>
        </p:nvSpPr>
        <p:spPr>
          <a:xfrm>
            <a:off x="6858000" y="3291840"/>
            <a:ext cx="2286000" cy="548640"/>
          </a:xfrm>
          <a:prstGeom prst="roundRect">
            <a:avLst/>
          </a:prstGeom>
          <a:solidFill>
            <a:srgbClr val="1A1A2E"/>
          </a:solidFill>
          <a:ln w="254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Consultant</a:t>
            </a:r>
          </a:p>
        </p:txBody>
      </p:sp>
      <p:sp>
        <p:nvSpPr>
          <p:cNvPr id="19" name="Rounded Rectangle 18"/>
          <p:cNvSpPr/>
          <p:nvPr/>
        </p:nvSpPr>
        <p:spPr>
          <a:xfrm>
            <a:off x="6400800" y="3840480"/>
            <a:ext cx="3657600" cy="457200"/>
          </a:xfrm>
          <a:prstGeom prst="round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EXOCORTEX</a:t>
            </a:r>
          </a:p>
        </p:txBody>
      </p:sp>
      <p:sp>
        <p:nvSpPr>
          <p:cNvPr id="20" name="TextBox 19"/>
          <p:cNvSpPr txBox="1"/>
          <p:nvPr/>
        </p:nvSpPr>
        <p:spPr>
          <a:xfrm>
            <a:off x="6217920" y="4572000"/>
            <a:ext cx="5029200" cy="274320"/>
          </a:xfrm>
          <a:prstGeom prst="rect">
            <a:avLst/>
          </a:prstGeom>
          <a:noFill/>
        </p:spPr>
        <p:txBody>
          <a:bodyPr wrap="none">
            <a:spAutoFit/>
          </a:bodyPr>
          <a:lstStyle/>
          <a:p>
            <a:r>
              <a:rPr sz="1400" b="1">
                <a:solidFill>
                  <a:srgbClr val="33AA55"/>
                </a:solidFill>
                <a:latin typeface="Calibri"/>
              </a:rPr>
              <a:t>Coordination overhead: structurally eliminated</a:t>
            </a:r>
          </a:p>
        </p:txBody>
      </p:sp>
      <p:sp>
        <p:nvSpPr>
          <p:cNvPr id="21" name="TextBox 20"/>
          <p:cNvSpPr txBox="1"/>
          <p:nvPr/>
        </p:nvSpPr>
        <p:spPr>
          <a:xfrm>
            <a:off x="731520" y="5669280"/>
            <a:ext cx="10698480" cy="457200"/>
          </a:xfrm>
          <a:prstGeom prst="rect">
            <a:avLst/>
          </a:prstGeom>
          <a:noFill/>
        </p:spPr>
        <p:txBody>
          <a:bodyPr wrap="none">
            <a:spAutoFit/>
          </a:bodyPr>
          <a:lstStyle/>
          <a:p>
            <a:pPr algn="ctr"/>
            <a:r>
              <a:rPr sz="2000" b="1">
                <a:solidFill>
                  <a:srgbClr val="007ACC"/>
                </a:solidFill>
                <a:latin typeface="Calibri"/>
              </a:rPr>
              <a:t>Not a 10% efficiency gain. A 2-3x margin improvement on transformed workflows.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Domain knowledge, workflow patterns, and playbooks compound in Exocortex — they don't walk out the door</a:t>
            </a:r>
          </a:p>
        </p:txBody>
      </p:sp>
      <p:sp>
        <p:nvSpPr>
          <p:cNvPr id="5" name="Rectangle 4"/>
          <p:cNvSpPr/>
          <p:nvPr/>
        </p:nvSpPr>
        <p:spPr>
          <a:xfrm>
            <a:off x="914400" y="2743200"/>
            <a:ext cx="1371600" cy="18288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663440"/>
            <a:ext cx="1371600" cy="274320"/>
          </a:xfrm>
          <a:prstGeom prst="rect">
            <a:avLst/>
          </a:prstGeom>
          <a:noFill/>
        </p:spPr>
        <p:txBody>
          <a:bodyPr wrap="none">
            <a:spAutoFit/>
          </a:bodyPr>
          <a:lstStyle/>
          <a:p>
            <a:pPr algn="ctr"/>
            <a:r>
              <a:rPr sz="1100">
                <a:solidFill>
                  <a:srgbClr val="999999"/>
                </a:solidFill>
                <a:latin typeface="Calibri"/>
              </a:rPr>
              <a:t>Project 1</a:t>
            </a:r>
          </a:p>
        </p:txBody>
      </p:sp>
      <p:sp>
        <p:nvSpPr>
          <p:cNvPr id="7" name="Rectangle 6"/>
          <p:cNvSpPr/>
          <p:nvPr/>
        </p:nvSpPr>
        <p:spPr>
          <a:xfrm>
            <a:off x="2560320" y="3200400"/>
            <a:ext cx="1371600" cy="13716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0" y="4663440"/>
            <a:ext cx="1371600" cy="274320"/>
          </a:xfrm>
          <a:prstGeom prst="rect">
            <a:avLst/>
          </a:prstGeom>
          <a:noFill/>
        </p:spPr>
        <p:txBody>
          <a:bodyPr wrap="none">
            <a:spAutoFit/>
          </a:bodyPr>
          <a:lstStyle/>
          <a:p>
            <a:pPr algn="ctr"/>
            <a:r>
              <a:rPr sz="1100">
                <a:solidFill>
                  <a:srgbClr val="999999"/>
                </a:solidFill>
                <a:latin typeface="Calibri"/>
              </a:rPr>
              <a:t>Project 2</a:t>
            </a:r>
          </a:p>
        </p:txBody>
      </p:sp>
      <p:sp>
        <p:nvSpPr>
          <p:cNvPr id="9" name="Rectangle 8"/>
          <p:cNvSpPr/>
          <p:nvPr/>
        </p:nvSpPr>
        <p:spPr>
          <a:xfrm>
            <a:off x="4206240" y="3566160"/>
            <a:ext cx="1371600" cy="10058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4663440"/>
            <a:ext cx="1371600" cy="274320"/>
          </a:xfrm>
          <a:prstGeom prst="rect">
            <a:avLst/>
          </a:prstGeom>
          <a:noFill/>
        </p:spPr>
        <p:txBody>
          <a:bodyPr wrap="none">
            <a:spAutoFit/>
          </a:bodyPr>
          <a:lstStyle/>
          <a:p>
            <a:pPr algn="ctr"/>
            <a:r>
              <a:rPr sz="1100">
                <a:solidFill>
                  <a:srgbClr val="999999"/>
                </a:solidFill>
                <a:latin typeface="Calibri"/>
              </a:rPr>
              <a:t>Project 3</a:t>
            </a:r>
          </a:p>
        </p:txBody>
      </p:sp>
      <p:sp>
        <p:nvSpPr>
          <p:cNvPr id="11" name="Rectangle 10"/>
          <p:cNvSpPr/>
          <p:nvPr/>
        </p:nvSpPr>
        <p:spPr>
          <a:xfrm>
            <a:off x="5852160" y="3840480"/>
            <a:ext cx="1371600" cy="7315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4663440"/>
            <a:ext cx="1371600" cy="274320"/>
          </a:xfrm>
          <a:prstGeom prst="rect">
            <a:avLst/>
          </a:prstGeom>
          <a:noFill/>
        </p:spPr>
        <p:txBody>
          <a:bodyPr wrap="none">
            <a:spAutoFit/>
          </a:bodyPr>
          <a:lstStyle/>
          <a:p>
            <a:pPr algn="ctr"/>
            <a:r>
              <a:rPr sz="1100">
                <a:solidFill>
                  <a:srgbClr val="999999"/>
                </a:solidFill>
                <a:latin typeface="Calibri"/>
              </a:rPr>
              <a:t>Project 4</a:t>
            </a:r>
          </a:p>
        </p:txBody>
      </p:sp>
      <p:sp>
        <p:nvSpPr>
          <p:cNvPr id="13" name="Rectangle 12"/>
          <p:cNvSpPr/>
          <p:nvPr/>
        </p:nvSpPr>
        <p:spPr>
          <a:xfrm>
            <a:off x="7498080" y="4069080"/>
            <a:ext cx="1371600" cy="502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4663440"/>
            <a:ext cx="1371600" cy="274320"/>
          </a:xfrm>
          <a:prstGeom prst="rect">
            <a:avLst/>
          </a:prstGeom>
          <a:noFill/>
        </p:spPr>
        <p:txBody>
          <a:bodyPr wrap="none">
            <a:spAutoFit/>
          </a:bodyPr>
          <a:lstStyle/>
          <a:p>
            <a:pPr algn="ctr"/>
            <a:r>
              <a:rPr sz="1100">
                <a:solidFill>
                  <a:srgbClr val="999999"/>
                </a:solidFill>
                <a:latin typeface="Calibri"/>
              </a:rPr>
              <a:t>Project 5</a:t>
            </a:r>
          </a:p>
        </p:txBody>
      </p:sp>
      <p:sp>
        <p:nvSpPr>
          <p:cNvPr id="15" name="TextBox 14"/>
          <p:cNvSpPr txBox="1"/>
          <p:nvPr/>
        </p:nvSpPr>
        <p:spPr>
          <a:xfrm>
            <a:off x="182880" y="2560320"/>
            <a:ext cx="731520" cy="457200"/>
          </a:xfrm>
          <a:prstGeom prst="rect">
            <a:avLst/>
          </a:prstGeom>
          <a:noFill/>
        </p:spPr>
        <p:txBody>
          <a:bodyPr wrap="none">
            <a:spAutoFit/>
          </a:bodyPr>
          <a:lstStyle/>
          <a:p>
            <a:r>
              <a:rPr sz="1000">
                <a:solidFill>
                  <a:srgbClr val="999999"/>
                </a:solidFill>
                <a:latin typeface="Calibri"/>
              </a:rPr>
              <a:t>Cost /
Time</a:t>
            </a:r>
          </a:p>
        </p:txBody>
      </p:sp>
      <p:sp>
        <p:nvSpPr>
          <p:cNvPr id="16" name="TextBox 15"/>
          <p:cNvSpPr txBox="1"/>
          <p:nvPr/>
        </p:nvSpPr>
        <p:spPr>
          <a:xfrm>
            <a:off x="7772400" y="1828800"/>
            <a:ext cx="4114800" cy="914400"/>
          </a:xfrm>
          <a:prstGeom prst="rect">
            <a:avLst/>
          </a:prstGeom>
          <a:noFill/>
        </p:spPr>
        <p:txBody>
          <a:bodyPr wrap="square">
            <a:spAutoFit/>
          </a:bodyPr>
          <a:lstStyle/>
          <a:p>
            <a:r>
              <a:rPr sz="1600" b="1">
                <a:solidFill>
                  <a:srgbClr val="00B4A0"/>
                </a:solidFill>
                <a:latin typeface="Calibri"/>
              </a:rPr>
              <a:t>Data</a:t>
            </a:r>
          </a:p>
          <a:p>
            <a:r>
              <a:rPr sz="1200">
                <a:solidFill>
                  <a:srgbClr val="2D2D2D"/>
                </a:solidFill>
                <a:latin typeface="Calibri"/>
              </a:rPr>
              <a:t>More deployments → better outcomes → more referrals</a:t>
            </a:r>
          </a:p>
        </p:txBody>
      </p:sp>
      <p:sp>
        <p:nvSpPr>
          <p:cNvPr id="17" name="TextBox 16"/>
          <p:cNvSpPr txBox="1"/>
          <p:nvPr/>
        </p:nvSpPr>
        <p:spPr>
          <a:xfrm>
            <a:off x="7772400" y="2926080"/>
            <a:ext cx="4114800" cy="914400"/>
          </a:xfrm>
          <a:prstGeom prst="rect">
            <a:avLst/>
          </a:prstGeom>
          <a:noFill/>
        </p:spPr>
        <p:txBody>
          <a:bodyPr wrap="square">
            <a:spAutoFit/>
          </a:bodyPr>
          <a:lstStyle/>
          <a:p>
            <a:r>
              <a:rPr sz="1600" b="1">
                <a:solidFill>
                  <a:srgbClr val="00B4A0"/>
                </a:solidFill>
                <a:latin typeface="Calibri"/>
              </a:rPr>
              <a:t>Efficiency</a:t>
            </a:r>
          </a:p>
          <a:p>
            <a:r>
              <a:rPr sz="1200">
                <a:solidFill>
                  <a:srgbClr val="2D2D2D"/>
                </a:solidFill>
                <a:latin typeface="Calibri"/>
              </a:rPr>
              <a:t>More usage → faster delivery → better margins</a:t>
            </a:r>
          </a:p>
        </p:txBody>
      </p:sp>
      <p:sp>
        <p:nvSpPr>
          <p:cNvPr id="18" name="TextBox 17"/>
          <p:cNvSpPr txBox="1"/>
          <p:nvPr/>
        </p:nvSpPr>
        <p:spPr>
          <a:xfrm>
            <a:off x="7772400" y="4023360"/>
            <a:ext cx="4114800" cy="914400"/>
          </a:xfrm>
          <a:prstGeom prst="rect">
            <a:avLst/>
          </a:prstGeom>
          <a:noFill/>
        </p:spPr>
        <p:txBody>
          <a:bodyPr wrap="square">
            <a:spAutoFit/>
          </a:bodyPr>
          <a:lstStyle/>
          <a:p>
            <a:r>
              <a:rPr sz="1600" b="1">
                <a:solidFill>
                  <a:srgbClr val="00B4A0"/>
                </a:solidFill>
                <a:latin typeface="Calibri"/>
              </a:rPr>
              <a:t>Playbooks</a:t>
            </a:r>
          </a:p>
          <a:p>
            <a:r>
              <a:rPr sz="1200">
                <a:solidFill>
                  <a:srgbClr val="2D2D2D"/>
                </a:solidFill>
                <a:latin typeface="Calibri"/>
              </a:rPr>
              <a:t>More patterns → higher capacity per person</a:t>
            </a:r>
          </a:p>
        </p:txBody>
      </p:sp>
      <p:sp>
        <p:nvSpPr>
          <p:cNvPr id="19" name="Rectangle 18"/>
          <p:cNvSpPr/>
          <p:nvPr/>
        </p:nvSpPr>
        <p:spPr>
          <a:xfrm>
            <a:off x="731520" y="5303520"/>
            <a:ext cx="54864" cy="640080"/>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303520"/>
            <a:ext cx="10058400" cy="640080"/>
          </a:xfrm>
          <a:prstGeom prst="rect">
            <a:avLst/>
          </a:prstGeom>
          <a:noFill/>
        </p:spPr>
        <p:txBody>
          <a:bodyPr wrap="square">
            <a:spAutoFit/>
          </a:bodyPr>
          <a:lstStyle/>
          <a:p>
            <a:r>
              <a:rPr sz="1500" i="1">
                <a:solidFill>
                  <a:srgbClr val="2D2D2D"/>
                </a:solidFill>
                <a:latin typeface="Calibri"/>
              </a:rPr>
              <a:t>Traditional services firms scale linearly. We scale exponentially.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Production results across industries — not demos, not pilots, not proofs of concept</a:t>
            </a:r>
          </a:p>
        </p:txBody>
      </p:sp>
      <p:sp>
        <p:nvSpPr>
          <p:cNvPr id="5" name="Rounded Rectangle 4"/>
          <p:cNvSpPr/>
          <p:nvPr/>
        </p:nvSpPr>
        <p:spPr>
          <a:xfrm>
            <a:off x="731520" y="1645920"/>
            <a:ext cx="3200400" cy="27432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1600" b="1">
                <a:solidFill>
                  <a:srgbClr val="999999"/>
                </a:solidFill>
                <a:latin typeface="Calibri"/>
              </a:rPr>
              <a:t>TASC</a:t>
            </a:r>
          </a:p>
          <a:p>
            <a:pPr algn="ctr">
              <a:spcBef>
                <a:spcPts val="800"/>
              </a:spcBef>
            </a:pPr>
            <a:r>
              <a:rPr sz="3600" b="1">
                <a:solidFill>
                  <a:srgbClr val="007ACC"/>
                </a:solidFill>
                <a:latin typeface="Calibri"/>
              </a:rPr>
              <a:t>3.5x</a:t>
            </a:r>
          </a:p>
          <a:p>
            <a:pPr algn="ctr"/>
            <a:r>
              <a:rPr sz="1400">
                <a:solidFill>
                  <a:srgbClr val="2D2D2D"/>
                </a:solidFill>
                <a:latin typeface="Calibri"/>
              </a:rPr>
              <a:t>Improvement in qualified leads</a:t>
            </a:r>
          </a:p>
          <a:p>
            <a:pPr algn="ctr">
              <a:spcBef>
                <a:spcPts val="600"/>
              </a:spcBef>
            </a:pPr>
            <a:r>
              <a:rPr sz="1200">
                <a:solidFill>
                  <a:srgbClr val="999999"/>
                </a:solidFill>
                <a:latin typeface="Calibri"/>
              </a:rPr>
              <a:t>799 → 2,818 leads/month</a:t>
            </a:r>
          </a:p>
          <a:p>
            <a:pPr algn="ctr">
              <a:spcBef>
                <a:spcPts val="400"/>
              </a:spcBef>
            </a:pPr>
            <a:r>
              <a:rPr sz="1100" i="1">
                <a:solidFill>
                  <a:srgbClr val="00B4A0"/>
                </a:solidFill>
                <a:latin typeface="Calibri"/>
              </a:rPr>
              <a:t>Featured Salesforce customer story</a:t>
            </a:r>
          </a:p>
        </p:txBody>
      </p:sp>
      <p:sp>
        <p:nvSpPr>
          <p:cNvPr id="6" name="Rounded Rectangle 5"/>
          <p:cNvSpPr/>
          <p:nvPr/>
        </p:nvSpPr>
        <p:spPr>
          <a:xfrm>
            <a:off x="4297680" y="1645920"/>
            <a:ext cx="3200400" cy="27432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1600" b="1">
                <a:solidFill>
                  <a:srgbClr val="999999"/>
                </a:solidFill>
                <a:latin typeface="Calibri"/>
              </a:rPr>
              <a:t>Houzbay</a:t>
            </a:r>
          </a:p>
          <a:p>
            <a:pPr algn="ctr">
              <a:spcBef>
                <a:spcPts val="800"/>
              </a:spcBef>
            </a:pPr>
            <a:r>
              <a:rPr sz="3600" b="1">
                <a:solidFill>
                  <a:srgbClr val="007ACC"/>
                </a:solidFill>
                <a:latin typeface="Calibri"/>
              </a:rPr>
              <a:t>30%</a:t>
            </a:r>
          </a:p>
          <a:p>
            <a:pPr algn="ctr"/>
            <a:r>
              <a:rPr sz="1400">
                <a:solidFill>
                  <a:srgbClr val="2D2D2D"/>
                </a:solidFill>
                <a:latin typeface="Calibri"/>
              </a:rPr>
              <a:t>Conversion rate</a:t>
            </a:r>
          </a:p>
          <a:p>
            <a:pPr algn="ctr">
              <a:spcBef>
                <a:spcPts val="600"/>
              </a:spcBef>
            </a:pPr>
            <a:r>
              <a:rPr sz="1200">
                <a:solidFill>
                  <a:srgbClr val="999999"/>
                </a:solidFill>
                <a:latin typeface="Calibri"/>
              </a:rPr>
              <a:t>Nearly 1 in 3 users qualified as lead</a:t>
            </a:r>
          </a:p>
        </p:txBody>
      </p:sp>
      <p:sp>
        <p:nvSpPr>
          <p:cNvPr id="7" name="Rounded Rectangle 6"/>
          <p:cNvSpPr/>
          <p:nvPr/>
        </p:nvSpPr>
        <p:spPr>
          <a:xfrm>
            <a:off x="7863840" y="1645920"/>
            <a:ext cx="3200400" cy="274320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1600" b="1">
                <a:solidFill>
                  <a:srgbClr val="999999"/>
                </a:solidFill>
                <a:latin typeface="Calibri"/>
              </a:rPr>
              <a:t>Flok</a:t>
            </a:r>
          </a:p>
          <a:p>
            <a:pPr algn="ctr">
              <a:spcBef>
                <a:spcPts val="800"/>
              </a:spcBef>
            </a:pPr>
            <a:r>
              <a:rPr sz="3600" b="1">
                <a:solidFill>
                  <a:srgbClr val="007ACC"/>
                </a:solidFill>
                <a:latin typeface="Calibri"/>
              </a:rPr>
              <a:t>5 days</a:t>
            </a:r>
          </a:p>
          <a:p>
            <a:pPr algn="ctr"/>
            <a:r>
              <a:rPr sz="1400">
                <a:solidFill>
                  <a:srgbClr val="2D2D2D"/>
                </a:solidFill>
                <a:latin typeface="Calibri"/>
              </a:rPr>
              <a:t>To production</a:t>
            </a:r>
          </a:p>
          <a:p>
            <a:pPr algn="ctr">
              <a:spcBef>
                <a:spcPts val="600"/>
              </a:spcBef>
            </a:pPr>
            <a:r>
              <a:rPr sz="1200">
                <a:solidFill>
                  <a:srgbClr val="999999"/>
                </a:solidFill>
                <a:latin typeface="Calibri"/>
              </a:rPr>
              <a:t>Complex Agentforce implementation</a:t>
            </a:r>
          </a:p>
        </p:txBody>
      </p:sp>
      <p:sp>
        <p:nvSpPr>
          <p:cNvPr id="8" name="Rectangle 7"/>
          <p:cNvSpPr/>
          <p:nvPr/>
        </p:nvSpPr>
        <p:spPr>
          <a:xfrm>
            <a:off x="731520" y="4754880"/>
            <a:ext cx="54864" cy="640080"/>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754880"/>
            <a:ext cx="10058400" cy="640080"/>
          </a:xfrm>
          <a:prstGeom prst="rect">
            <a:avLst/>
          </a:prstGeom>
          <a:noFill/>
        </p:spPr>
        <p:txBody>
          <a:bodyPr wrap="square">
            <a:spAutoFit/>
          </a:bodyPr>
          <a:lstStyle/>
          <a:p>
            <a:r>
              <a:rPr sz="1500" i="1">
                <a:solidFill>
                  <a:srgbClr val="2D2D2D"/>
                </a:solidFill>
                <a:latin typeface="Calibri"/>
              </a:rPr>
              <a:t>“It's like hiring 3 quality SDRs to drive pipeline without adding headcount.” — Sudheer Noohu, CTO, TASC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Founded by operators who've built at decacorn scale, backed by Peak XV and RTP Global</a:t>
            </a:r>
          </a:p>
        </p:txBody>
      </p:sp>
      <p:sp>
        <p:nvSpPr>
          <p:cNvPr id="5" name="Rounded Rectangle 4"/>
          <p:cNvSpPr/>
          <p:nvPr/>
        </p:nvSpPr>
        <p:spPr>
          <a:xfrm>
            <a:off x="731520" y="1645920"/>
            <a:ext cx="320040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a:lstStyle/>
          <a:p>
            <a:pPr algn="ctr"/>
            <a:r>
              <a:rPr sz="2000" b="1">
                <a:solidFill>
                  <a:srgbClr val="1A1A2E"/>
                </a:solidFill>
                <a:latin typeface="Calibri"/>
              </a:rPr>
              <a:t>Sidu Ponnappa</a:t>
            </a:r>
          </a:p>
          <a:p>
            <a:pPr>
              <a:spcBef>
                <a:spcPts val="400"/>
              </a:spcBef>
            </a:pPr>
            <a:r>
              <a:rPr sz="1400">
                <a:solidFill>
                  <a:srgbClr val="00B4A0"/>
                </a:solidFill>
                <a:latin typeface="Calibri"/>
              </a:rPr>
              <a:t>CEO, Co-Founder</a:t>
            </a:r>
          </a:p>
          <a:p>
            <a:pPr>
              <a:spcBef>
                <a:spcPts val="800"/>
              </a:spcBef>
            </a:pPr>
            <a:r>
              <a:rPr sz="1200">
                <a:solidFill>
                  <a:srgbClr val="999999"/>
                </a:solidFill>
                <a:latin typeface="Calibri"/>
              </a:rPr>
              <a:t>[Background summary]</a:t>
            </a:r>
          </a:p>
        </p:txBody>
      </p:sp>
      <p:sp>
        <p:nvSpPr>
          <p:cNvPr id="6" name="Rounded Rectangle 5"/>
          <p:cNvSpPr/>
          <p:nvPr/>
        </p:nvSpPr>
        <p:spPr>
          <a:xfrm>
            <a:off x="4297680" y="1645920"/>
            <a:ext cx="320040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a:lstStyle/>
          <a:p>
            <a:pPr algn="ctr"/>
            <a:r>
              <a:rPr sz="2000" b="1">
                <a:solidFill>
                  <a:srgbClr val="1A1A2E"/>
                </a:solidFill>
                <a:latin typeface="Calibri"/>
              </a:rPr>
              <a:t>Aakash Dharmadhikari</a:t>
            </a:r>
          </a:p>
          <a:p>
            <a:pPr>
              <a:spcBef>
                <a:spcPts val="400"/>
              </a:spcBef>
            </a:pPr>
            <a:r>
              <a:rPr sz="1400">
                <a:solidFill>
                  <a:srgbClr val="00B4A0"/>
                </a:solidFill>
                <a:latin typeface="Calibri"/>
              </a:rPr>
              <a:t>CPTO, Co-Founder</a:t>
            </a:r>
          </a:p>
          <a:p>
            <a:pPr>
              <a:spcBef>
                <a:spcPts val="800"/>
              </a:spcBef>
            </a:pPr>
            <a:r>
              <a:rPr sz="1200">
                <a:solidFill>
                  <a:srgbClr val="999999"/>
                </a:solidFill>
                <a:latin typeface="Calibri"/>
              </a:rPr>
              <a:t>[Background summary]</a:t>
            </a:r>
          </a:p>
        </p:txBody>
      </p:sp>
      <p:sp>
        <p:nvSpPr>
          <p:cNvPr id="7" name="Rounded Rectangle 6"/>
          <p:cNvSpPr/>
          <p:nvPr/>
        </p:nvSpPr>
        <p:spPr>
          <a:xfrm>
            <a:off x="7863840" y="1645920"/>
            <a:ext cx="320040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82880" tIns="228600"/>
          <a:lstStyle/>
          <a:p>
            <a:pPr algn="ctr"/>
            <a:r>
              <a:rPr sz="2000" b="1">
                <a:solidFill>
                  <a:srgbClr val="1A1A2E"/>
                </a:solidFill>
                <a:latin typeface="Calibri"/>
              </a:rPr>
              <a:t>Steve Sule</a:t>
            </a:r>
          </a:p>
          <a:p>
            <a:pPr>
              <a:spcBef>
                <a:spcPts val="400"/>
              </a:spcBef>
            </a:pPr>
            <a:r>
              <a:rPr sz="1400">
                <a:solidFill>
                  <a:srgbClr val="00B4A0"/>
                </a:solidFill>
                <a:latin typeface="Calibri"/>
              </a:rPr>
              <a:t>CFO, Co-Founder</a:t>
            </a:r>
          </a:p>
          <a:p>
            <a:pPr>
              <a:spcBef>
                <a:spcPts val="800"/>
              </a:spcBef>
            </a:pPr>
            <a:r>
              <a:rPr sz="1200">
                <a:solidFill>
                  <a:srgbClr val="999999"/>
                </a:solidFill>
                <a:latin typeface="Calibri"/>
              </a:rPr>
              <a:t>[Background summary]</a:t>
            </a:r>
          </a:p>
        </p:txBody>
      </p:sp>
      <p:sp>
        <p:nvSpPr>
          <p:cNvPr id="8" name="Rounded Rectangle 7"/>
          <p:cNvSpPr/>
          <p:nvPr/>
        </p:nvSpPr>
        <p:spPr>
          <a:xfrm>
            <a:off x="2286000" y="3840480"/>
            <a:ext cx="7315200" cy="64008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Peak XV Partners  |  RTP Global</a:t>
            </a:r>
          </a:p>
        </p:txBody>
      </p:sp>
      <p:sp>
        <p:nvSpPr>
          <p:cNvPr id="9" name="TextBox 8"/>
          <p:cNvSpPr txBox="1"/>
          <p:nvPr/>
        </p:nvSpPr>
        <p:spPr>
          <a:xfrm>
            <a:off x="731520" y="4937760"/>
            <a:ext cx="10698480" cy="548640"/>
          </a:xfrm>
          <a:prstGeom prst="rect">
            <a:avLst/>
          </a:prstGeom>
          <a:noFill/>
        </p:spPr>
        <p:txBody>
          <a:bodyPr wrap="square">
            <a:spAutoFit/>
          </a:bodyPr>
          <a:lstStyle/>
          <a:p>
            <a:pPr algn="ctr"/>
            <a:r>
              <a:rPr sz="1500" i="1">
                <a:solidFill>
                  <a:srgbClr val="999999"/>
                </a:solidFill>
                <a:latin typeface="Calibri"/>
              </a:rPr>
              <a:t>Decades of software engineering, blitzscaling to decacorn scale, and billion-dollar M&amp;A.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[TO BE POPULATED] realfast unit economics vs. industry benchmarks</a:t>
            </a:r>
          </a:p>
        </p:txBody>
      </p:sp>
      <p:sp>
        <p:nvSpPr>
          <p:cNvPr id="5" name="Rounded Rectangle 4"/>
          <p:cNvSpPr/>
          <p:nvPr/>
        </p:nvSpPr>
        <p:spPr>
          <a:xfrm>
            <a:off x="1371600" y="1828800"/>
            <a:ext cx="9144000" cy="731520"/>
          </a:xfrm>
          <a:prstGeom prst="roundRect">
            <a:avLst/>
          </a:prstGeom>
          <a:solidFill>
            <a:srgbClr val="F5F5F5"/>
          </a:solidFill>
          <a:ln w="12700">
            <a:solidFill>
              <a:srgbClr val="999999"/>
            </a:solidFill>
            <a:prstDash val="sysDash"/>
          </a:ln>
        </p:spPr>
        <p:style>
          <a:lnRef idx="1">
            <a:schemeClr val="accent1"/>
          </a:lnRef>
          <a:fillRef idx="3">
            <a:schemeClr val="accent1"/>
          </a:fillRef>
          <a:effectRef idx="2">
            <a:schemeClr val="accent1"/>
          </a:effectRef>
          <a:fontRef idx="minor">
            <a:schemeClr val="lt1"/>
          </a:fontRef>
        </p:style>
        <p:txBody>
          <a:bodyPr rtlCol="0" anchor="ctr" lIns="274320"/>
          <a:lstStyle/>
          <a:p>
            <a:pPr algn="ctr"/>
            <a:r>
              <a:rPr sz="1600">
                <a:solidFill>
                  <a:srgbClr val="999999"/>
                </a:solidFill>
                <a:latin typeface="Calibri"/>
              </a:rPr>
              <a:t>[DATA NEEDED] realfast RPE vs. industry benchmark ($50K)</a:t>
            </a:r>
          </a:p>
        </p:txBody>
      </p:sp>
      <p:sp>
        <p:nvSpPr>
          <p:cNvPr id="6" name="Rounded Rectangle 5"/>
          <p:cNvSpPr/>
          <p:nvPr/>
        </p:nvSpPr>
        <p:spPr>
          <a:xfrm>
            <a:off x="1371600" y="2834640"/>
            <a:ext cx="9144000" cy="731520"/>
          </a:xfrm>
          <a:prstGeom prst="roundRect">
            <a:avLst/>
          </a:prstGeom>
          <a:solidFill>
            <a:srgbClr val="F5F5F5"/>
          </a:solidFill>
          <a:ln w="12700">
            <a:solidFill>
              <a:srgbClr val="999999"/>
            </a:solidFill>
            <a:prstDash val="sysDash"/>
          </a:ln>
        </p:spPr>
        <p:style>
          <a:lnRef idx="1">
            <a:schemeClr val="accent1"/>
          </a:lnRef>
          <a:fillRef idx="3">
            <a:schemeClr val="accent1"/>
          </a:fillRef>
          <a:effectRef idx="2">
            <a:schemeClr val="accent1"/>
          </a:effectRef>
          <a:fontRef idx="minor">
            <a:schemeClr val="lt1"/>
          </a:fontRef>
        </p:style>
        <p:txBody>
          <a:bodyPr rtlCol="0" anchor="ctr" lIns="274320"/>
          <a:lstStyle/>
          <a:p>
            <a:pPr algn="ctr"/>
            <a:r>
              <a:rPr sz="1600">
                <a:solidFill>
                  <a:srgbClr val="999999"/>
                </a:solidFill>
                <a:latin typeface="Calibri"/>
              </a:rPr>
              <a:t>[DATA NEEDED] Margin profile by engagement type</a:t>
            </a:r>
          </a:p>
        </p:txBody>
      </p:sp>
      <p:sp>
        <p:nvSpPr>
          <p:cNvPr id="7" name="Rounded Rectangle 6"/>
          <p:cNvSpPr/>
          <p:nvPr/>
        </p:nvSpPr>
        <p:spPr>
          <a:xfrm>
            <a:off x="1371600" y="3840480"/>
            <a:ext cx="9144000" cy="731520"/>
          </a:xfrm>
          <a:prstGeom prst="roundRect">
            <a:avLst/>
          </a:prstGeom>
          <a:solidFill>
            <a:srgbClr val="F5F5F5"/>
          </a:solidFill>
          <a:ln w="12700">
            <a:solidFill>
              <a:srgbClr val="999999"/>
            </a:solidFill>
            <a:prstDash val="sysDash"/>
          </a:ln>
        </p:spPr>
        <p:style>
          <a:lnRef idx="1">
            <a:schemeClr val="accent1"/>
          </a:lnRef>
          <a:fillRef idx="3">
            <a:schemeClr val="accent1"/>
          </a:fillRef>
          <a:effectRef idx="2">
            <a:schemeClr val="accent1"/>
          </a:effectRef>
          <a:fontRef idx="minor">
            <a:schemeClr val="lt1"/>
          </a:fontRef>
        </p:style>
        <p:txBody>
          <a:bodyPr rtlCol="0" anchor="ctr" lIns="274320"/>
          <a:lstStyle/>
          <a:p>
            <a:pPr algn="ctr"/>
            <a:r>
              <a:rPr sz="1600">
                <a:solidFill>
                  <a:srgbClr val="999999"/>
                </a:solidFill>
                <a:latin typeface="Calibri"/>
              </a:rPr>
              <a:t>[DATA NEEDED] Revenue per FDE trend</a:t>
            </a:r>
          </a:p>
        </p:txBody>
      </p:sp>
      <p:sp>
        <p:nvSpPr>
          <p:cNvPr id="8" name="Rounded Rectangle 7"/>
          <p:cNvSpPr/>
          <p:nvPr/>
        </p:nvSpPr>
        <p:spPr>
          <a:xfrm>
            <a:off x="1371600" y="4846320"/>
            <a:ext cx="9144000" cy="731520"/>
          </a:xfrm>
          <a:prstGeom prst="roundRect">
            <a:avLst/>
          </a:prstGeom>
          <a:solidFill>
            <a:srgbClr val="F5F5F5"/>
          </a:solidFill>
          <a:ln w="12700">
            <a:solidFill>
              <a:srgbClr val="999999"/>
            </a:solidFill>
            <a:prstDash val="sysDash"/>
          </a:ln>
        </p:spPr>
        <p:style>
          <a:lnRef idx="1">
            <a:schemeClr val="accent1"/>
          </a:lnRef>
          <a:fillRef idx="3">
            <a:schemeClr val="accent1"/>
          </a:fillRef>
          <a:effectRef idx="2">
            <a:schemeClr val="accent1"/>
          </a:effectRef>
          <a:fontRef idx="minor">
            <a:schemeClr val="lt1"/>
          </a:fontRef>
        </p:style>
        <p:txBody>
          <a:bodyPr rtlCol="0" anchor="ctr" lIns="274320"/>
          <a:lstStyle/>
          <a:p>
            <a:pPr algn="ctr"/>
            <a:r>
              <a:rPr sz="1600">
                <a:solidFill>
                  <a:srgbClr val="999999"/>
                </a:solidFill>
                <a:latin typeface="Calibri"/>
              </a:rPr>
              <a:t>[DATA NEEDED] Cost-to-serve trend (declining)</a:t>
            </a:r>
          </a:p>
        </p:txBody>
      </p:sp>
      <p:sp>
        <p:nvSpPr>
          <p:cNvPr id="9" name="TextBox 8"/>
          <p:cNvSpPr txBox="1"/>
          <p:nvPr/>
        </p:nvSpPr>
        <p:spPr>
          <a:xfrm>
            <a:off x="1371600" y="5669280"/>
            <a:ext cx="9144000" cy="457200"/>
          </a:xfrm>
          <a:prstGeom prst="rect">
            <a:avLst/>
          </a:prstGeom>
          <a:noFill/>
        </p:spPr>
        <p:txBody>
          <a:bodyPr wrap="none">
            <a:spAutoFit/>
          </a:bodyPr>
          <a:lstStyle/>
          <a:p>
            <a:pPr algn="ctr"/>
            <a:r>
              <a:rPr sz="1400" b="1">
                <a:solidFill>
                  <a:srgbClr val="CC3333"/>
                </a:solidFill>
                <a:latin typeface="Calibri"/>
              </a:rPr>
              <a:t>PLACEHOLDER — Populate with actual data before presenting.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One workflow. One business metric. 3-6 weeks to production.</a:t>
            </a:r>
          </a:p>
        </p:txBody>
      </p:sp>
      <p:sp>
        <p:nvSpPr>
          <p:cNvPr id="5" name="Oval 4"/>
          <p:cNvSpPr/>
          <p:nvPr/>
        </p:nvSpPr>
        <p:spPr>
          <a:xfrm>
            <a:off x="1371600" y="1828800"/>
            <a:ext cx="640080" cy="64008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1</a:t>
            </a:r>
          </a:p>
        </p:txBody>
      </p:sp>
      <p:sp>
        <p:nvSpPr>
          <p:cNvPr id="6" name="Rounded Rectangle 5"/>
          <p:cNvSpPr/>
          <p:nvPr/>
        </p:nvSpPr>
        <p:spPr>
          <a:xfrm>
            <a:off x="548640" y="2743200"/>
            <a:ext cx="256032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1600" b="1">
                <a:solidFill>
                  <a:srgbClr val="1A1A2E"/>
                </a:solidFill>
                <a:latin typeface="Calibri"/>
              </a:rPr>
              <a:t>Start narrow</a:t>
            </a:r>
          </a:p>
          <a:p>
            <a:pPr algn="ctr">
              <a:spcBef>
                <a:spcPts val="600"/>
              </a:spcBef>
            </a:pPr>
            <a:r>
              <a:rPr sz="1200">
                <a:solidFill>
                  <a:srgbClr val="999999"/>
                </a:solidFill>
                <a:latin typeface="Calibri"/>
              </a:rPr>
              <a:t>One workflow, one metric</a:t>
            </a:r>
          </a:p>
        </p:txBody>
      </p:sp>
      <p:sp>
        <p:nvSpPr>
          <p:cNvPr id="7" name="Right Arrow 6"/>
          <p:cNvSpPr/>
          <p:nvPr/>
        </p:nvSpPr>
        <p:spPr>
          <a:xfrm>
            <a:off x="3108960" y="3383280"/>
            <a:ext cx="274320" cy="365760"/>
          </a:xfrm>
          <a:prstGeom prst="rightArrow">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206240" y="1828800"/>
            <a:ext cx="640080" cy="64008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2</a:t>
            </a:r>
          </a:p>
        </p:txBody>
      </p:sp>
      <p:sp>
        <p:nvSpPr>
          <p:cNvPr id="9" name="Rounded Rectangle 8"/>
          <p:cNvSpPr/>
          <p:nvPr/>
        </p:nvSpPr>
        <p:spPr>
          <a:xfrm>
            <a:off x="3383280" y="2743200"/>
            <a:ext cx="256032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1600" b="1">
                <a:solidFill>
                  <a:srgbClr val="1A1A2E"/>
                </a:solidFill>
                <a:latin typeface="Calibri"/>
              </a:rPr>
              <a:t>Prove the delta</a:t>
            </a:r>
          </a:p>
          <a:p>
            <a:pPr algn="ctr">
              <a:spcBef>
                <a:spcPts val="600"/>
              </a:spcBef>
            </a:pPr>
            <a:r>
              <a:rPr sz="1200">
                <a:solidFill>
                  <a:srgbClr val="999999"/>
                </a:solidFill>
                <a:latin typeface="Calibri"/>
              </a:rPr>
              <a:t>Time, cost, quality vs. traditional vendor</a:t>
            </a:r>
          </a:p>
        </p:txBody>
      </p:sp>
      <p:sp>
        <p:nvSpPr>
          <p:cNvPr id="10" name="Right Arrow 9"/>
          <p:cNvSpPr/>
          <p:nvPr/>
        </p:nvSpPr>
        <p:spPr>
          <a:xfrm>
            <a:off x="5943600" y="3383280"/>
            <a:ext cx="274320" cy="365760"/>
          </a:xfrm>
          <a:prstGeom prst="rightArrow">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40880" y="1828800"/>
            <a:ext cx="640080" cy="64008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3</a:t>
            </a:r>
          </a:p>
        </p:txBody>
      </p:sp>
      <p:sp>
        <p:nvSpPr>
          <p:cNvPr id="12" name="Rounded Rectangle 11"/>
          <p:cNvSpPr/>
          <p:nvPr/>
        </p:nvSpPr>
        <p:spPr>
          <a:xfrm>
            <a:off x="6217920" y="2743200"/>
            <a:ext cx="256032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1600" b="1">
                <a:solidFill>
                  <a:srgbClr val="1A1A2E"/>
                </a:solidFill>
                <a:latin typeface="Calibri"/>
              </a:rPr>
              <a:t>Expand</a:t>
            </a:r>
          </a:p>
          <a:p>
            <a:pPr algn="ctr">
              <a:spcBef>
                <a:spcPts val="600"/>
              </a:spcBef>
            </a:pPr>
            <a:r>
              <a:rPr sz="1200">
                <a:solidFill>
                  <a:srgbClr val="999999"/>
                </a:solidFill>
                <a:latin typeface="Calibri"/>
              </a:rPr>
              <a:t>Second project, third — each faster</a:t>
            </a:r>
          </a:p>
        </p:txBody>
      </p:sp>
      <p:sp>
        <p:nvSpPr>
          <p:cNvPr id="13" name="Right Arrow 12"/>
          <p:cNvSpPr/>
          <p:nvPr/>
        </p:nvSpPr>
        <p:spPr>
          <a:xfrm>
            <a:off x="8778240" y="3383280"/>
            <a:ext cx="274320" cy="365760"/>
          </a:xfrm>
          <a:prstGeom prst="rightArrow">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875520" y="1828800"/>
            <a:ext cx="640080" cy="64008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Calibri"/>
              </a:rPr>
              <a:t>4</a:t>
            </a:r>
          </a:p>
        </p:txBody>
      </p:sp>
      <p:sp>
        <p:nvSpPr>
          <p:cNvPr id="15" name="Rounded Rectangle 14"/>
          <p:cNvSpPr/>
          <p:nvPr/>
        </p:nvSpPr>
        <p:spPr>
          <a:xfrm>
            <a:off x="9052560" y="2743200"/>
            <a:ext cx="2560320" cy="164592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1600" b="1">
                <a:solidFill>
                  <a:srgbClr val="1A1A2E"/>
                </a:solidFill>
                <a:latin typeface="Calibri"/>
              </a:rPr>
              <a:t>End state</a:t>
            </a:r>
          </a:p>
          <a:p>
            <a:pPr algn="ctr">
              <a:spcBef>
                <a:spcPts val="600"/>
              </a:spcBef>
            </a:pPr>
            <a:r>
              <a:rPr sz="1200">
                <a:solidFill>
                  <a:srgbClr val="999999"/>
                </a:solidFill>
                <a:latin typeface="Calibri"/>
              </a:rPr>
              <a:t>Operational intelligence layer
tuned to your business</a:t>
            </a:r>
          </a:p>
        </p:txBody>
      </p:sp>
      <p:sp>
        <p:nvSpPr>
          <p:cNvPr id="16" name="Rounded Rectangle 15"/>
          <p:cNvSpPr/>
          <p:nvPr/>
        </p:nvSpPr>
        <p:spPr>
          <a:xfrm>
            <a:off x="731520" y="4937760"/>
            <a:ext cx="10515600" cy="914400"/>
          </a:xfrm>
          <a:prstGeom prst="roundRect">
            <a:avLst/>
          </a:prstGeom>
          <a:solidFill>
            <a:srgbClr val="F5F5F5"/>
          </a:solidFill>
          <a:ln w="25400">
            <a:solidFill>
              <a:srgbClr val="33AA55"/>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1400">
                <a:solidFill>
                  <a:srgbClr val="999999"/>
                </a:solidFill>
                <a:latin typeface="Calibri"/>
              </a:rPr>
              <a:t>Downside: </a:t>
            </a:r>
            <a:r>
              <a:rPr sz="1400">
                <a:solidFill>
                  <a:srgbClr val="2D2D2D"/>
                </a:solidFill>
                <a:latin typeface="Calibri"/>
              </a:rPr>
              <a:t>3-6 weeks, minimal investment.   </a:t>
            </a:r>
            <a:r>
              <a:rPr sz="1400">
                <a:solidFill>
                  <a:srgbClr val="999999"/>
                </a:solidFill>
                <a:latin typeface="Calibri"/>
              </a:rPr>
              <a:t>Upside: </a:t>
            </a:r>
            <a:r>
              <a:rPr sz="1800" b="1">
                <a:solidFill>
                  <a:srgbClr val="1A1A2E"/>
                </a:solidFill>
                <a:latin typeface="Calibri"/>
              </a:rPr>
              <a:t>compounding operational advantage.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The firm that moves first compounds the advantage — the gap widens, not closes</a:t>
            </a:r>
          </a:p>
        </p:txBody>
      </p:sp>
      <p:sp>
        <p:nvSpPr>
          <p:cNvPr id="5" name="Oval 4"/>
          <p:cNvSpPr/>
          <p:nvPr/>
        </p:nvSpPr>
        <p:spPr>
          <a:xfrm>
            <a:off x="914400" y="3200400"/>
            <a:ext cx="182880" cy="18288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3273552"/>
            <a:ext cx="1188720" cy="36576"/>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286000" y="3200400"/>
            <a:ext cx="182880" cy="18288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468880" y="3273552"/>
            <a:ext cx="1188720" cy="36576"/>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57600" y="3200400"/>
            <a:ext cx="182880" cy="18288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840480" y="3273552"/>
            <a:ext cx="1188720" cy="36576"/>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029200" y="3200400"/>
            <a:ext cx="182880" cy="18288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0" y="3273552"/>
            <a:ext cx="1188720" cy="36576"/>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0800" y="3200400"/>
            <a:ext cx="182880" cy="18288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0" y="3273552"/>
            <a:ext cx="1188720" cy="36576"/>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0" y="3200400"/>
            <a:ext cx="182880" cy="18288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3200400"/>
            <a:ext cx="182880" cy="18288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286000" y="2926080"/>
            <a:ext cx="182880" cy="18288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57600" y="2560320"/>
            <a:ext cx="182880" cy="18288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29200" y="2103120"/>
            <a:ext cx="182880" cy="18288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0" y="1554480"/>
            <a:ext cx="182880" cy="18288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0" y="914400"/>
            <a:ext cx="182880" cy="182880"/>
          </a:xfrm>
          <a:prstGeom prst="ellipse">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0" y="3017520"/>
            <a:ext cx="2743200" cy="365760"/>
          </a:xfrm>
          <a:prstGeom prst="rect">
            <a:avLst/>
          </a:prstGeom>
          <a:noFill/>
        </p:spPr>
        <p:txBody>
          <a:bodyPr wrap="none">
            <a:spAutoFit/>
          </a:bodyPr>
          <a:lstStyle/>
          <a:p>
            <a:r>
              <a:rPr sz="1200">
                <a:solidFill>
                  <a:srgbClr val="999999"/>
                </a:solidFill>
                <a:latin typeface="Calibri"/>
              </a:rPr>
              <a:t>Competitor (Accenture)</a:t>
            </a:r>
          </a:p>
        </p:txBody>
      </p:sp>
      <p:sp>
        <p:nvSpPr>
          <p:cNvPr id="23" name="TextBox 22"/>
          <p:cNvSpPr txBox="1"/>
          <p:nvPr/>
        </p:nvSpPr>
        <p:spPr>
          <a:xfrm>
            <a:off x="8686800" y="731520"/>
            <a:ext cx="2743200" cy="365760"/>
          </a:xfrm>
          <a:prstGeom prst="rect">
            <a:avLst/>
          </a:prstGeom>
          <a:noFill/>
        </p:spPr>
        <p:txBody>
          <a:bodyPr wrap="none">
            <a:spAutoFit/>
          </a:bodyPr>
          <a:lstStyle/>
          <a:p>
            <a:r>
              <a:rPr sz="1200" b="1">
                <a:solidFill>
                  <a:srgbClr val="00B4A0"/>
                </a:solidFill>
                <a:latin typeface="Calibri"/>
              </a:rPr>
              <a:t>You (compounding)</a:t>
            </a:r>
          </a:p>
        </p:txBody>
      </p:sp>
      <p:sp>
        <p:nvSpPr>
          <p:cNvPr id="24" name="TextBox 23"/>
          <p:cNvSpPr txBox="1"/>
          <p:nvPr/>
        </p:nvSpPr>
        <p:spPr>
          <a:xfrm>
            <a:off x="3657600" y="3840480"/>
            <a:ext cx="4572000" cy="274320"/>
          </a:xfrm>
          <a:prstGeom prst="rect">
            <a:avLst/>
          </a:prstGeom>
          <a:noFill/>
        </p:spPr>
        <p:txBody>
          <a:bodyPr wrap="none">
            <a:spAutoFit/>
          </a:bodyPr>
          <a:lstStyle/>
          <a:p>
            <a:pPr algn="ctr"/>
            <a:r>
              <a:rPr sz="1100">
                <a:solidFill>
                  <a:srgbClr val="999999"/>
                </a:solidFill>
                <a:latin typeface="Calibri"/>
              </a:rPr>
              <a:t>Projects over time →</a:t>
            </a:r>
          </a:p>
        </p:txBody>
      </p:sp>
      <p:sp>
        <p:nvSpPr>
          <p:cNvPr id="25" name="Rectangle 24"/>
          <p:cNvSpPr/>
          <p:nvPr/>
        </p:nvSpPr>
        <p:spPr>
          <a:xfrm>
            <a:off x="731520" y="4572000"/>
            <a:ext cx="54864" cy="640080"/>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572000"/>
            <a:ext cx="10058400" cy="640080"/>
          </a:xfrm>
          <a:prstGeom prst="rect">
            <a:avLst/>
          </a:prstGeom>
          <a:noFill/>
        </p:spPr>
        <p:txBody>
          <a:bodyPr wrap="square">
            <a:spAutoFit/>
          </a:bodyPr>
          <a:lstStyle/>
          <a:p>
            <a:r>
              <a:rPr sz="1500" i="1">
                <a:solidFill>
                  <a:srgbClr val="2D2D2D"/>
                </a:solidFill>
                <a:latin typeface="Calibri"/>
              </a:rPr>
              <a:t>Nobody gets fired for hiring Accenture. But the firm that moves first compounds the advantage with every project.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Competitors starting today are not behind on technology — they're behind on thousands of accumulated workflow traces</a:t>
            </a:r>
          </a:p>
        </p:txBody>
      </p:sp>
      <p:sp>
        <p:nvSpPr>
          <p:cNvPr id="5" name="Rectangle 4"/>
          <p:cNvSpPr/>
          <p:nvPr/>
        </p:nvSpPr>
        <p:spPr>
          <a:xfrm>
            <a:off x="731520" y="1645920"/>
            <a:ext cx="54864" cy="1645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645920"/>
            <a:ext cx="4846320" cy="16459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1800" b="1">
                <a:solidFill>
                  <a:srgbClr val="1A1A2E"/>
                </a:solidFill>
                <a:latin typeface="Calibri"/>
              </a:rPr>
              <a:t>Extraction</a:t>
            </a:r>
          </a:p>
          <a:p>
            <a:pPr>
              <a:spcBef>
                <a:spcPts val="800"/>
              </a:spcBef>
            </a:pPr>
            <a:r>
              <a:rPr sz="1400">
                <a:solidFill>
                  <a:srgbClr val="2D2D2D"/>
                </a:solidFill>
                <a:latin typeface="Calibri"/>
              </a:rPr>
              <a:t>Context layer must be built through doing, not buying. Emerges from thousands of workflows executed.</a:t>
            </a:r>
          </a:p>
        </p:txBody>
      </p:sp>
      <p:sp>
        <p:nvSpPr>
          <p:cNvPr id="7" name="Rectangle 6"/>
          <p:cNvSpPr/>
          <p:nvPr/>
        </p:nvSpPr>
        <p:spPr>
          <a:xfrm>
            <a:off x="6035040" y="1645920"/>
            <a:ext cx="54864" cy="1645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26480" y="1645920"/>
            <a:ext cx="4846320" cy="16459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1800" b="1">
                <a:solidFill>
                  <a:srgbClr val="1A1A2E"/>
                </a:solidFill>
                <a:latin typeface="Calibri"/>
              </a:rPr>
              <a:t>Adoption</a:t>
            </a:r>
          </a:p>
          <a:p>
            <a:pPr>
              <a:spcBef>
                <a:spcPts val="800"/>
              </a:spcBef>
            </a:pPr>
            <a:r>
              <a:rPr sz="1400">
                <a:solidFill>
                  <a:srgbClr val="2D2D2D"/>
                </a:solidFill>
                <a:latin typeface="Calibri"/>
              </a:rPr>
              <a:t>Conviction drives adoption, not training. Deliver undeniable results first.</a:t>
            </a:r>
          </a:p>
        </p:txBody>
      </p:sp>
      <p:sp>
        <p:nvSpPr>
          <p:cNvPr id="9" name="Rectangle 8"/>
          <p:cNvSpPr/>
          <p:nvPr/>
        </p:nvSpPr>
        <p:spPr>
          <a:xfrm>
            <a:off x="731520" y="3657600"/>
            <a:ext cx="54864" cy="1645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657600"/>
            <a:ext cx="4846320" cy="16459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1800" b="1">
                <a:solidFill>
                  <a:srgbClr val="1A1A2E"/>
                </a:solidFill>
                <a:latin typeface="Calibri"/>
              </a:rPr>
              <a:t>Compounding</a:t>
            </a:r>
          </a:p>
          <a:p>
            <a:pPr>
              <a:spcBef>
                <a:spcPts val="800"/>
              </a:spcBef>
            </a:pPr>
            <a:r>
              <a:rPr sz="1400">
                <a:solidFill>
                  <a:srgbClr val="2D2D2D"/>
                </a:solidFill>
                <a:latin typeface="Calibri"/>
              </a:rPr>
              <a:t>Every engagement generates execution traces encoding decision logic. Gap widens with every project.</a:t>
            </a:r>
          </a:p>
        </p:txBody>
      </p:sp>
      <p:sp>
        <p:nvSpPr>
          <p:cNvPr id="11" name="Rectangle 10"/>
          <p:cNvSpPr/>
          <p:nvPr/>
        </p:nvSpPr>
        <p:spPr>
          <a:xfrm>
            <a:off x="6035040" y="3657600"/>
            <a:ext cx="54864" cy="1645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0" y="3657600"/>
            <a:ext cx="4846320" cy="16459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r>
              <a:rPr sz="1800" b="1">
                <a:solidFill>
                  <a:srgbClr val="1A1A2E"/>
                </a:solidFill>
                <a:latin typeface="Calibri"/>
              </a:rPr>
              <a:t>Infrastructure mismatch</a:t>
            </a:r>
          </a:p>
          <a:p>
            <a:pPr>
              <a:spcBef>
                <a:spcPts val="800"/>
              </a:spcBef>
            </a:pPr>
            <a:r>
              <a:rPr sz="1400">
                <a:solidFill>
                  <a:srgbClr val="2D2D2D"/>
                </a:solidFill>
                <a:latin typeface="Calibri"/>
              </a:rPr>
              <a:t>Incumbents can't build this without dismantling what generates current revenue.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Quick wins through Exocortex compound into the client's own context layer</a:t>
            </a:r>
          </a:p>
        </p:txBody>
      </p:sp>
      <p:sp>
        <p:nvSpPr>
          <p:cNvPr id="5" name="Rounded Rectangle 4"/>
          <p:cNvSpPr/>
          <p:nvPr/>
        </p:nvSpPr>
        <p:spPr>
          <a:xfrm>
            <a:off x="548640" y="1828800"/>
            <a:ext cx="2286000" cy="2011680"/>
          </a:xfrm>
          <a:prstGeom prst="roundRect">
            <a:avLst/>
          </a:prstGeom>
          <a:solidFill>
            <a:srgbClr val="F5F5F5"/>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2400" b="1">
                <a:solidFill>
                  <a:srgbClr val="00B4A0"/>
                </a:solidFill>
                <a:latin typeface="Calibri"/>
              </a:rPr>
              <a:t>1</a:t>
            </a:r>
          </a:p>
          <a:p>
            <a:pPr algn="ctr">
              <a:spcBef>
                <a:spcPts val="600"/>
              </a:spcBef>
            </a:pPr>
            <a:r>
              <a:rPr sz="1400" b="1">
                <a:solidFill>
                  <a:srgbClr val="1A1A2E"/>
                </a:solidFill>
                <a:latin typeface="Calibri"/>
              </a:rPr>
              <a:t>Deliver through Exocortex</a:t>
            </a:r>
          </a:p>
          <a:p>
            <a:pPr algn="ctr">
              <a:spcBef>
                <a:spcPts val="600"/>
              </a:spcBef>
            </a:pPr>
            <a:r>
              <a:rPr sz="1200">
                <a:solidFill>
                  <a:srgbClr val="999999"/>
                </a:solidFill>
                <a:latin typeface="Calibri"/>
              </a:rPr>
              <a:t>Client sees speed/cost delta</a:t>
            </a:r>
          </a:p>
        </p:txBody>
      </p:sp>
      <p:sp>
        <p:nvSpPr>
          <p:cNvPr id="6" name="Right Arrow 5"/>
          <p:cNvSpPr/>
          <p:nvPr/>
        </p:nvSpPr>
        <p:spPr>
          <a:xfrm>
            <a:off x="2834640" y="2560320"/>
            <a:ext cx="274320" cy="365760"/>
          </a:xfrm>
          <a:prstGeom prst="rightArrow">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83280" y="1828800"/>
            <a:ext cx="2377440" cy="2011680"/>
          </a:xfrm>
          <a:prstGeom prst="roundRect">
            <a:avLst/>
          </a:prstGeom>
          <a:solidFill>
            <a:srgbClr val="F5F5F5"/>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2400" b="1">
                <a:solidFill>
                  <a:srgbClr val="00B4A0"/>
                </a:solidFill>
                <a:latin typeface="Calibri"/>
              </a:rPr>
              <a:t>2</a:t>
            </a:r>
          </a:p>
          <a:p>
            <a:pPr algn="ctr">
              <a:spcBef>
                <a:spcPts val="600"/>
              </a:spcBef>
            </a:pPr>
            <a:r>
              <a:rPr sz="1400" b="1">
                <a:solidFill>
                  <a:srgbClr val="1A1A2E"/>
                </a:solidFill>
                <a:latin typeface="Calibri"/>
              </a:rPr>
              <a:t>Work compounds</a:t>
            </a:r>
          </a:p>
          <a:p>
            <a:pPr algn="ctr">
              <a:spcBef>
                <a:spcPts val="600"/>
              </a:spcBef>
            </a:pPr>
            <a:r>
              <a:rPr sz="1200">
                <a:solidFill>
                  <a:srgbClr val="999999"/>
                </a:solidFill>
                <a:latin typeface="Calibri"/>
              </a:rPr>
              <a:t>Domain knowledge, workflows, context accumulate</a:t>
            </a:r>
          </a:p>
        </p:txBody>
      </p:sp>
      <p:sp>
        <p:nvSpPr>
          <p:cNvPr id="8" name="Right Arrow 7"/>
          <p:cNvSpPr/>
          <p:nvPr/>
        </p:nvSpPr>
        <p:spPr>
          <a:xfrm>
            <a:off x="5760720" y="2560320"/>
            <a:ext cx="274320" cy="365760"/>
          </a:xfrm>
          <a:prstGeom prst="rightArrow">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28800"/>
            <a:ext cx="2468880" cy="2011680"/>
          </a:xfrm>
          <a:prstGeom prst="roundRect">
            <a:avLst/>
          </a:prstGeom>
          <a:solidFill>
            <a:srgbClr val="F5F5F5"/>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2400" b="1">
                <a:solidFill>
                  <a:srgbClr val="00B4A0"/>
                </a:solidFill>
                <a:latin typeface="Calibri"/>
              </a:rPr>
              <a:t>3</a:t>
            </a:r>
          </a:p>
          <a:p>
            <a:pPr algn="ctr">
              <a:spcBef>
                <a:spcPts val="600"/>
              </a:spcBef>
            </a:pPr>
            <a:r>
              <a:rPr sz="1400" b="1">
                <a:solidFill>
                  <a:srgbClr val="1A1A2E"/>
                </a:solidFill>
                <a:latin typeface="Calibri"/>
              </a:rPr>
              <a:t>Intelligence layer forms</a:t>
            </a:r>
          </a:p>
          <a:p>
            <a:pPr algn="ctr">
              <a:spcBef>
                <a:spcPts val="600"/>
              </a:spcBef>
            </a:pPr>
            <a:r>
              <a:rPr sz="1200">
                <a:solidFill>
                  <a:srgbClr val="999999"/>
                </a:solidFill>
                <a:latin typeface="Calibri"/>
              </a:rPr>
              <a:t>Client realizes operational leverage building</a:t>
            </a:r>
          </a:p>
        </p:txBody>
      </p:sp>
      <p:sp>
        <p:nvSpPr>
          <p:cNvPr id="10" name="Right Arrow 9"/>
          <p:cNvSpPr/>
          <p:nvPr/>
        </p:nvSpPr>
        <p:spPr>
          <a:xfrm>
            <a:off x="8686800" y="2560320"/>
            <a:ext cx="274320" cy="365760"/>
          </a:xfrm>
          <a:prstGeom prst="rightArrow">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052560" y="1828800"/>
            <a:ext cx="2560320" cy="2011680"/>
          </a:xfrm>
          <a:prstGeom prst="roundRect">
            <a:avLst/>
          </a:prstGeom>
          <a:solidFill>
            <a:srgbClr val="F5F5F5"/>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r>
              <a:rPr sz="2400" b="1">
                <a:solidFill>
                  <a:srgbClr val="00B4A0"/>
                </a:solidFill>
                <a:latin typeface="Calibri"/>
              </a:rPr>
              <a:t>4</a:t>
            </a:r>
          </a:p>
          <a:p>
            <a:pPr algn="ctr">
              <a:spcBef>
                <a:spcPts val="600"/>
              </a:spcBef>
            </a:pPr>
            <a:r>
              <a:rPr sz="1400" b="1">
                <a:solidFill>
                  <a:srgbClr val="1A1A2E"/>
                </a:solidFill>
                <a:latin typeface="Calibri"/>
              </a:rPr>
              <a:t>End state</a:t>
            </a:r>
          </a:p>
          <a:p>
            <a:pPr algn="ctr">
              <a:spcBef>
                <a:spcPts val="600"/>
              </a:spcBef>
            </a:pPr>
            <a:r>
              <a:rPr sz="1200">
                <a:solidFill>
                  <a:srgbClr val="999999"/>
                </a:solidFill>
                <a:latin typeface="Calibri"/>
              </a:rPr>
              <a:t>Client runs on same operating leverage as realfast</a:t>
            </a:r>
          </a:p>
        </p:txBody>
      </p:sp>
      <p:sp>
        <p:nvSpPr>
          <p:cNvPr id="12" name="Rectangle 11"/>
          <p:cNvSpPr/>
          <p:nvPr/>
        </p:nvSpPr>
        <p:spPr>
          <a:xfrm>
            <a:off x="731520" y="4389120"/>
            <a:ext cx="54864" cy="640080"/>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89120"/>
            <a:ext cx="10058400" cy="640080"/>
          </a:xfrm>
          <a:prstGeom prst="rect">
            <a:avLst/>
          </a:prstGeom>
          <a:noFill/>
        </p:spPr>
        <p:txBody>
          <a:bodyPr wrap="square">
            <a:spAutoFit/>
          </a:bodyPr>
          <a:lstStyle/>
          <a:p>
            <a:r>
              <a:rPr sz="1500" i="1">
                <a:solidFill>
                  <a:srgbClr val="2D2D2D"/>
                </a:solidFill>
                <a:latin typeface="Calibri"/>
              </a:rPr>
              <a:t>We don't sell Exocortex. We deliver through it. The platform thesis is an emergent outcome, not a sales pitch.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Exocortex is enterprise-grade, ISO 27001 and SOC 2 compliant, and operational at scale today</a:t>
            </a:r>
          </a:p>
        </p:txBody>
      </p:sp>
      <p:sp>
        <p:nvSpPr>
          <p:cNvPr id="5" name="Rounded Rectangle 4"/>
          <p:cNvSpPr/>
          <p:nvPr/>
        </p:nvSpPr>
        <p:spPr>
          <a:xfrm>
            <a:off x="457200" y="1828800"/>
            <a:ext cx="2011680" cy="164592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600" b="1">
                <a:solidFill>
                  <a:srgbClr val="00B4A0"/>
                </a:solidFill>
                <a:latin typeface="Calibri"/>
              </a:rPr>
              <a:t>ExoCode</a:t>
            </a:r>
          </a:p>
          <a:p>
            <a:pPr algn="ctr">
              <a:spcBef>
                <a:spcPts val="600"/>
              </a:spcBef>
            </a:pPr>
            <a:r>
              <a:rPr sz="1200">
                <a:solidFill>
                  <a:srgbClr val="CCCCCC"/>
                </a:solidFill>
                <a:latin typeface="Calibri"/>
              </a:rPr>
              <a:t>AI-native
development</a:t>
            </a:r>
          </a:p>
        </p:txBody>
      </p:sp>
      <p:sp>
        <p:nvSpPr>
          <p:cNvPr id="6" name="Rounded Rectangle 5"/>
          <p:cNvSpPr/>
          <p:nvPr/>
        </p:nvSpPr>
        <p:spPr>
          <a:xfrm>
            <a:off x="2743200" y="1828800"/>
            <a:ext cx="2011680" cy="164592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600" b="1">
                <a:solidFill>
                  <a:srgbClr val="00B4A0"/>
                </a:solidFill>
                <a:latin typeface="Calibri"/>
              </a:rPr>
              <a:t>ExoWork</a:t>
            </a:r>
          </a:p>
          <a:p>
            <a:pPr algn="ctr">
              <a:spcBef>
                <a:spcPts val="600"/>
              </a:spcBef>
            </a:pPr>
            <a:r>
              <a:rPr sz="1200">
                <a:solidFill>
                  <a:srgbClr val="CCCCCC"/>
                </a:solidFill>
                <a:latin typeface="Calibri"/>
              </a:rPr>
              <a:t>Non-technical
workflows</a:t>
            </a:r>
          </a:p>
        </p:txBody>
      </p:sp>
      <p:sp>
        <p:nvSpPr>
          <p:cNvPr id="7" name="Rounded Rectangle 6"/>
          <p:cNvSpPr/>
          <p:nvPr/>
        </p:nvSpPr>
        <p:spPr>
          <a:xfrm>
            <a:off x="5029200" y="1828800"/>
            <a:ext cx="2011680" cy="164592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600" b="1">
                <a:solidFill>
                  <a:srgbClr val="00B4A0"/>
                </a:solidFill>
                <a:latin typeface="Calibri"/>
              </a:rPr>
              <a:t>ExoManager</a:t>
            </a:r>
          </a:p>
          <a:p>
            <a:pPr algn="ctr">
              <a:spcBef>
                <a:spcPts val="600"/>
              </a:spcBef>
            </a:pPr>
            <a:r>
              <a:rPr sz="1200">
                <a:solidFill>
                  <a:srgbClr val="CCCCCC"/>
                </a:solidFill>
                <a:latin typeface="Calibri"/>
              </a:rPr>
              <a:t>Delivery
management</a:t>
            </a:r>
          </a:p>
        </p:txBody>
      </p:sp>
      <p:sp>
        <p:nvSpPr>
          <p:cNvPr id="8" name="Rounded Rectangle 7"/>
          <p:cNvSpPr/>
          <p:nvPr/>
        </p:nvSpPr>
        <p:spPr>
          <a:xfrm>
            <a:off x="7315200" y="1828800"/>
            <a:ext cx="2011680" cy="164592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600" b="1">
                <a:solidFill>
                  <a:srgbClr val="00B4A0"/>
                </a:solidFill>
                <a:latin typeface="Calibri"/>
              </a:rPr>
              <a:t>ExoHelpdesk</a:t>
            </a:r>
          </a:p>
          <a:p>
            <a:pPr algn="ctr">
              <a:spcBef>
                <a:spcPts val="600"/>
              </a:spcBef>
            </a:pPr>
            <a:r>
              <a:rPr sz="1200">
                <a:solidFill>
                  <a:srgbClr val="CCCCCC"/>
                </a:solidFill>
                <a:latin typeface="Calibri"/>
              </a:rPr>
              <a:t>Managed
services</a:t>
            </a:r>
          </a:p>
        </p:txBody>
      </p:sp>
      <p:sp>
        <p:nvSpPr>
          <p:cNvPr id="9" name="Rounded Rectangle 8"/>
          <p:cNvSpPr/>
          <p:nvPr/>
        </p:nvSpPr>
        <p:spPr>
          <a:xfrm>
            <a:off x="9601200" y="1828800"/>
            <a:ext cx="2011680" cy="1645920"/>
          </a:xfrm>
          <a:prstGeom prst="roundRect">
            <a:avLst/>
          </a:prstGeom>
          <a:solidFill>
            <a:srgbClr val="1A1A2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ctr"/>
            <a:r>
              <a:rPr sz="1600" b="1">
                <a:solidFill>
                  <a:srgbClr val="00B4A0"/>
                </a:solidFill>
                <a:latin typeface="Calibri"/>
              </a:rPr>
              <a:t>ExoMetacog</a:t>
            </a:r>
          </a:p>
          <a:p>
            <a:pPr algn="ctr">
              <a:spcBef>
                <a:spcPts val="600"/>
              </a:spcBef>
            </a:pPr>
            <a:r>
              <a:rPr sz="1200">
                <a:solidFill>
                  <a:srgbClr val="CCCCCC"/>
                </a:solidFill>
                <a:latin typeface="Calibri"/>
              </a:rPr>
              <a:t>Agent
analytics</a:t>
            </a:r>
          </a:p>
        </p:txBody>
      </p:sp>
      <p:sp>
        <p:nvSpPr>
          <p:cNvPr id="10" name="Rounded Rectangle 9"/>
          <p:cNvSpPr/>
          <p:nvPr/>
        </p:nvSpPr>
        <p:spPr>
          <a:xfrm>
            <a:off x="3200400" y="4023360"/>
            <a:ext cx="5486400" cy="640080"/>
          </a:xfrm>
          <a:prstGeom prst="roundRect">
            <a:avLst/>
          </a:prstGeom>
          <a:solidFill>
            <a:srgbClr val="F5F5F5"/>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A1A2E"/>
                </a:solidFill>
                <a:latin typeface="Calibri"/>
              </a:rPr>
              <a:t>ISO 27001   |   SOC 2</a:t>
            </a:r>
          </a:p>
        </p:txBody>
      </p:sp>
      <p:sp>
        <p:nvSpPr>
          <p:cNvPr id="11" name="TextBox 10"/>
          <p:cNvSpPr txBox="1"/>
          <p:nvPr/>
        </p:nvSpPr>
        <p:spPr>
          <a:xfrm>
            <a:off x="1828800" y="5029200"/>
            <a:ext cx="8229600" cy="457200"/>
          </a:xfrm>
          <a:prstGeom prst="rect">
            <a:avLst/>
          </a:prstGeom>
          <a:noFill/>
        </p:spPr>
        <p:txBody>
          <a:bodyPr wrap="none">
            <a:spAutoFit/>
          </a:bodyPr>
          <a:lstStyle/>
          <a:p>
            <a:pPr algn="ctr"/>
            <a:r>
              <a:rPr sz="1800" b="1">
                <a:solidFill>
                  <a:srgbClr val="007ACC"/>
                </a:solidFill>
                <a:latin typeface="Calibri"/>
              </a:rPr>
              <a:t>Not vaporware. Running our own operations at production scale.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square">
            <a:spAutoFit/>
          </a:bodyPr>
          <a:lstStyle/>
          <a:p>
            <a:r>
              <a:rPr sz="2800" b="1">
                <a:solidFill>
                  <a:srgbClr val="FFFFFF"/>
                </a:solidFill>
                <a:latin typeface="Calibri"/>
              </a:rPr>
              <a:t>AI is restructuring IT services — realfast has built the platform to be the efficient winner</a:t>
            </a:r>
          </a:p>
        </p:txBody>
      </p:sp>
      <p:sp>
        <p:nvSpPr>
          <p:cNvPr id="4" name="TextBox 3"/>
          <p:cNvSpPr txBox="1"/>
          <p:nvPr/>
        </p:nvSpPr>
        <p:spPr>
          <a:xfrm>
            <a:off x="1371600" y="2011680"/>
            <a:ext cx="9144000" cy="914400"/>
          </a:xfrm>
          <a:prstGeom prst="rect">
            <a:avLst/>
          </a:prstGeom>
          <a:noFill/>
        </p:spPr>
        <p:txBody>
          <a:bodyPr wrap="square">
            <a:spAutoFit/>
          </a:bodyPr>
          <a:lstStyle/>
          <a:p>
            <a:r>
              <a:rPr sz="1800" b="1">
                <a:solidFill>
                  <a:srgbClr val="00B4A0"/>
                </a:solidFill>
                <a:latin typeface="Calibri"/>
              </a:rPr>
              <a:t>1. What we are: </a:t>
            </a:r>
            <a:r>
              <a:rPr sz="1800">
                <a:solidFill>
                  <a:srgbClr val="FFFFFF"/>
                </a:solidFill>
                <a:latin typeface="Calibri"/>
              </a:rPr>
              <a:t>A services company that delivers through a platform — every engagement compounds</a:t>
            </a:r>
          </a:p>
        </p:txBody>
      </p:sp>
      <p:sp>
        <p:nvSpPr>
          <p:cNvPr id="5" name="TextBox 4"/>
          <p:cNvSpPr txBox="1"/>
          <p:nvPr/>
        </p:nvSpPr>
        <p:spPr>
          <a:xfrm>
            <a:off x="1371600" y="3200400"/>
            <a:ext cx="9144000" cy="914400"/>
          </a:xfrm>
          <a:prstGeom prst="rect">
            <a:avLst/>
          </a:prstGeom>
          <a:noFill/>
        </p:spPr>
        <p:txBody>
          <a:bodyPr wrap="square">
            <a:spAutoFit/>
          </a:bodyPr>
          <a:lstStyle/>
          <a:p>
            <a:r>
              <a:rPr sz="1800" b="1">
                <a:solidFill>
                  <a:srgbClr val="00B4A0"/>
                </a:solidFill>
                <a:latin typeface="Calibri"/>
              </a:rPr>
              <a:t>2. What compounds: </a:t>
            </a:r>
            <a:r>
              <a:rPr sz="1800">
                <a:solidFill>
                  <a:srgbClr val="FFFFFF"/>
                </a:solidFill>
                <a:latin typeface="Calibri"/>
              </a:rPr>
              <a:t>Data, efficiency, playbooks, client context — all improve with every project</a:t>
            </a:r>
          </a:p>
        </p:txBody>
      </p:sp>
      <p:sp>
        <p:nvSpPr>
          <p:cNvPr id="6" name="TextBox 5"/>
          <p:cNvSpPr txBox="1"/>
          <p:nvPr/>
        </p:nvSpPr>
        <p:spPr>
          <a:xfrm>
            <a:off x="1371600" y="4389120"/>
            <a:ext cx="9144000" cy="914400"/>
          </a:xfrm>
          <a:prstGeom prst="rect">
            <a:avLst/>
          </a:prstGeom>
          <a:noFill/>
        </p:spPr>
        <p:txBody>
          <a:bodyPr wrap="square">
            <a:spAutoFit/>
          </a:bodyPr>
          <a:lstStyle/>
          <a:p>
            <a:r>
              <a:rPr sz="1800" b="1">
                <a:solidFill>
                  <a:srgbClr val="00B4A0"/>
                </a:solidFill>
                <a:latin typeface="Calibri"/>
              </a:rPr>
              <a:t>3. What capital unlocks: </a:t>
            </a:r>
            <a:r>
              <a:rPr sz="1800">
                <a:solidFill>
                  <a:srgbClr val="FFFFFF"/>
                </a:solidFill>
                <a:latin typeface="Calibri"/>
              </a:rPr>
              <a:t>Distribution (partner hires + acquisitions) to consolidate a fragmented market</a:t>
            </a:r>
          </a:p>
        </p:txBody>
      </p:sp>
      <p:sp>
        <p:nvSpPr>
          <p:cNvPr id="7" name="Rounded Rectangle 6"/>
          <p:cNvSpPr/>
          <p:nvPr/>
        </p:nvSpPr>
        <p:spPr>
          <a:xfrm>
            <a:off x="1828800" y="5486400"/>
            <a:ext cx="2560320" cy="457200"/>
          </a:xfrm>
          <a:prstGeom prst="roundRect">
            <a:avLst/>
          </a:prstGeom>
          <a:solidFill>
            <a:srgbClr val="2A2A4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CCCCCC"/>
                </a:solidFill>
                <a:latin typeface="Calibri"/>
              </a:rPr>
              <a:t>Strategic acquisition</a:t>
            </a:r>
          </a:p>
        </p:txBody>
      </p:sp>
      <p:sp>
        <p:nvSpPr>
          <p:cNvPr id="8" name="Rounded Rectangle 7"/>
          <p:cNvSpPr/>
          <p:nvPr/>
        </p:nvSpPr>
        <p:spPr>
          <a:xfrm>
            <a:off x="4846320" y="5486400"/>
            <a:ext cx="2560320" cy="457200"/>
          </a:xfrm>
          <a:prstGeom prst="roundRect">
            <a:avLst/>
          </a:prstGeom>
          <a:solidFill>
            <a:srgbClr val="2A2A4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CCCCCC"/>
                </a:solidFill>
                <a:latin typeface="Calibri"/>
              </a:rPr>
              <a:t>PE roll-up</a:t>
            </a:r>
          </a:p>
        </p:txBody>
      </p:sp>
      <p:sp>
        <p:nvSpPr>
          <p:cNvPr id="9" name="Rounded Rectangle 8"/>
          <p:cNvSpPr/>
          <p:nvPr/>
        </p:nvSpPr>
        <p:spPr>
          <a:xfrm>
            <a:off x="7863840" y="5486400"/>
            <a:ext cx="2560320" cy="457200"/>
          </a:xfrm>
          <a:prstGeom prst="roundRect">
            <a:avLst/>
          </a:prstGeom>
          <a:solidFill>
            <a:srgbClr val="2A2A4E"/>
          </a:solidFill>
          <a:ln w="12700">
            <a:solidFill>
              <a:srgbClr val="00B4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CCCCCC"/>
                </a:solidFill>
                <a:latin typeface="Calibri"/>
              </a:rPr>
              <a:t>Continue scaling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731520"/>
          </a:xfrm>
          <a:prstGeom prst="rect">
            <a:avLst/>
          </a:prstGeom>
          <a:noFill/>
        </p:spPr>
        <p:txBody>
          <a:bodyPr wrap="square">
            <a:spAutoFit/>
          </a:bodyPr>
          <a:lstStyle/>
          <a:p>
            <a:r>
              <a:rPr sz="2800" b="1">
                <a:solidFill>
                  <a:srgbClr val="1A1A2E"/>
                </a:solidFill>
                <a:latin typeface="Calibri"/>
              </a:rPr>
              <a:t>[TO BE POPULATED] Capital allocation and 12-18 month milestones</a:t>
            </a:r>
          </a:p>
        </p:txBody>
      </p:sp>
      <p:graphicFrame>
        <p:nvGraphicFramePr>
          <p:cNvPr id="5" name="Table 4"/>
          <p:cNvGraphicFramePr>
            <a:graphicFrameLocks noGrp="1"/>
          </p:cNvGraphicFramePr>
          <p:nvPr/>
        </p:nvGraphicFramePr>
        <p:xfrm>
          <a:off x="731520" y="1463040"/>
          <a:ext cx="5029200" cy="2011680"/>
        </p:xfrm>
        <a:graphic>
          <a:graphicData uri="http://schemas.openxmlformats.org/drawingml/2006/table">
            <a:tbl>
              <a:tblPr firstRow="1" bandRow="1">
                <a:tableStyleId>{5C22544A-7EE6-4342-B048-85BDC9FD1C3A}</a:tableStyleId>
              </a:tblPr>
              <a:tblGrid>
                <a:gridCol w="1828800"/>
                <a:gridCol w="3200400"/>
              </a:tblGrid>
              <a:tr h="402336">
                <a:tc>
                  <a:txBody>
                    <a:bodyPr wrap="square"/>
                    <a:lstStyle/>
                    <a:p>
                      <a:pPr algn="l"/>
                      <a:r>
                        <a:rPr sz="1300" b="1">
                          <a:solidFill>
                            <a:srgbClr val="FFFFFF"/>
                          </a:solidFill>
                          <a:latin typeface="Calibri"/>
                        </a:rPr>
                        <a:t>Allocation</a:t>
                      </a:r>
                    </a:p>
                  </a:txBody>
                  <a:tcPr anchor="ctr">
                    <a:solidFill>
                      <a:srgbClr val="1A1A2E"/>
                    </a:solidFill>
                  </a:tcPr>
                </a:tc>
                <a:tc>
                  <a:txBody>
                    <a:bodyPr wrap="square"/>
                    <a:lstStyle/>
                    <a:p>
                      <a:pPr algn="l"/>
                      <a:r>
                        <a:rPr sz="1300" b="1">
                          <a:solidFill>
                            <a:srgbClr val="FFFFFF"/>
                          </a:solidFill>
                          <a:latin typeface="Calibri"/>
                        </a:rPr>
                        <a:t>Purpose</a:t>
                      </a:r>
                    </a:p>
                  </a:txBody>
                  <a:tcPr anchor="ctr">
                    <a:solidFill>
                      <a:srgbClr val="1A1A2E"/>
                    </a:solidFill>
                  </a:tcPr>
                </a:tc>
              </a:tr>
              <a:tr h="402336">
                <a:tc>
                  <a:txBody>
                    <a:bodyPr wrap="square"/>
                    <a:lstStyle/>
                    <a:p>
                      <a:pPr algn="l"/>
                      <a:r>
                        <a:rPr sz="1300" b="1">
                          <a:solidFill>
                            <a:srgbClr val="2D2D2D"/>
                          </a:solidFill>
                          <a:latin typeface="Calibri"/>
                        </a:rPr>
                        <a:t>Partner hires</a:t>
                      </a:r>
                    </a:p>
                  </a:txBody>
                  <a:tcPr anchor="ctr">
                    <a:solidFill>
                      <a:srgbClr val="FFFFFF"/>
                    </a:solidFill>
                  </a:tcPr>
                </a:tc>
                <a:tc>
                  <a:txBody>
                    <a:bodyPr wrap="square"/>
                    <a:lstStyle/>
                    <a:p>
                      <a:pPr algn="l"/>
                      <a:r>
                        <a:rPr sz="1300" b="0">
                          <a:solidFill>
                            <a:srgbClr val="2D2D2D"/>
                          </a:solidFill>
                          <a:latin typeface="Calibri"/>
                        </a:rPr>
                        <a:t>2-3 senior with CXO relationships</a:t>
                      </a:r>
                    </a:p>
                  </a:txBody>
                  <a:tcPr anchor="ctr">
                    <a:solidFill>
                      <a:srgbClr val="FFFFFF"/>
                    </a:solidFill>
                  </a:tcPr>
                </a:tc>
              </a:tr>
              <a:tr h="402336">
                <a:tc>
                  <a:txBody>
                    <a:bodyPr wrap="square"/>
                    <a:lstStyle/>
                    <a:p>
                      <a:pPr algn="l"/>
                      <a:r>
                        <a:rPr sz="1300" b="1">
                          <a:solidFill>
                            <a:srgbClr val="2D2D2D"/>
                          </a:solidFill>
                          <a:latin typeface="Calibri"/>
                        </a:rPr>
                        <a:t>Acquisition</a:t>
                      </a:r>
                    </a:p>
                  </a:txBody>
                  <a:tcPr anchor="ctr">
                    <a:solidFill>
                      <a:srgbClr val="F0F4F8"/>
                    </a:solidFill>
                  </a:tcPr>
                </a:tc>
                <a:tc>
                  <a:txBody>
                    <a:bodyPr wrap="square"/>
                    <a:lstStyle/>
                    <a:p>
                      <a:pPr algn="l"/>
                      <a:r>
                        <a:rPr sz="1300" b="0">
                          <a:solidFill>
                            <a:srgbClr val="2D2D2D"/>
                          </a:solidFill>
                          <a:latin typeface="Calibri"/>
                        </a:rPr>
                        <a:t>1-2 small SI acquisitions</a:t>
                      </a:r>
                    </a:p>
                  </a:txBody>
                  <a:tcPr anchor="ctr">
                    <a:solidFill>
                      <a:srgbClr val="F0F4F8"/>
                    </a:solidFill>
                  </a:tcPr>
                </a:tc>
              </a:tr>
              <a:tr h="402336">
                <a:tc>
                  <a:txBody>
                    <a:bodyPr wrap="square"/>
                    <a:lstStyle/>
                    <a:p>
                      <a:pPr algn="l"/>
                      <a:r>
                        <a:rPr sz="1300" b="1">
                          <a:solidFill>
                            <a:srgbClr val="2D2D2D"/>
                          </a:solidFill>
                          <a:latin typeface="Calibri"/>
                        </a:rPr>
                        <a:t>Platform</a:t>
                      </a:r>
                    </a:p>
                  </a:txBody>
                  <a:tcPr anchor="ctr">
                    <a:solidFill>
                      <a:srgbClr val="FFFFFF"/>
                    </a:solidFill>
                  </a:tcPr>
                </a:tc>
                <a:tc>
                  <a:txBody>
                    <a:bodyPr wrap="square"/>
                    <a:lstStyle/>
                    <a:p>
                      <a:pPr algn="l"/>
                      <a:r>
                        <a:rPr sz="1300" b="0">
                          <a:solidFill>
                            <a:srgbClr val="2D2D2D"/>
                          </a:solidFill>
                          <a:latin typeface="Calibri"/>
                        </a:rPr>
                        <a:t>Accelerate Exocortex roadmap</a:t>
                      </a:r>
                    </a:p>
                  </a:txBody>
                  <a:tcPr anchor="ctr">
                    <a:solidFill>
                      <a:srgbClr val="FFFFFF"/>
                    </a:solidFill>
                  </a:tcPr>
                </a:tc>
              </a:tr>
              <a:tr h="402336">
                <a:tc>
                  <a:txBody>
                    <a:bodyPr wrap="square"/>
                    <a:lstStyle/>
                    <a:p>
                      <a:pPr algn="l"/>
                      <a:r>
                        <a:rPr sz="1300" b="1">
                          <a:solidFill>
                            <a:srgbClr val="2D2D2D"/>
                          </a:solidFill>
                          <a:latin typeface="Calibri"/>
                        </a:rPr>
                        <a:t>Expansion</a:t>
                      </a:r>
                    </a:p>
                  </a:txBody>
                  <a:tcPr anchor="ctr">
                    <a:solidFill>
                      <a:srgbClr val="F0F4F8"/>
                    </a:solidFill>
                  </a:tcPr>
                </a:tc>
                <a:tc>
                  <a:txBody>
                    <a:bodyPr wrap="square"/>
                    <a:lstStyle/>
                    <a:p>
                      <a:pPr algn="l"/>
                      <a:r>
                        <a:rPr sz="1300" b="0">
                          <a:solidFill>
                            <a:srgbClr val="2D2D2D"/>
                          </a:solidFill>
                          <a:latin typeface="Calibri"/>
                        </a:rPr>
                        <a:t>Replicate Singapore model</a:t>
                      </a:r>
                    </a:p>
                  </a:txBody>
                  <a:tcPr anchor="ctr">
                    <a:solidFill>
                      <a:srgbClr val="F0F4F8"/>
                    </a:solidFill>
                  </a:tcPr>
                </a:tc>
              </a:tr>
            </a:tbl>
          </a:graphicData>
        </a:graphic>
      </p:graphicFrame>
      <p:graphicFrame>
        <p:nvGraphicFramePr>
          <p:cNvPr id="6" name="Table 5"/>
          <p:cNvGraphicFramePr>
            <a:graphicFrameLocks noGrp="1"/>
          </p:cNvGraphicFramePr>
          <p:nvPr/>
        </p:nvGraphicFramePr>
        <p:xfrm>
          <a:off x="6217920" y="1463040"/>
          <a:ext cx="5303520" cy="1645920"/>
        </p:xfrm>
        <a:graphic>
          <a:graphicData uri="http://schemas.openxmlformats.org/drawingml/2006/table">
            <a:tbl>
              <a:tblPr firstRow="1" bandRow="1">
                <a:tableStyleId>{5C22544A-7EE6-4342-B048-85BDC9FD1C3A}</a:tableStyleId>
              </a:tblPr>
              <a:tblGrid>
                <a:gridCol w="2560320"/>
                <a:gridCol w="1371600"/>
                <a:gridCol w="1371600"/>
              </a:tblGrid>
              <a:tr h="411480">
                <a:tc>
                  <a:txBody>
                    <a:bodyPr wrap="square"/>
                    <a:lstStyle/>
                    <a:p>
                      <a:pPr algn="l"/>
                      <a:r>
                        <a:rPr sz="1300" b="1">
                          <a:solidFill>
                            <a:srgbClr val="FFFFFF"/>
                          </a:solidFill>
                          <a:latin typeface="Calibri"/>
                        </a:rPr>
                        <a:t>Milestone</a:t>
                      </a:r>
                    </a:p>
                  </a:txBody>
                  <a:tcPr anchor="ctr">
                    <a:solidFill>
                      <a:srgbClr val="1A1A2E"/>
                    </a:solidFill>
                  </a:tcPr>
                </a:tc>
                <a:tc>
                  <a:txBody>
                    <a:bodyPr wrap="square"/>
                    <a:lstStyle/>
                    <a:p>
                      <a:pPr algn="l"/>
                      <a:r>
                        <a:rPr sz="1300" b="1">
                          <a:solidFill>
                            <a:srgbClr val="FFFFFF"/>
                          </a:solidFill>
                          <a:latin typeface="Calibri"/>
                        </a:rPr>
                        <a:t>Target</a:t>
                      </a:r>
                    </a:p>
                  </a:txBody>
                  <a:tcPr anchor="ctr">
                    <a:solidFill>
                      <a:srgbClr val="1A1A2E"/>
                    </a:solidFill>
                  </a:tcPr>
                </a:tc>
                <a:tc>
                  <a:txBody>
                    <a:bodyPr wrap="square"/>
                    <a:lstStyle/>
                    <a:p>
                      <a:pPr algn="l"/>
                      <a:r>
                        <a:rPr sz="1300" b="1">
                          <a:solidFill>
                            <a:srgbClr val="FFFFFF"/>
                          </a:solidFill>
                          <a:latin typeface="Calibri"/>
                        </a:rPr>
                        <a:t>Timeframe</a:t>
                      </a:r>
                    </a:p>
                  </a:txBody>
                  <a:tcPr anchor="ctr">
                    <a:solidFill>
                      <a:srgbClr val="1A1A2E"/>
                    </a:solidFill>
                  </a:tcPr>
                </a:tc>
              </a:tr>
              <a:tr h="411480">
                <a:tc>
                  <a:txBody>
                    <a:bodyPr wrap="square"/>
                    <a:lstStyle/>
                    <a:p>
                      <a:pPr algn="l"/>
                      <a:r>
                        <a:rPr sz="1300" b="1">
                          <a:solidFill>
                            <a:srgbClr val="2D2D2D"/>
                          </a:solidFill>
                          <a:latin typeface="Calibri"/>
                        </a:rPr>
                        <a:t>Managed services ARR</a:t>
                      </a:r>
                    </a:p>
                  </a:txBody>
                  <a:tcPr anchor="ctr">
                    <a:solidFill>
                      <a:srgbClr val="FFFFFF"/>
                    </a:solidFill>
                  </a:tcPr>
                </a:tc>
                <a:tc>
                  <a:txBody>
                    <a:bodyPr wrap="square"/>
                    <a:lstStyle/>
                    <a:p>
                      <a:pPr algn="l"/>
                      <a:r>
                        <a:rPr sz="1300" b="0">
                          <a:solidFill>
                            <a:srgbClr val="2D2D2D"/>
                          </a:solidFill>
                          <a:latin typeface="Calibri"/>
                        </a:rPr>
                        <a:t>$[X]</a:t>
                      </a:r>
                    </a:p>
                  </a:txBody>
                  <a:tcPr anchor="ctr">
                    <a:solidFill>
                      <a:srgbClr val="FFFFFF"/>
                    </a:solidFill>
                  </a:tcPr>
                </a:tc>
                <a:tc>
                  <a:txBody>
                    <a:bodyPr wrap="square"/>
                    <a:lstStyle/>
                    <a:p>
                      <a:pPr algn="l"/>
                      <a:r>
                        <a:rPr sz="1300" b="0">
                          <a:solidFill>
                            <a:srgbClr val="2D2D2D"/>
                          </a:solidFill>
                          <a:latin typeface="Calibri"/>
                        </a:rPr>
                        <a:t>12 months</a:t>
                      </a:r>
                    </a:p>
                  </a:txBody>
                  <a:tcPr anchor="ctr">
                    <a:solidFill>
                      <a:srgbClr val="FFFFFF"/>
                    </a:solidFill>
                  </a:tcPr>
                </a:tc>
              </a:tr>
              <a:tr h="411480">
                <a:tc>
                  <a:txBody>
                    <a:bodyPr wrap="square"/>
                    <a:lstStyle/>
                    <a:p>
                      <a:pPr algn="l"/>
                      <a:r>
                        <a:rPr sz="1300" b="1">
                          <a:solidFill>
                            <a:srgbClr val="2D2D2D"/>
                          </a:solidFill>
                          <a:latin typeface="Calibri"/>
                        </a:rPr>
                        <a:t>Clients on platform</a:t>
                      </a:r>
                    </a:p>
                  </a:txBody>
                  <a:tcPr anchor="ctr">
                    <a:solidFill>
                      <a:srgbClr val="F0F4F8"/>
                    </a:solidFill>
                  </a:tcPr>
                </a:tc>
                <a:tc>
                  <a:txBody>
                    <a:bodyPr wrap="square"/>
                    <a:lstStyle/>
                    <a:p>
                      <a:pPr algn="l"/>
                      <a:r>
                        <a:rPr sz="1300" b="0">
                          <a:solidFill>
                            <a:srgbClr val="2D2D2D"/>
                          </a:solidFill>
                          <a:latin typeface="Calibri"/>
                        </a:rPr>
                        <a:t>[X]</a:t>
                      </a:r>
                    </a:p>
                  </a:txBody>
                  <a:tcPr anchor="ctr">
                    <a:solidFill>
                      <a:srgbClr val="F0F4F8"/>
                    </a:solidFill>
                  </a:tcPr>
                </a:tc>
                <a:tc>
                  <a:txBody>
                    <a:bodyPr wrap="square"/>
                    <a:lstStyle/>
                    <a:p>
                      <a:pPr algn="l"/>
                      <a:r>
                        <a:rPr sz="1300" b="0">
                          <a:solidFill>
                            <a:srgbClr val="2D2D2D"/>
                          </a:solidFill>
                          <a:latin typeface="Calibri"/>
                        </a:rPr>
                        <a:t>12 months</a:t>
                      </a:r>
                    </a:p>
                  </a:txBody>
                  <a:tcPr anchor="ctr">
                    <a:solidFill>
                      <a:srgbClr val="F0F4F8"/>
                    </a:solidFill>
                  </a:tcPr>
                </a:tc>
              </a:tr>
              <a:tr h="411480">
                <a:tc>
                  <a:txBody>
                    <a:bodyPr wrap="square"/>
                    <a:lstStyle/>
                    <a:p>
                      <a:pPr algn="l"/>
                      <a:r>
                        <a:rPr sz="1300" b="1">
                          <a:solidFill>
                            <a:srgbClr val="2D2D2D"/>
                          </a:solidFill>
                          <a:latin typeface="Calibri"/>
                        </a:rPr>
                        <a:t>First acquisition</a:t>
                      </a:r>
                    </a:p>
                  </a:txBody>
                  <a:tcPr anchor="ctr">
                    <a:solidFill>
                      <a:srgbClr val="FFFFFF"/>
                    </a:solidFill>
                  </a:tcPr>
                </a:tc>
                <a:tc>
                  <a:txBody>
                    <a:bodyPr wrap="square"/>
                    <a:lstStyle/>
                    <a:p>
                      <a:pPr algn="l"/>
                      <a:r>
                        <a:rPr sz="1300" b="0">
                          <a:solidFill>
                            <a:srgbClr val="2D2D2D"/>
                          </a:solidFill>
                          <a:latin typeface="Calibri"/>
                        </a:rPr>
                        <a:t>1</a:t>
                      </a:r>
                    </a:p>
                  </a:txBody>
                  <a:tcPr anchor="ctr">
                    <a:solidFill>
                      <a:srgbClr val="FFFFFF"/>
                    </a:solidFill>
                  </a:tcPr>
                </a:tc>
                <a:tc>
                  <a:txBody>
                    <a:bodyPr wrap="square"/>
                    <a:lstStyle/>
                    <a:p>
                      <a:pPr algn="l"/>
                      <a:r>
                        <a:rPr sz="1300" b="0">
                          <a:solidFill>
                            <a:srgbClr val="2D2D2D"/>
                          </a:solidFill>
                          <a:latin typeface="Calibri"/>
                        </a:rPr>
                        <a:t>18 months</a:t>
                      </a:r>
                    </a:p>
                  </a:txBody>
                  <a:tcPr anchor="ctr">
                    <a:solidFill>
                      <a:srgbClr val="FFFFFF"/>
                    </a:solidFill>
                  </a:tcPr>
                </a:tc>
              </a:tr>
            </a:tbl>
          </a:graphicData>
        </a:graphic>
      </p:graphicFrame>
      <p:sp>
        <p:nvSpPr>
          <p:cNvPr id="7" name="TextBox 6"/>
          <p:cNvSpPr txBox="1"/>
          <p:nvPr/>
        </p:nvSpPr>
        <p:spPr>
          <a:xfrm>
            <a:off x="731520" y="4114800"/>
            <a:ext cx="10698480" cy="457200"/>
          </a:xfrm>
          <a:prstGeom prst="rect">
            <a:avLst/>
          </a:prstGeom>
          <a:noFill/>
        </p:spPr>
        <p:txBody>
          <a:bodyPr wrap="none">
            <a:spAutoFit/>
          </a:bodyPr>
          <a:lstStyle/>
          <a:p>
            <a:pPr algn="ctr"/>
            <a:r>
              <a:rPr sz="1400" b="1">
                <a:solidFill>
                  <a:srgbClr val="CC3333"/>
                </a:solidFill>
                <a:latin typeface="Calibri"/>
              </a:rPr>
              <a:t>PLACEHOLDER — Finalize numbers before presenting.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36576"/>
          </a:xfrm>
          <a:prstGeom prst="rect">
            <a:avLst/>
          </a:prstGeom>
          <a:solidFill>
            <a:srgbClr val="00B4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731520"/>
          </a:xfrm>
          <a:prstGeom prst="rect">
            <a:avLst/>
          </a:prstGeom>
          <a:noFill/>
        </p:spPr>
        <p:txBody>
          <a:bodyPr wrap="square">
            <a:spAutoFit/>
          </a:bodyPr>
          <a:lstStyle/>
          <a:p>
            <a:pPr algn="ctr"/>
            <a:r>
              <a:rPr sz="2800" b="1">
                <a:solidFill>
                  <a:srgbClr val="FFFFFF"/>
                </a:solidFill>
                <a:latin typeface="Calibri"/>
              </a:rPr>
              <a:t>One workflow. One metric. 3-6 weeks.</a:t>
            </a:r>
          </a:p>
        </p:txBody>
      </p:sp>
      <p:sp>
        <p:nvSpPr>
          <p:cNvPr id="5" name="TextBox 4"/>
          <p:cNvSpPr txBox="1"/>
          <p:nvPr/>
        </p:nvSpPr>
        <p:spPr>
          <a:xfrm>
            <a:off x="1371600" y="2926080"/>
            <a:ext cx="9144000" cy="731520"/>
          </a:xfrm>
          <a:prstGeom prst="rect">
            <a:avLst/>
          </a:prstGeom>
          <a:noFill/>
        </p:spPr>
        <p:txBody>
          <a:bodyPr wrap="square">
            <a:spAutoFit/>
          </a:bodyPr>
          <a:lstStyle/>
          <a:p>
            <a:pPr algn="ctr"/>
            <a:r>
              <a:rPr sz="2200">
                <a:solidFill>
                  <a:srgbClr val="CCCCCC"/>
                </a:solidFill>
                <a:latin typeface="Calibri"/>
              </a:rPr>
              <a:t>If we don't deliver measurably better results, you've lost weeks — not months.</a:t>
            </a:r>
          </a:p>
        </p:txBody>
      </p:sp>
      <p:sp>
        <p:nvSpPr>
          <p:cNvPr id="6" name="TextBox 5"/>
          <p:cNvSpPr txBox="1"/>
          <p:nvPr/>
        </p:nvSpPr>
        <p:spPr>
          <a:xfrm>
            <a:off x="1371600" y="4572000"/>
            <a:ext cx="9144000" cy="731520"/>
          </a:xfrm>
          <a:prstGeom prst="rect">
            <a:avLst/>
          </a:prstGeom>
          <a:noFill/>
        </p:spPr>
        <p:txBody>
          <a:bodyPr wrap="none">
            <a:spAutoFit/>
          </a:bodyPr>
          <a:lstStyle/>
          <a:p>
            <a:pPr algn="ctr"/>
            <a:r>
              <a:rPr sz="3000" b="1">
                <a:solidFill>
                  <a:srgbClr val="00B4A0"/>
                </a:solidFill>
                <a:latin typeface="Calibri"/>
              </a:rPr>
              <a:t>That starts with one conversation.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